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sldIdLst>
    <p:sldId id="258" r:id="rId2"/>
    <p:sldId id="283" r:id="rId3"/>
    <p:sldId id="274" r:id="rId4"/>
    <p:sldId id="281" r:id="rId5"/>
    <p:sldId id="282" r:id="rId6"/>
    <p:sldId id="284" r:id="rId7"/>
    <p:sldId id="285" r:id="rId8"/>
    <p:sldId id="287" r:id="rId9"/>
    <p:sldId id="289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  <p:sldId id="279" r:id="rId22"/>
    <p:sldId id="280" r:id="rId23"/>
    <p:sldId id="276" r:id="rId24"/>
    <p:sldId id="275" r:id="rId25"/>
    <p:sldId id="263" r:id="rId2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–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7" autoAdjust="0"/>
    <p:restoredTop sz="85198"/>
  </p:normalViewPr>
  <p:slideViewPr>
    <p:cSldViewPr snapToGrid="0">
      <p:cViewPr varScale="1">
        <p:scale>
          <a:sx n="132" d="100"/>
          <a:sy n="132" d="100"/>
        </p:scale>
        <p:origin x="13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AB5D0C-FB89-426A-BDB3-9A7787355CF6}" type="datetimeFigureOut">
              <a:rPr lang="es-ES" smtClean="0"/>
              <a:t>28/9/26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35A5A7-F342-4559-B4C0-B2B5679DF7B9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14752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 dirty="0">
                <a:solidFill>
                  <a:srgbClr val="FFFFFF"/>
                </a:solidFill>
              </a:rPr>
              <a:t>Crear dashboards con R y RStudio para publicar resultados científicos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35A5A7-F342-4559-B4C0-B2B5679DF7B9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9915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2E2197-B5E4-B24C-A4EA-F1AEC25B7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A638FA4-0288-095A-549C-D781B3E72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2FD770-44DD-5C33-3AC8-416D96F04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6B19-AA4D-C34D-938C-714B8F8B15BF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A871365-5264-1D3C-D3FA-20ADCE766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0474B1-8BEE-8B8C-A756-3984FF342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73321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6E4E74-2E6B-FA02-9014-E47D6BB25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BF58C5-BFFD-1C79-2BD1-ECF47500CD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8F675AA-E590-29C9-F1EC-759950B7B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59DBD-4174-E94F-A663-EB0C45B45F3B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7DE8B2-36A3-F598-E6F1-ABFE6576A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587D2A-2F23-9195-3428-EFA4E0692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36222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52E8FC-7CDE-100F-8601-2C7ACC320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77C7E8C-B229-051F-F36A-3C699905B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1BF7E1-1BEA-9063-9589-B37D72D0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38180-28C2-E245-8C90-A2196D4A8CFE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9B2A8E-564F-EA7B-914C-89BBF450F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37C2493-5245-0ED4-5C92-DC9C4E73B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18249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738651-231F-5C34-60B5-935D32490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CAABA13-DA33-B67C-CE72-15716FBB8F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A586766-3761-283F-164B-D87062EAB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9F7929E-149F-720B-C735-01A207804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E3E487-4F0F-BE41-AD26-99917AD92DF6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ECB8881-B51D-7FAE-8D3C-4D8DFF56F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5C77753-1091-0C65-2152-CED432D87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25628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8B23D0-9699-D2E9-A27D-21055548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C18CC9F-37D0-1651-44E3-95C14D8C23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0528990-F0D1-13A4-3440-16FCF5941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968F5A8-2088-177C-CAA1-F1C43DBA3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2A351A-7691-14FD-D18C-2375835C2E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4344802-1BF2-CB0E-A6C8-0E54230FB7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4E9164-1A58-9C40-8CB1-E774C890570F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4111F23-FD99-5273-017C-960DF25DF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2A83CF4-656D-67FC-BF04-03B0BCE09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92967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313E8F-41E6-7A77-ADC5-B2CA631A2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C23EADA-7889-3D57-A3E0-E20BB7B96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A3A3E2-45BD-5249-B03F-40F4EBECD0CD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64D924D-247A-0D24-0BC4-CA5AEEE9F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236FD14-B266-96DC-15F2-5E3F2731A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48859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863DDF9-C36A-A7C9-6C3C-C76B75886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87305C-E20C-FE4C-900B-3DD9FF3F20F6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822B212-DEC0-F96E-4570-027DF695D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C3C1CE2-E752-6DE2-1DEE-09A3E4CE3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436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D74493-AD71-09B9-5551-748C9B429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D56E1BB-AA9A-3BAD-BD90-50BAC85C7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F986107-EF08-E1E0-0D41-FDBB2D8D3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7EA0152-AE04-578F-0075-EE4A62350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657764-809B-A64C-B813-40903E2A4C09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61CB7FA-C6D8-FDC8-C3DA-8BE85B107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63C5367-0E66-D29B-5456-94CDA7D2C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18530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41596-0307-2723-FF08-89114FA9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FC02D77-224A-B07D-566C-F9976AD739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677ACAA-197B-C1C3-408F-35BB4C93DE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0ECE3C7-61F0-AF64-0512-1533CA4F1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70B16-AC65-FF43-A087-37F80EF88118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934E8A0-2B81-8458-4C60-51AA55C06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E07F507-C442-0C47-DF99-C4BBFB4CC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95687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CD660D-A275-EE6F-9AB7-939606D2B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929E9-F850-3A58-1BE1-C4B426B17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6F9AB2-5132-DC2B-D45D-99B352F13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DADFD-6972-7C4C-9C20-DC69861E77DE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3FC3EF0-E994-D444-71E4-F05F874F9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CD642F-7E79-1C7E-633C-B2A4492B6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79428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AA3F4D3-4C29-8365-7AA7-333ED7A65B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54ED9CB-577E-5B16-61D6-481B975F12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E105ED6-E703-84AC-398E-B43ED4614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1052B-ADA0-344C-A915-E46137EFB71E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C105FF3-97B6-15D2-12D0-34DACC877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43672C9-5ED5-97DF-72C9-3B118421B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57810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A9CEBF3-2197-2D98-7D8B-428831DC9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C649199-4B79-A17E-6EF8-2CD473313C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7CA53-799B-6C57-BBCF-939CEEA2C7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25CB91-F307-9A4B-ABA1-A6A8BA250802}" type="datetime1">
              <a:rPr lang="es-ES_tradnl" smtClean="0"/>
              <a:t>28/9/26</a:t>
            </a:fld>
            <a:endParaRPr lang="es-ES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C0E1D95-5605-C4E5-CE8D-1009B32E2D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0DDDF9D-11E3-8F45-57FC-BD0CF2678D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65D05F-6072-4B4E-9981-AFD8EE10E932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18143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cm.es/muce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ordpress.com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ordpress.com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FACbOhT3QNg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3" name="Rectangle 92">
            <a:extLst>
              <a:ext uri="{FF2B5EF4-FFF2-40B4-BE49-F238E27FC236}">
                <a16:creationId xmlns:a16="http://schemas.microsoft.com/office/drawing/2014/main" id="{B87C619C-EBAB-488E-96B9-153AA4C9B4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130DA1C1-36FD-41D8-9826-EE797BF39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453312" cy="6858000"/>
          </a:xfrm>
          <a:custGeom>
            <a:avLst/>
            <a:gdLst>
              <a:gd name="connsiteX0" fmla="*/ 0 w 7433452"/>
              <a:gd name="connsiteY0" fmla="*/ 0 h 6858000"/>
              <a:gd name="connsiteX1" fmla="*/ 1592736 w 7433452"/>
              <a:gd name="connsiteY1" fmla="*/ 0 h 6858000"/>
              <a:gd name="connsiteX2" fmla="*/ 2171700 w 7433452"/>
              <a:gd name="connsiteY2" fmla="*/ 0 h 6858000"/>
              <a:gd name="connsiteX3" fmla="*/ 2762696 w 7433452"/>
              <a:gd name="connsiteY3" fmla="*/ 0 h 6858000"/>
              <a:gd name="connsiteX4" fmla="*/ 2829254 w 7433452"/>
              <a:gd name="connsiteY4" fmla="*/ 0 h 6858000"/>
              <a:gd name="connsiteX5" fmla="*/ 7415310 w 7433452"/>
              <a:gd name="connsiteY5" fmla="*/ 0 h 6858000"/>
              <a:gd name="connsiteX6" fmla="*/ 7405703 w 7433452"/>
              <a:gd name="connsiteY6" fmla="*/ 94814 h 6858000"/>
              <a:gd name="connsiteX7" fmla="*/ 7410754 w 7433452"/>
              <a:gd name="connsiteY7" fmla="*/ 421796 h 6858000"/>
              <a:gd name="connsiteX8" fmla="*/ 7414688 w 7433452"/>
              <a:gd name="connsiteY8" fmla="*/ 812192 h 6858000"/>
              <a:gd name="connsiteX9" fmla="*/ 7395017 w 7433452"/>
              <a:gd name="connsiteY9" fmla="*/ 1113642 h 6858000"/>
              <a:gd name="connsiteX10" fmla="*/ 7422810 w 7433452"/>
              <a:gd name="connsiteY10" fmla="*/ 1796708 h 6858000"/>
              <a:gd name="connsiteX11" fmla="*/ 7421161 w 7433452"/>
              <a:gd name="connsiteY11" fmla="*/ 2327333 h 6858000"/>
              <a:gd name="connsiteX12" fmla="*/ 7412023 w 7433452"/>
              <a:gd name="connsiteY12" fmla="*/ 2784280 h 6858000"/>
              <a:gd name="connsiteX13" fmla="*/ 7417480 w 7433452"/>
              <a:gd name="connsiteY13" fmla="*/ 2985458 h 6858000"/>
              <a:gd name="connsiteX14" fmla="*/ 7403774 w 7433452"/>
              <a:gd name="connsiteY14" fmla="*/ 3531096 h 6858000"/>
              <a:gd name="connsiteX15" fmla="*/ 7414307 w 7433452"/>
              <a:gd name="connsiteY15" fmla="*/ 4336830 h 6858000"/>
              <a:gd name="connsiteX16" fmla="*/ 7413419 w 7433452"/>
              <a:gd name="connsiteY16" fmla="*/ 5026893 h 6858000"/>
              <a:gd name="connsiteX17" fmla="*/ 7417734 w 7433452"/>
              <a:gd name="connsiteY17" fmla="*/ 5252632 h 6858000"/>
              <a:gd name="connsiteX18" fmla="*/ 7417734 w 7433452"/>
              <a:gd name="connsiteY18" fmla="*/ 5466282 h 6858000"/>
              <a:gd name="connsiteX19" fmla="*/ 7379659 w 7433452"/>
              <a:gd name="connsiteY19" fmla="*/ 6121225 h 6858000"/>
              <a:gd name="connsiteX20" fmla="*/ 7395115 w 7433452"/>
              <a:gd name="connsiteY20" fmla="*/ 6708907 h 6858000"/>
              <a:gd name="connsiteX21" fmla="*/ 7412408 w 7433452"/>
              <a:gd name="connsiteY21" fmla="*/ 6858000 h 6858000"/>
              <a:gd name="connsiteX22" fmla="*/ 2829254 w 7433452"/>
              <a:gd name="connsiteY22" fmla="*/ 6858000 h 6858000"/>
              <a:gd name="connsiteX23" fmla="*/ 2762696 w 7433452"/>
              <a:gd name="connsiteY23" fmla="*/ 6858000 h 6858000"/>
              <a:gd name="connsiteX24" fmla="*/ 2171700 w 7433452"/>
              <a:gd name="connsiteY24" fmla="*/ 6858000 h 6858000"/>
              <a:gd name="connsiteX25" fmla="*/ 1592736 w 7433452"/>
              <a:gd name="connsiteY25" fmla="*/ 6858000 h 6858000"/>
              <a:gd name="connsiteX26" fmla="*/ 0 w 7433452"/>
              <a:gd name="connsiteY2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433452" h="6858000">
                <a:moveTo>
                  <a:pt x="0" y="0"/>
                </a:moveTo>
                <a:lnTo>
                  <a:pt x="1592736" y="0"/>
                </a:lnTo>
                <a:lnTo>
                  <a:pt x="2171700" y="0"/>
                </a:lnTo>
                <a:lnTo>
                  <a:pt x="2762696" y="0"/>
                </a:lnTo>
                <a:lnTo>
                  <a:pt x="2829254" y="0"/>
                </a:lnTo>
                <a:lnTo>
                  <a:pt x="7415310" y="0"/>
                </a:lnTo>
                <a:lnTo>
                  <a:pt x="7405703" y="94814"/>
                </a:lnTo>
                <a:cubicBezTo>
                  <a:pt x="7398856" y="203629"/>
                  <a:pt x="7403520" y="312712"/>
                  <a:pt x="7410754" y="421796"/>
                </a:cubicBezTo>
                <a:cubicBezTo>
                  <a:pt x="7421580" y="551656"/>
                  <a:pt x="7422900" y="682144"/>
                  <a:pt x="7414688" y="812192"/>
                </a:cubicBezTo>
                <a:cubicBezTo>
                  <a:pt x="7406693" y="912591"/>
                  <a:pt x="7397682" y="1012988"/>
                  <a:pt x="7395017" y="1113642"/>
                </a:cubicBezTo>
                <a:cubicBezTo>
                  <a:pt x="7388670" y="1342689"/>
                  <a:pt x="7407708" y="1569316"/>
                  <a:pt x="7422810" y="1796708"/>
                </a:cubicBezTo>
                <a:cubicBezTo>
                  <a:pt x="7434487" y="1973710"/>
                  <a:pt x="7439944" y="2150457"/>
                  <a:pt x="7421161" y="2327333"/>
                </a:cubicBezTo>
                <a:cubicBezTo>
                  <a:pt x="7405170" y="2479266"/>
                  <a:pt x="7396793" y="2631453"/>
                  <a:pt x="7412023" y="2784280"/>
                </a:cubicBezTo>
                <a:cubicBezTo>
                  <a:pt x="7418749" y="2851085"/>
                  <a:pt x="7425984" y="2918653"/>
                  <a:pt x="7417480" y="2985458"/>
                </a:cubicBezTo>
                <a:cubicBezTo>
                  <a:pt x="7394508" y="3167039"/>
                  <a:pt x="7398063" y="3349132"/>
                  <a:pt x="7403774" y="3531096"/>
                </a:cubicBezTo>
                <a:cubicBezTo>
                  <a:pt x="7412277" y="3799715"/>
                  <a:pt x="7426364" y="4067954"/>
                  <a:pt x="7414307" y="4336830"/>
                </a:cubicBezTo>
                <a:cubicBezTo>
                  <a:pt x="7404027" y="4566639"/>
                  <a:pt x="7420653" y="4796831"/>
                  <a:pt x="7413419" y="5026893"/>
                </a:cubicBezTo>
                <a:cubicBezTo>
                  <a:pt x="7410982" y="5102162"/>
                  <a:pt x="7412429" y="5177504"/>
                  <a:pt x="7417734" y="5252632"/>
                </a:cubicBezTo>
                <a:cubicBezTo>
                  <a:pt x="7424271" y="5323700"/>
                  <a:pt x="7424271" y="5395213"/>
                  <a:pt x="7417734" y="5466282"/>
                </a:cubicBezTo>
                <a:cubicBezTo>
                  <a:pt x="7393239" y="5683875"/>
                  <a:pt x="7383214" y="5902486"/>
                  <a:pt x="7379659" y="6121225"/>
                </a:cubicBezTo>
                <a:cubicBezTo>
                  <a:pt x="7376423" y="6317442"/>
                  <a:pt x="7378041" y="6513586"/>
                  <a:pt x="7395115" y="6708907"/>
                </a:cubicBezTo>
                <a:lnTo>
                  <a:pt x="7412408" y="6858000"/>
                </a:lnTo>
                <a:lnTo>
                  <a:pt x="2829254" y="6858000"/>
                </a:lnTo>
                <a:lnTo>
                  <a:pt x="2762696" y="6858000"/>
                </a:lnTo>
                <a:lnTo>
                  <a:pt x="2171700" y="6858000"/>
                </a:lnTo>
                <a:lnTo>
                  <a:pt x="159273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629392" y="815009"/>
            <a:ext cx="5878286" cy="2319127"/>
          </a:xfrm>
          <a:prstGeom prst="rect">
            <a:avLst/>
          </a:prstGeom>
        </p:spPr>
        <p:txBody>
          <a:bodyPr spcFirstLastPara="1" lIns="91425" tIns="45700" rIns="91425" bIns="45700" anchorCtr="0">
            <a:norm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buClr>
                <a:schemeClr val="dk1"/>
              </a:buClr>
              <a:buSzPct val="100000"/>
            </a:pPr>
            <a:r>
              <a:rPr lang="es-ES" sz="2800" dirty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DISEÑO WEB, </a:t>
            </a:r>
            <a:br>
              <a:rPr lang="es-ES" sz="2800" dirty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s-ES" sz="2800" dirty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TECNOLOGÍAS DE INTERNET </a:t>
            </a:r>
            <a:br>
              <a:rPr lang="es-ES" sz="2800" dirty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es-ES" sz="2800" dirty="0">
                <a:solidFill>
                  <a:srgbClr val="FFFFFF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Y REDES DE COMUNICACIÓN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D8460CAE-24BB-A40D-2344-236FBA5B5D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3473" y="3340939"/>
            <a:ext cx="6081713" cy="2662693"/>
          </a:xfrm>
        </p:spPr>
        <p:txBody>
          <a:bodyPr>
            <a:normAutofit/>
          </a:bodyPr>
          <a:lstStyle/>
          <a:p>
            <a:pPr algn="l"/>
            <a:endParaRPr lang="es-ES" dirty="0">
              <a:solidFill>
                <a:srgbClr val="FFFFFF"/>
              </a:solidFill>
            </a:endParaRPr>
          </a:p>
          <a:p>
            <a:pPr algn="l"/>
            <a:r>
              <a:rPr lang="es-ES" dirty="0">
                <a:solidFill>
                  <a:srgbClr val="FFFFFF"/>
                </a:solidFill>
              </a:rPr>
              <a:t>Sonia Estévez Martín</a:t>
            </a:r>
          </a:p>
          <a:p>
            <a:pPr algn="l"/>
            <a:endParaRPr lang="es-ES" dirty="0">
              <a:solidFill>
                <a:srgbClr val="FFFFFF"/>
              </a:solidFill>
            </a:endParaRPr>
          </a:p>
        </p:txBody>
      </p:sp>
      <p:sp>
        <p:nvSpPr>
          <p:cNvPr id="97" name="sketch line">
            <a:extLst>
              <a:ext uri="{FF2B5EF4-FFF2-40B4-BE49-F238E27FC236}">
                <a16:creationId xmlns:a16="http://schemas.microsoft.com/office/drawing/2014/main" id="{35BC54F7-1315-4D6C-9420-A5BF0CDDB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5475" y="4252192"/>
            <a:ext cx="4056549" cy="18288"/>
          </a:xfrm>
          <a:custGeom>
            <a:avLst/>
            <a:gdLst>
              <a:gd name="csX0" fmla="*/ 0 w 4056549"/>
              <a:gd name="csY0" fmla="*/ 0 h 18288"/>
              <a:gd name="csX1" fmla="*/ 676092 w 4056549"/>
              <a:gd name="csY1" fmla="*/ 0 h 18288"/>
              <a:gd name="csX2" fmla="*/ 1271052 w 4056549"/>
              <a:gd name="csY2" fmla="*/ 0 h 18288"/>
              <a:gd name="csX3" fmla="*/ 1947144 w 4056549"/>
              <a:gd name="csY3" fmla="*/ 0 h 18288"/>
              <a:gd name="csX4" fmla="*/ 2501539 w 4056549"/>
              <a:gd name="csY4" fmla="*/ 0 h 18288"/>
              <a:gd name="csX5" fmla="*/ 3137065 w 4056549"/>
              <a:gd name="csY5" fmla="*/ 0 h 18288"/>
              <a:gd name="csX6" fmla="*/ 4056549 w 4056549"/>
              <a:gd name="csY6" fmla="*/ 0 h 18288"/>
              <a:gd name="csX7" fmla="*/ 4056549 w 4056549"/>
              <a:gd name="csY7" fmla="*/ 18288 h 18288"/>
              <a:gd name="csX8" fmla="*/ 3380458 w 4056549"/>
              <a:gd name="csY8" fmla="*/ 18288 h 18288"/>
              <a:gd name="csX9" fmla="*/ 2663801 w 4056549"/>
              <a:gd name="csY9" fmla="*/ 18288 h 18288"/>
              <a:gd name="csX10" fmla="*/ 2068840 w 4056549"/>
              <a:gd name="csY10" fmla="*/ 18288 h 18288"/>
              <a:gd name="csX11" fmla="*/ 1311618 w 4056549"/>
              <a:gd name="csY11" fmla="*/ 18288 h 18288"/>
              <a:gd name="csX12" fmla="*/ 716657 w 4056549"/>
              <a:gd name="csY12" fmla="*/ 18288 h 18288"/>
              <a:gd name="csX13" fmla="*/ 0 w 4056549"/>
              <a:gd name="csY13" fmla="*/ 18288 h 18288"/>
              <a:gd name="csX14" fmla="*/ 0 w 4056549"/>
              <a:gd name="csY14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4056549" h="18288" fill="none" extrusionOk="0">
                <a:moveTo>
                  <a:pt x="0" y="0"/>
                </a:moveTo>
                <a:cubicBezTo>
                  <a:pt x="324395" y="-12272"/>
                  <a:pt x="437185" y="20747"/>
                  <a:pt x="676092" y="0"/>
                </a:cubicBezTo>
                <a:cubicBezTo>
                  <a:pt x="914999" y="-20747"/>
                  <a:pt x="980886" y="20074"/>
                  <a:pt x="1271052" y="0"/>
                </a:cubicBezTo>
                <a:cubicBezTo>
                  <a:pt x="1561218" y="-20074"/>
                  <a:pt x="1609815" y="19965"/>
                  <a:pt x="1947144" y="0"/>
                </a:cubicBezTo>
                <a:cubicBezTo>
                  <a:pt x="2284473" y="-19965"/>
                  <a:pt x="2317816" y="-23682"/>
                  <a:pt x="2501539" y="0"/>
                </a:cubicBezTo>
                <a:cubicBezTo>
                  <a:pt x="2685262" y="23682"/>
                  <a:pt x="2879461" y="12712"/>
                  <a:pt x="3137065" y="0"/>
                </a:cubicBezTo>
                <a:cubicBezTo>
                  <a:pt x="3394669" y="-12712"/>
                  <a:pt x="3618306" y="-41742"/>
                  <a:pt x="4056549" y="0"/>
                </a:cubicBezTo>
                <a:cubicBezTo>
                  <a:pt x="4056201" y="6465"/>
                  <a:pt x="4056979" y="10922"/>
                  <a:pt x="4056549" y="18288"/>
                </a:cubicBezTo>
                <a:cubicBezTo>
                  <a:pt x="3807729" y="-7540"/>
                  <a:pt x="3536237" y="12619"/>
                  <a:pt x="3380458" y="18288"/>
                </a:cubicBezTo>
                <a:cubicBezTo>
                  <a:pt x="3224679" y="23957"/>
                  <a:pt x="2967497" y="23368"/>
                  <a:pt x="2663801" y="18288"/>
                </a:cubicBezTo>
                <a:cubicBezTo>
                  <a:pt x="2360105" y="13208"/>
                  <a:pt x="2359716" y="-8821"/>
                  <a:pt x="2068840" y="18288"/>
                </a:cubicBezTo>
                <a:cubicBezTo>
                  <a:pt x="1777964" y="45397"/>
                  <a:pt x="1641909" y="31681"/>
                  <a:pt x="1311618" y="18288"/>
                </a:cubicBezTo>
                <a:cubicBezTo>
                  <a:pt x="981327" y="4895"/>
                  <a:pt x="990410" y="11155"/>
                  <a:pt x="716657" y="18288"/>
                </a:cubicBezTo>
                <a:cubicBezTo>
                  <a:pt x="442904" y="25421"/>
                  <a:pt x="330722" y="13665"/>
                  <a:pt x="0" y="18288"/>
                </a:cubicBezTo>
                <a:cubicBezTo>
                  <a:pt x="75" y="12069"/>
                  <a:pt x="515" y="5650"/>
                  <a:pt x="0" y="0"/>
                </a:cubicBezTo>
                <a:close/>
              </a:path>
              <a:path w="4056549" h="18288" stroke="0" extrusionOk="0">
                <a:moveTo>
                  <a:pt x="0" y="0"/>
                </a:moveTo>
                <a:cubicBezTo>
                  <a:pt x="175099" y="13469"/>
                  <a:pt x="459673" y="14529"/>
                  <a:pt x="594961" y="0"/>
                </a:cubicBezTo>
                <a:cubicBezTo>
                  <a:pt x="730249" y="-14529"/>
                  <a:pt x="873178" y="22015"/>
                  <a:pt x="1149356" y="0"/>
                </a:cubicBezTo>
                <a:cubicBezTo>
                  <a:pt x="1425534" y="-22015"/>
                  <a:pt x="1498871" y="-21513"/>
                  <a:pt x="1744316" y="0"/>
                </a:cubicBezTo>
                <a:cubicBezTo>
                  <a:pt x="1989761" y="21513"/>
                  <a:pt x="2112991" y="-46"/>
                  <a:pt x="2420408" y="0"/>
                </a:cubicBezTo>
                <a:cubicBezTo>
                  <a:pt x="2727825" y="46"/>
                  <a:pt x="2880256" y="-10040"/>
                  <a:pt x="3137065" y="0"/>
                </a:cubicBezTo>
                <a:cubicBezTo>
                  <a:pt x="3393874" y="10040"/>
                  <a:pt x="3704325" y="-6685"/>
                  <a:pt x="4056549" y="0"/>
                </a:cubicBezTo>
                <a:cubicBezTo>
                  <a:pt x="4055732" y="6895"/>
                  <a:pt x="4055770" y="11206"/>
                  <a:pt x="4056549" y="18288"/>
                </a:cubicBezTo>
                <a:cubicBezTo>
                  <a:pt x="3812770" y="11959"/>
                  <a:pt x="3533996" y="-5717"/>
                  <a:pt x="3299327" y="18288"/>
                </a:cubicBezTo>
                <a:cubicBezTo>
                  <a:pt x="3064658" y="42293"/>
                  <a:pt x="2940381" y="24492"/>
                  <a:pt x="2744931" y="18288"/>
                </a:cubicBezTo>
                <a:cubicBezTo>
                  <a:pt x="2549481" y="12084"/>
                  <a:pt x="2252169" y="51841"/>
                  <a:pt x="1987709" y="18288"/>
                </a:cubicBezTo>
                <a:cubicBezTo>
                  <a:pt x="1723249" y="-15265"/>
                  <a:pt x="1438946" y="3423"/>
                  <a:pt x="1230487" y="18288"/>
                </a:cubicBezTo>
                <a:cubicBezTo>
                  <a:pt x="1022028" y="33153"/>
                  <a:pt x="795957" y="18596"/>
                  <a:pt x="676092" y="18288"/>
                </a:cubicBezTo>
                <a:cubicBezTo>
                  <a:pt x="556227" y="17980"/>
                  <a:pt x="334853" y="39451"/>
                  <a:pt x="0" y="18288"/>
                </a:cubicBezTo>
                <a:cubicBezTo>
                  <a:pt x="95" y="14343"/>
                  <a:pt x="742" y="6860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1E4786-325E-6177-227A-09E3A9BF9135}"/>
              </a:ext>
            </a:extLst>
          </p:cNvPr>
          <p:cNvSpPr txBox="1"/>
          <p:nvPr/>
        </p:nvSpPr>
        <p:spPr>
          <a:xfrm>
            <a:off x="8046814" y="4270480"/>
            <a:ext cx="3679776" cy="110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s-ES" sz="1800" dirty="0">
                <a:latin typeface="Verdana" panose="020B0604030504040204" pitchFamily="34" charset="0"/>
                <a:ea typeface="Verdana" panose="020B0604030504040204" pitchFamily="34" charset="0"/>
                <a:hlinkClick r:id="rId3"/>
              </a:rPr>
              <a:t>Máster Universitario en Comercio Electrónico</a:t>
            </a:r>
            <a:endParaRPr lang="es-E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80CBC7-4264-739F-DEB2-93CA56495BA6}"/>
              </a:ext>
            </a:extLst>
          </p:cNvPr>
          <p:cNvSpPr txBox="1"/>
          <p:nvPr/>
        </p:nvSpPr>
        <p:spPr>
          <a:xfrm>
            <a:off x="8210798" y="1328840"/>
            <a:ext cx="33518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800" dirty="0">
                <a:latin typeface="Verdana" panose="020B0604030504040204" pitchFamily="34" charset="0"/>
                <a:ea typeface="Verdana" panose="020B0604030504040204" pitchFamily="34" charset="0"/>
              </a:rPr>
              <a:t>Presentación</a:t>
            </a:r>
            <a:endParaRPr lang="es-ES_tradnl" dirty="0"/>
          </a:p>
        </p:txBody>
      </p:sp>
      <p:pic>
        <p:nvPicPr>
          <p:cNvPr id="9" name="Picture 8" descr="A logo of a university&#10;&#10;Description automatically generated">
            <a:extLst>
              <a:ext uri="{FF2B5EF4-FFF2-40B4-BE49-F238E27FC236}">
                <a16:creationId xmlns:a16="http://schemas.microsoft.com/office/drawing/2014/main" id="{726333BB-17CC-375C-C724-DD9AE13E90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6058" y="1754485"/>
            <a:ext cx="1790148" cy="204696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8B3387C-0CB8-A442-4434-5AC7A5064DF8}"/>
              </a:ext>
            </a:extLst>
          </p:cNvPr>
          <p:cNvSpPr txBox="1"/>
          <p:nvPr/>
        </p:nvSpPr>
        <p:spPr>
          <a:xfrm>
            <a:off x="7973604" y="6210971"/>
            <a:ext cx="38261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dirty="0"/>
              <a:t>Universidad Complutense de Madrid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4000"/>
    </mc:Choice>
    <mc:Fallback xmlns="">
      <p:transition advClick="0" advTm="4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114F4-B583-E694-0562-B0DACD093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324B3-C0DD-AFD9-34C7-9C83DCF59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2</a:t>
            </a:fld>
            <a:endParaRPr lang="es-E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857828D-11CB-43CB-3A06-1F09F82D3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260622"/>
            <a:ext cx="10515600" cy="515937"/>
          </a:xfrm>
        </p:spPr>
        <p:txBody>
          <a:bodyPr>
            <a:normAutofit fontScale="90000"/>
          </a:bodyPr>
          <a:lstStyle/>
          <a:p>
            <a:r>
              <a:rPr lang="es-ES" dirty="0"/>
              <a:t>Diseño web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B4BDA7-A1AE-13C4-1C51-BB43C0696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4433" y="882948"/>
            <a:ext cx="8336356" cy="555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1549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39ECD1B-DE9B-FAAA-720F-97150C43F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067" y="776559"/>
            <a:ext cx="8485472" cy="565698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2D03D-BBA3-F495-1ADF-7265C4CF7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3</a:t>
            </a:fld>
            <a:endParaRPr lang="es-E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8F79ED-55C8-4D5D-D3A7-0B8282A28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260622"/>
            <a:ext cx="10515600" cy="515937"/>
          </a:xfrm>
        </p:spPr>
        <p:txBody>
          <a:bodyPr>
            <a:normAutofit fontScale="90000"/>
          </a:bodyPr>
          <a:lstStyle/>
          <a:p>
            <a:r>
              <a:rPr lang="es-ES" dirty="0"/>
              <a:t>Diseño web</a:t>
            </a:r>
          </a:p>
        </p:txBody>
      </p:sp>
    </p:spTree>
    <p:extLst>
      <p:ext uri="{BB962C8B-B14F-4D97-AF65-F5344CB8AC3E}">
        <p14:creationId xmlns:p14="http://schemas.microsoft.com/office/powerpoint/2010/main" val="64775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613D4-7915-F114-2D0F-6FCC7A8D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10E652-4186-7736-37AC-AD9520446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4</a:t>
            </a:fld>
            <a:endParaRPr lang="es-E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DE6272F-3CEC-CA6A-7E3E-06EB59F8E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260622"/>
            <a:ext cx="10515600" cy="515937"/>
          </a:xfrm>
        </p:spPr>
        <p:txBody>
          <a:bodyPr>
            <a:normAutofit fontScale="90000"/>
          </a:bodyPr>
          <a:lstStyle/>
          <a:p>
            <a:r>
              <a:rPr lang="es-ES" dirty="0"/>
              <a:t>Diseño web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21A102-C47F-0947-2F07-29451F55B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437" y="848682"/>
            <a:ext cx="8261503" cy="550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22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CA896-7144-2317-98B3-7E6D01E13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3A463-F38E-2042-A4E2-B874A592C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5</a:t>
            </a:fld>
            <a:endParaRPr lang="es-E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84723A6-AAA0-56D5-FBE3-956E5327C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260622"/>
            <a:ext cx="10515600" cy="515937"/>
          </a:xfrm>
        </p:spPr>
        <p:txBody>
          <a:bodyPr>
            <a:normAutofit fontScale="90000"/>
          </a:bodyPr>
          <a:lstStyle/>
          <a:p>
            <a:r>
              <a:rPr lang="es-ES" dirty="0"/>
              <a:t>Diseño web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E15144-2BA3-1C44-0089-64E4B7883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1444" y="924827"/>
            <a:ext cx="8255668" cy="550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120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758DE-1FB1-E045-2BE6-9C77AE8B6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819" y="1250784"/>
            <a:ext cx="10515600" cy="4952011"/>
          </a:xfrm>
        </p:spPr>
        <p:txBody>
          <a:bodyPr>
            <a:normAutofit lnSpcReduction="10000"/>
          </a:bodyPr>
          <a:lstStyle/>
          <a:p>
            <a:pPr lvl="0">
              <a:lnSpc>
                <a:spcPct val="160000"/>
              </a:lnSpc>
            </a:pPr>
            <a:r>
              <a:rPr lang="en-ES" dirty="0"/>
              <a:t>Organización visual: </a:t>
            </a:r>
          </a:p>
          <a:p>
            <a:pPr lvl="1">
              <a:lnSpc>
                <a:spcPct val="160000"/>
              </a:lnSpc>
            </a:pPr>
            <a:r>
              <a:rPr lang="en-ES" dirty="0"/>
              <a:t>Alineación: Todo debe guardar cierta armonía </a:t>
            </a:r>
          </a:p>
          <a:p>
            <a:pPr lvl="1">
              <a:lnSpc>
                <a:spcPct val="160000"/>
              </a:lnSpc>
            </a:pPr>
            <a:r>
              <a:rPr lang="en-ES" dirty="0"/>
              <a:t>Proximidad: Los elementos relacionados deben estar juntos.</a:t>
            </a:r>
          </a:p>
          <a:p>
            <a:pPr lvl="0">
              <a:lnSpc>
                <a:spcPct val="160000"/>
              </a:lnSpc>
            </a:pPr>
            <a:r>
              <a:rPr lang="en-ES" dirty="0"/>
              <a:t>Tipografía: El texto debe leerse fácilmente.</a:t>
            </a:r>
          </a:p>
          <a:p>
            <a:pPr lvl="0">
              <a:lnSpc>
                <a:spcPct val="160000"/>
              </a:lnSpc>
            </a:pPr>
            <a:r>
              <a:rPr lang="en-ES" dirty="0"/>
              <a:t>Colores: Elegir pocos colores</a:t>
            </a:r>
          </a:p>
          <a:p>
            <a:pPr>
              <a:lnSpc>
                <a:spcPct val="160000"/>
              </a:lnSpc>
            </a:pPr>
            <a:r>
              <a:rPr lang="en-ES" dirty="0"/>
              <a:t>Utilizar enlaces con textos descriptivos ("Descargar guía" en lugar de "Haz clic aquí").</a:t>
            </a:r>
          </a:p>
          <a:p>
            <a:pPr lvl="0">
              <a:lnSpc>
                <a:spcPct val="160000"/>
              </a:lnSpc>
            </a:pPr>
            <a:endParaRPr lang="en-ES" dirty="0"/>
          </a:p>
          <a:p>
            <a:pPr marL="0" indent="0">
              <a:lnSpc>
                <a:spcPct val="160000"/>
              </a:lnSpc>
              <a:buNone/>
            </a:pPr>
            <a:endParaRPr lang="es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08390-369A-014F-6658-A6CD8E7C0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6</a:t>
            </a:fld>
            <a:endParaRPr lang="es-E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12CC117-0A8B-305B-A2EC-7C1BFD3BD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260622"/>
            <a:ext cx="10515600" cy="515937"/>
          </a:xfrm>
        </p:spPr>
        <p:txBody>
          <a:bodyPr>
            <a:normAutofit fontScale="90000"/>
          </a:bodyPr>
          <a:lstStyle/>
          <a:p>
            <a:pPr>
              <a:lnSpc>
                <a:spcPct val="160000"/>
              </a:lnSpc>
            </a:pPr>
            <a:r>
              <a:rPr lang="en-ES" dirty="0"/>
              <a:t>En un diseño web hay que tener en cuenta:</a:t>
            </a:r>
          </a:p>
        </p:txBody>
      </p:sp>
    </p:spTree>
    <p:extLst>
      <p:ext uri="{BB962C8B-B14F-4D97-AF65-F5344CB8AC3E}">
        <p14:creationId xmlns:p14="http://schemas.microsoft.com/office/powerpoint/2010/main" val="1434824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053B4-E45A-798B-7551-2830EEB5B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63C45-31BE-F743-531B-28B8F525B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429" y="1107925"/>
            <a:ext cx="11573889" cy="1080383"/>
          </a:xfrm>
        </p:spPr>
        <p:txBody>
          <a:bodyPr>
            <a:normAutofit fontScale="92500"/>
          </a:bodyPr>
          <a:lstStyle/>
          <a:p>
            <a:pPr lvl="1">
              <a:lnSpc>
                <a:spcPct val="160000"/>
              </a:lnSpc>
            </a:pPr>
            <a:r>
              <a:rPr lang="en-ES" sz="2200" b="1" dirty="0"/>
              <a:t>Diseño adaptable (Responsive):  </a:t>
            </a:r>
            <a:r>
              <a:rPr lang="en-ES" sz="2200" dirty="0"/>
              <a:t>una web debe verse bien en el ordenador, la tablet y el móvil. No se hacen tres páginas distintas. Se adapta automáticamente.</a:t>
            </a:r>
          </a:p>
          <a:p>
            <a:pPr lvl="0"/>
            <a:endParaRPr lang="en-ES" sz="2200" dirty="0"/>
          </a:p>
          <a:p>
            <a:endParaRPr lang="es-E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F9A99-0FA8-86F9-DE9D-1039DBEDE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7</a:t>
            </a:fld>
            <a:endParaRPr lang="es-ES" dirty="0"/>
          </a:p>
        </p:txBody>
      </p:sp>
      <p:pic>
        <p:nvPicPr>
          <p:cNvPr id="2" name="Picture 1" descr="9 dicas básicas de web design responsivo | dpw">
            <a:extLst>
              <a:ext uri="{FF2B5EF4-FFF2-40B4-BE49-F238E27FC236}">
                <a16:creationId xmlns:a16="http://schemas.microsoft.com/office/drawing/2014/main" id="{39CCF1D0-F47E-D85C-6471-2ACC4755F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922461"/>
            <a:ext cx="4876800" cy="2851868"/>
          </a:xfrm>
          <a:prstGeom prst="rect">
            <a:avLst/>
          </a:prstGeom>
        </p:spPr>
      </p:pic>
      <p:sp>
        <p:nvSpPr>
          <p:cNvPr id="10" name="Title 4">
            <a:extLst>
              <a:ext uri="{FF2B5EF4-FFF2-40B4-BE49-F238E27FC236}">
                <a16:creationId xmlns:a16="http://schemas.microsoft.com/office/drawing/2014/main" id="{BC33D3E3-8838-C5CE-778B-5E79D5DF0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260622"/>
            <a:ext cx="10515600" cy="515937"/>
          </a:xfrm>
        </p:spPr>
        <p:txBody>
          <a:bodyPr>
            <a:normAutofit fontScale="90000"/>
          </a:bodyPr>
          <a:lstStyle/>
          <a:p>
            <a:pPr>
              <a:lnSpc>
                <a:spcPct val="160000"/>
              </a:lnSpc>
            </a:pPr>
            <a:r>
              <a:rPr lang="en-ES" dirty="0"/>
              <a:t>En un diseño web hay que tener en cuenta: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67BF3E5-D0DB-A070-1FA7-C81853778290}"/>
              </a:ext>
            </a:extLst>
          </p:cNvPr>
          <p:cNvSpPr txBox="1">
            <a:spLocks/>
          </p:cNvSpPr>
          <p:nvPr/>
        </p:nvSpPr>
        <p:spPr>
          <a:xfrm>
            <a:off x="530682" y="2188308"/>
            <a:ext cx="7253839" cy="405070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70000"/>
              </a:lnSpc>
            </a:pPr>
            <a:r>
              <a:rPr lang="en-ES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En un ordenador el menú aparece en horizontal.</a:t>
            </a:r>
          </a:p>
          <a:p>
            <a:pPr lvl="0">
              <a:lnSpc>
                <a:spcPct val="170000"/>
              </a:lnSpc>
            </a:pPr>
            <a:r>
              <a:rPr lang="en-ES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En un móvil se convierte en un menú tipo "hamburguesa".</a:t>
            </a:r>
          </a:p>
          <a:p>
            <a:pPr lvl="0">
              <a:lnSpc>
                <a:spcPct val="170000"/>
              </a:lnSpc>
            </a:pPr>
            <a:r>
              <a:rPr lang="en-ES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Las imágenes se redimensionan automáticamente.</a:t>
            </a:r>
          </a:p>
          <a:p>
            <a:pPr lvl="0">
              <a:lnSpc>
                <a:spcPct val="170000"/>
              </a:lnSpc>
            </a:pPr>
            <a:r>
              <a:rPr lang="en-ES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Las columnas pasan a mostrarse una debajo de otra.</a:t>
            </a:r>
          </a:p>
          <a:p>
            <a:pPr>
              <a:lnSpc>
                <a:spcPct val="170000"/>
              </a:lnSpc>
            </a:pPr>
            <a:r>
              <a:rPr lang="en-ES" sz="18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En WordPress esto suele depender del tema que elijas (Astra, Twenty Twenty-Six, etc.)</a:t>
            </a:r>
            <a:endParaRPr lang="es-ES" sz="1800" dirty="0"/>
          </a:p>
        </p:txBody>
      </p:sp>
    </p:spTree>
    <p:extLst>
      <p:ext uri="{BB962C8B-B14F-4D97-AF65-F5344CB8AC3E}">
        <p14:creationId xmlns:p14="http://schemas.microsoft.com/office/powerpoint/2010/main" val="373235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8997-9664-7466-34C9-40AA03ECB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297538-D3DB-9FB6-273A-90ABF2C47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1246950"/>
            <a:ext cx="7716253" cy="5474525"/>
          </a:xfrm>
        </p:spPr>
        <p:txBody>
          <a:bodyPr>
            <a:normAutofit fontScale="85000" lnSpcReduction="10000"/>
          </a:bodyPr>
          <a:lstStyle/>
          <a:p>
            <a:pPr lvl="0">
              <a:lnSpc>
                <a:spcPct val="160000"/>
              </a:lnSpc>
            </a:pPr>
            <a:r>
              <a:rPr lang="en-ES" b="1" dirty="0"/>
              <a:t>Accesibilidad</a:t>
            </a:r>
            <a:r>
              <a:rPr lang="en-ES" dirty="0"/>
              <a:t>:</a:t>
            </a:r>
          </a:p>
          <a:p>
            <a:pPr lvl="1">
              <a:lnSpc>
                <a:spcPct val="160000"/>
              </a:lnSpc>
            </a:pPr>
            <a:r>
              <a:rPr lang="en-ES" sz="2200" dirty="0"/>
              <a:t>Hace que la web pueda ser utilizada por </a:t>
            </a:r>
            <a:r>
              <a:rPr lang="en-ES" sz="2200" b="1" dirty="0"/>
              <a:t>todas</a:t>
            </a:r>
            <a:r>
              <a:rPr lang="en-ES" sz="2200" dirty="0"/>
              <a:t> las personas incluidas personas con discapacidad visual, auditiva, motora o cognitiva.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ES" sz="2600" dirty="0"/>
              <a:t>Usa:</a:t>
            </a:r>
          </a:p>
          <a:p>
            <a:pPr lvl="1">
              <a:lnSpc>
                <a:spcPct val="160000"/>
              </a:lnSpc>
            </a:pPr>
            <a:r>
              <a:rPr lang="en-GB" sz="2200" dirty="0" err="1"/>
              <a:t>Añade</a:t>
            </a:r>
            <a:r>
              <a:rPr lang="en-GB" sz="2200" dirty="0"/>
              <a:t> </a:t>
            </a:r>
            <a:r>
              <a:rPr lang="en-GB" sz="2200" dirty="0" err="1"/>
              <a:t>texto</a:t>
            </a:r>
            <a:r>
              <a:rPr lang="en-GB" sz="2200" dirty="0"/>
              <a:t> alternativo (alt) a las </a:t>
            </a:r>
            <a:r>
              <a:rPr lang="en-GB" sz="2200" dirty="0" err="1"/>
              <a:t>imágenes</a:t>
            </a:r>
            <a:r>
              <a:rPr lang="en-GB" sz="22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GB" sz="2200" dirty="0" err="1"/>
              <a:t>Mantener</a:t>
            </a:r>
            <a:r>
              <a:rPr lang="en-GB" sz="2200" dirty="0"/>
              <a:t> </a:t>
            </a:r>
            <a:r>
              <a:rPr lang="en-GB" sz="2200" dirty="0" err="1"/>
              <a:t>suficiente</a:t>
            </a:r>
            <a:r>
              <a:rPr lang="en-GB" sz="2200" dirty="0"/>
              <a:t> </a:t>
            </a:r>
            <a:r>
              <a:rPr lang="en-GB" sz="2200" dirty="0" err="1"/>
              <a:t>contraste</a:t>
            </a:r>
            <a:r>
              <a:rPr lang="en-GB" sz="2200" dirty="0"/>
              <a:t> entre </a:t>
            </a:r>
            <a:r>
              <a:rPr lang="en-GB" sz="2200" dirty="0" err="1"/>
              <a:t>texto</a:t>
            </a:r>
            <a:r>
              <a:rPr lang="en-GB" sz="2200" dirty="0"/>
              <a:t> y </a:t>
            </a:r>
            <a:r>
              <a:rPr lang="en-GB" sz="2200" dirty="0" err="1"/>
              <a:t>fondo</a:t>
            </a:r>
            <a:r>
              <a:rPr lang="en-GB" sz="22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GB" sz="2200" dirty="0"/>
              <a:t>Usar </a:t>
            </a:r>
            <a:r>
              <a:rPr lang="en-GB" sz="2200" dirty="0" err="1"/>
              <a:t>títulos</a:t>
            </a:r>
            <a:r>
              <a:rPr lang="en-GB" sz="2200" dirty="0"/>
              <a:t> (</a:t>
            </a:r>
            <a:r>
              <a:rPr lang="en-GB" sz="2200" dirty="0" err="1"/>
              <a:t>H1</a:t>
            </a:r>
            <a:r>
              <a:rPr lang="en-GB" sz="2200" dirty="0"/>
              <a:t>, </a:t>
            </a:r>
            <a:r>
              <a:rPr lang="en-GB" sz="2200" dirty="0" err="1"/>
              <a:t>H2</a:t>
            </a:r>
            <a:r>
              <a:rPr lang="en-GB" sz="2200" dirty="0"/>
              <a:t>, </a:t>
            </a:r>
            <a:r>
              <a:rPr lang="en-GB" sz="2200" dirty="0" err="1"/>
              <a:t>H3</a:t>
            </a:r>
            <a:r>
              <a:rPr lang="en-GB" sz="2200" dirty="0"/>
              <a:t>) </a:t>
            </a:r>
            <a:r>
              <a:rPr lang="en-GB" sz="2200" dirty="0" err="1"/>
              <a:t>en</a:t>
            </a:r>
            <a:r>
              <a:rPr lang="en-GB" sz="2200" dirty="0"/>
              <a:t> </a:t>
            </a:r>
            <a:r>
              <a:rPr lang="en-GB" sz="2200" dirty="0" err="1"/>
              <a:t>orden</a:t>
            </a:r>
            <a:r>
              <a:rPr lang="en-GB" sz="2200" dirty="0"/>
              <a:t>.</a:t>
            </a:r>
          </a:p>
          <a:p>
            <a:pPr lvl="1">
              <a:lnSpc>
                <a:spcPct val="160000"/>
              </a:lnSpc>
            </a:pPr>
            <a:r>
              <a:rPr lang="en-GB" sz="2200" dirty="0" err="1"/>
              <a:t>Navegación</a:t>
            </a:r>
            <a:r>
              <a:rPr lang="en-GB" sz="2200" dirty="0"/>
              <a:t> con el </a:t>
            </a:r>
            <a:r>
              <a:rPr lang="en-GB" sz="2200" dirty="0" err="1"/>
              <a:t>teclado</a:t>
            </a:r>
            <a:r>
              <a:rPr lang="en-GB" sz="2200" dirty="0"/>
              <a:t>.</a:t>
            </a:r>
            <a:endParaRPr lang="es-ES" sz="2200" dirty="0"/>
          </a:p>
          <a:p>
            <a:pPr marL="0" indent="0">
              <a:lnSpc>
                <a:spcPct val="160000"/>
              </a:lnSpc>
              <a:buNone/>
            </a:pPr>
            <a:r>
              <a:rPr lang="en-ES" sz="2200" dirty="0"/>
              <a:t>En WordPress muchas de estas mejoras se hacen desde el editor de bloques, por ejemplo añadiendo el texto alternativo al subir una imagen.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30DDC6-9AD7-1609-7BDC-D6576F016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8</a:t>
            </a:fld>
            <a:endParaRPr lang="es-E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1427688-0E17-61F6-5183-398B4E51F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260622"/>
            <a:ext cx="10515600" cy="515937"/>
          </a:xfrm>
        </p:spPr>
        <p:txBody>
          <a:bodyPr>
            <a:normAutofit fontScale="90000"/>
          </a:bodyPr>
          <a:lstStyle/>
          <a:p>
            <a:pPr>
              <a:lnSpc>
                <a:spcPct val="160000"/>
              </a:lnSpc>
            </a:pPr>
            <a:r>
              <a:rPr lang="en-ES" dirty="0"/>
              <a:t>En un diseño web hay que tener en cuenta:</a:t>
            </a:r>
          </a:p>
        </p:txBody>
      </p:sp>
      <p:pic>
        <p:nvPicPr>
          <p:cNvPr id="2" name="Picture 1" descr="Prototyping for Accessibility &amp; Inclusive Design: Building with Everyone in Mind | by H | Medium">
            <a:extLst>
              <a:ext uri="{FF2B5EF4-FFF2-40B4-BE49-F238E27FC236}">
                <a16:creationId xmlns:a16="http://schemas.microsoft.com/office/drawing/2014/main" id="{39EC9DE9-3714-D0C4-8DFF-AA6E19169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13"/>
          <a:stretch>
            <a:fillRect/>
          </a:stretch>
        </p:blipFill>
        <p:spPr>
          <a:xfrm>
            <a:off x="8380240" y="2136646"/>
            <a:ext cx="3486002" cy="330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460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F5940-3263-8CF8-0FB1-E09FE072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65716-2475-7B26-88A0-6DF50026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3880" y="1285586"/>
            <a:ext cx="10515600" cy="5070764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La </a:t>
            </a:r>
            <a:r>
              <a:rPr lang="en-ES" sz="22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Experiencia del Usuari</a:t>
            </a: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 (UX, User Experience) es la percepción y las sensaciones que tiene una persona al utilizar una página web. No se centra solo en el aspecto visual, sino en que la web sea fácil, útil, intuitiva y agradable de usar.</a:t>
            </a:r>
          </a:p>
          <a:p>
            <a:pPr>
              <a:lnSpc>
                <a:spcPct val="150000"/>
              </a:lnSpc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Es una combinación de diseño, organización y facilidad de uso.</a:t>
            </a:r>
          </a:p>
          <a:p>
            <a:pPr lvl="1">
              <a:lnSpc>
                <a:spcPct val="90000"/>
              </a:lnSpc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Navegación clara: el usuario encuentra lo que busca sin perderse .</a:t>
            </a:r>
          </a:p>
          <a:p>
            <a:pPr lvl="1">
              <a:lnSpc>
                <a:spcPct val="150000"/>
              </a:lnSpc>
            </a:pP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Evitar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saturar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la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página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con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demasiados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elementos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.</a:t>
            </a:r>
            <a:endParaRPr lang="en-ES" sz="2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Velocidad de carga: la página responde rápido.</a:t>
            </a:r>
          </a:p>
          <a:p>
            <a:pPr lvl="1">
              <a:lnSpc>
                <a:spcPct val="150000"/>
              </a:lnSpc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Diseño limpio: suficiente espacio en blanco y buena legibilidad.</a:t>
            </a:r>
          </a:p>
          <a:p>
            <a:pPr lvl="1">
              <a:lnSpc>
                <a:spcPct val="150000"/>
              </a:lnSpc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Contenido organizado: títulos, subtítulos y secciones facilitan la lectura.</a:t>
            </a:r>
          </a:p>
          <a:p>
            <a:pPr>
              <a:lnSpc>
                <a:spcPct val="150000"/>
              </a:lnSpc>
            </a:pPr>
            <a:endParaRPr lang="es-ES" sz="24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DE1A2-3326-66F5-67AB-6CF3504F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9</a:t>
            </a:fld>
            <a:endParaRPr lang="es-E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DC0986-7ED7-B17A-1E0E-5EB86128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" y="260622"/>
            <a:ext cx="10515600" cy="515937"/>
          </a:xfrm>
        </p:spPr>
        <p:txBody>
          <a:bodyPr>
            <a:normAutofit fontScale="90000"/>
          </a:bodyPr>
          <a:lstStyle/>
          <a:p>
            <a:pPr>
              <a:lnSpc>
                <a:spcPct val="160000"/>
              </a:lnSpc>
            </a:pPr>
            <a:r>
              <a:rPr lang="en-ES" dirty="0"/>
              <a:t>En un diseño web hay que tener en cuenta:</a:t>
            </a:r>
          </a:p>
        </p:txBody>
      </p:sp>
    </p:spTree>
    <p:extLst>
      <p:ext uri="{BB962C8B-B14F-4D97-AF65-F5344CB8AC3E}">
        <p14:creationId xmlns:p14="http://schemas.microsoft.com/office/powerpoint/2010/main" val="1512370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A40E0509-8392-8F64-6F84-F56DEF5E15CC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 (</a:t>
            </a:r>
            <a:r>
              <a:rPr lang="en-ES" sz="24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https://wordpress.com</a:t>
            </a:r>
            <a:r>
              <a:rPr lang="es-ES" sz="2400" dirty="0"/>
              <a:t>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A3E4A6-9310-96C3-CE85-8C41BFF55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10</a:t>
            </a:fld>
            <a:endParaRPr lang="es-E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1C23E3-6071-B624-31EA-FFA9F48DCE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019" y="1132910"/>
            <a:ext cx="7772400" cy="47501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5BAD9E9-21AC-7BE1-D247-0AE2196940D2}"/>
              </a:ext>
            </a:extLst>
          </p:cNvPr>
          <p:cNvSpPr txBox="1"/>
          <p:nvPr/>
        </p:nvSpPr>
        <p:spPr>
          <a:xfrm>
            <a:off x="695019" y="1721926"/>
            <a:ext cx="2536006" cy="45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Para crear una página web o sitio web debes seleccionar la primera opción (Sites o sitios)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endParaRPr lang="en-ES" sz="2200" u="sng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ES" sz="2200" u="sng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ES" sz="2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08B2A4A3-5C73-C5A2-2EE1-472E82DA0FD5}"/>
              </a:ext>
            </a:extLst>
          </p:cNvPr>
          <p:cNvSpPr/>
          <p:nvPr/>
        </p:nvSpPr>
        <p:spPr>
          <a:xfrm>
            <a:off x="4857008" y="1686296"/>
            <a:ext cx="1365662" cy="201881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5461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B554B-BF5D-F61A-DF19-D7FBA0E2E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AB7AF533-6194-0B37-9868-DB55B2FD14A1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Primera página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AA8B34-872B-D93A-250F-F8E1B7C0F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11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6B9A91-3A28-86BB-225D-2A40BE9A1327}"/>
              </a:ext>
            </a:extLst>
          </p:cNvPr>
          <p:cNvSpPr txBox="1"/>
          <p:nvPr/>
        </p:nvSpPr>
        <p:spPr>
          <a:xfrm>
            <a:off x="646581" y="1373822"/>
            <a:ext cx="9779954" cy="2055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Escribe el nombre que le das a tu web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endParaRPr lang="en-ES" sz="2200" u="sng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ES" sz="2200" u="sng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ES" sz="22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E70605-C196-B7D1-B6D1-61C9F08E03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851824"/>
            <a:ext cx="7772400" cy="2864397"/>
          </a:xfrm>
          <a:prstGeom prst="rect">
            <a:avLst/>
          </a:prstGeom>
        </p:spPr>
      </p:pic>
      <p:sp>
        <p:nvSpPr>
          <p:cNvPr id="6" name="Left Arrow 5">
            <a:extLst>
              <a:ext uri="{FF2B5EF4-FFF2-40B4-BE49-F238E27FC236}">
                <a16:creationId xmlns:a16="http://schemas.microsoft.com/office/drawing/2014/main" id="{2266C791-3D17-914F-357C-68D1F1FBA8A3}"/>
              </a:ext>
            </a:extLst>
          </p:cNvPr>
          <p:cNvSpPr/>
          <p:nvPr/>
        </p:nvSpPr>
        <p:spPr>
          <a:xfrm>
            <a:off x="4730338" y="4824350"/>
            <a:ext cx="1365662" cy="201881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94814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48D13-7FE0-CA1C-1E26-525BA84FC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3F7947E1-A7AA-B39B-8783-2EF1B9A73ED2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Plan gratuito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6187F5-9261-A068-51A0-FD02833D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12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F10DA6-7A5C-3BFA-9EC1-4E2FCCFBD22D}"/>
              </a:ext>
            </a:extLst>
          </p:cNvPr>
          <p:cNvSpPr txBox="1"/>
          <p:nvPr/>
        </p:nvSpPr>
        <p:spPr>
          <a:xfrm>
            <a:off x="274122" y="1254184"/>
            <a:ext cx="3633849" cy="5102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Te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ofrece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un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nombre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parecido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, o el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mismo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Lo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importante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es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elegir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la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opción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gratuitaen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el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botón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de la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derecha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“Start free” o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traducido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al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español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“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Empezar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a </a:t>
            </a:r>
            <a:r>
              <a:rPr lang="en-GB" sz="22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utilizar</a:t>
            </a:r>
            <a:r>
              <a:rPr lang="en-GB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el plan Gratis”.</a:t>
            </a:r>
            <a:endParaRPr lang="en-ES" sz="2200" u="sng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DC5BD1-C33F-AD43-E963-607466D44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971" y="855023"/>
            <a:ext cx="7772400" cy="5614135"/>
          </a:xfrm>
          <a:prstGeom prst="rect">
            <a:avLst/>
          </a:prstGeom>
        </p:spPr>
      </p:pic>
      <p:sp>
        <p:nvSpPr>
          <p:cNvPr id="6" name="Left Arrow 5">
            <a:extLst>
              <a:ext uri="{FF2B5EF4-FFF2-40B4-BE49-F238E27FC236}">
                <a16:creationId xmlns:a16="http://schemas.microsoft.com/office/drawing/2014/main" id="{72D3E244-8922-1BB6-FEE2-22A501859F54}"/>
              </a:ext>
            </a:extLst>
          </p:cNvPr>
          <p:cNvSpPr/>
          <p:nvPr/>
        </p:nvSpPr>
        <p:spPr>
          <a:xfrm>
            <a:off x="5744376" y="2461160"/>
            <a:ext cx="1365662" cy="201881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Left Arrow 3">
            <a:extLst>
              <a:ext uri="{FF2B5EF4-FFF2-40B4-BE49-F238E27FC236}">
                <a16:creationId xmlns:a16="http://schemas.microsoft.com/office/drawing/2014/main" id="{DD38BF6A-2564-AB59-E171-AF6DFEFF1A5E}"/>
              </a:ext>
            </a:extLst>
          </p:cNvPr>
          <p:cNvSpPr/>
          <p:nvPr/>
        </p:nvSpPr>
        <p:spPr>
          <a:xfrm rot="10800000">
            <a:off x="8315460" y="4074225"/>
            <a:ext cx="1365662" cy="201881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1220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96D89-D21D-D687-761F-91C75D0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BDDBF4B6-EE0A-93BB-1E7F-0579DF07C0E9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Plan gratuito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B92F5F-1D4D-3DAE-95E4-DD49727CB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13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AA899C-65F9-CCBD-F9C9-73410A2D3728}"/>
              </a:ext>
            </a:extLst>
          </p:cNvPr>
          <p:cNvSpPr txBox="1"/>
          <p:nvPr/>
        </p:nvSpPr>
        <p:spPr>
          <a:xfrm>
            <a:off x="784762" y="1859825"/>
            <a:ext cx="2521764" cy="1039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Seleccionamos el plan gratuito.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F73126-C372-C024-435D-B87C6C266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2454" y="855023"/>
            <a:ext cx="7772400" cy="5673596"/>
          </a:xfrm>
          <a:prstGeom prst="rect">
            <a:avLst/>
          </a:prstGeom>
        </p:spPr>
      </p:pic>
      <p:sp>
        <p:nvSpPr>
          <p:cNvPr id="6" name="Left Arrow 5">
            <a:extLst>
              <a:ext uri="{FF2B5EF4-FFF2-40B4-BE49-F238E27FC236}">
                <a16:creationId xmlns:a16="http://schemas.microsoft.com/office/drawing/2014/main" id="{44312C16-63B6-F77D-F222-0ADC9DE93C90}"/>
              </a:ext>
            </a:extLst>
          </p:cNvPr>
          <p:cNvSpPr/>
          <p:nvPr/>
        </p:nvSpPr>
        <p:spPr>
          <a:xfrm>
            <a:off x="5134539" y="4717472"/>
            <a:ext cx="1365662" cy="201881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5657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B574D-4037-F1F3-C61B-B1D3D81BF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C427A94C-FA3D-FA6A-4E54-41863E7FCF86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objetivo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97223D-0D82-57E8-8F71-7FE6A74F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14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B03622-7739-18DE-EE66-09CA7F1E57E0}"/>
              </a:ext>
            </a:extLst>
          </p:cNvPr>
          <p:cNvSpPr txBox="1"/>
          <p:nvPr/>
        </p:nvSpPr>
        <p:spPr>
          <a:xfrm>
            <a:off x="328059" y="1254184"/>
            <a:ext cx="3858930" cy="5102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Opcionalmente nos puede aparecer esta página que nos pregunta por nuestro objetivo, que es hacer una website.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2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Si no aparece esta pagina, pasamos a la siguiente transparencia.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D32FAD-FCFC-D166-23D3-573A0BFC66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31"/>
          <a:stretch>
            <a:fillRect/>
          </a:stretch>
        </p:blipFill>
        <p:spPr>
          <a:xfrm>
            <a:off x="3943597" y="1034716"/>
            <a:ext cx="7772400" cy="5443249"/>
          </a:xfrm>
          <a:prstGeom prst="rect">
            <a:avLst/>
          </a:prstGeom>
        </p:spPr>
      </p:pic>
      <p:sp>
        <p:nvSpPr>
          <p:cNvPr id="6" name="Left Arrow 5">
            <a:extLst>
              <a:ext uri="{FF2B5EF4-FFF2-40B4-BE49-F238E27FC236}">
                <a16:creationId xmlns:a16="http://schemas.microsoft.com/office/drawing/2014/main" id="{2088780D-B3ED-9666-9259-4172094985B0}"/>
              </a:ext>
            </a:extLst>
          </p:cNvPr>
          <p:cNvSpPr/>
          <p:nvPr/>
        </p:nvSpPr>
        <p:spPr>
          <a:xfrm>
            <a:off x="10498279" y="2209591"/>
            <a:ext cx="1365662" cy="201881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99723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FEFF-DF42-3BA6-8697-AEFC2EB92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ADCA9EE4-C76E-34B8-17C3-5BDF6D954E89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Tema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0D478F-8824-66D5-2643-26941192E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15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263BD-A975-7FBC-CD15-FA0BE43ADB14}"/>
              </a:ext>
            </a:extLst>
          </p:cNvPr>
          <p:cNvSpPr txBox="1"/>
          <p:nvPr/>
        </p:nvSpPr>
        <p:spPr>
          <a:xfrm>
            <a:off x="211309" y="1533668"/>
            <a:ext cx="4208291" cy="4185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Finalizamos el proceso y ya tenemos el entorno para hacer la web.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Esto ya es nuestra herramienta de administración de la web.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De las 4 opciones que me dan, selecciona la primera: Elegir un tema.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12BA21-2BE8-D337-FE31-4ADCECA5A8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97"/>
          <a:stretch>
            <a:fillRect/>
          </a:stretch>
        </p:blipFill>
        <p:spPr>
          <a:xfrm>
            <a:off x="4419600" y="1440685"/>
            <a:ext cx="7656096" cy="3550588"/>
          </a:xfrm>
          <a:prstGeom prst="rect">
            <a:avLst/>
          </a:prstGeom>
        </p:spPr>
      </p:pic>
      <p:sp>
        <p:nvSpPr>
          <p:cNvPr id="6" name="Left Arrow 5">
            <a:extLst>
              <a:ext uri="{FF2B5EF4-FFF2-40B4-BE49-F238E27FC236}">
                <a16:creationId xmlns:a16="http://schemas.microsoft.com/office/drawing/2014/main" id="{BD3A788D-CB11-CE66-9D33-DB98553691E1}"/>
              </a:ext>
            </a:extLst>
          </p:cNvPr>
          <p:cNvSpPr/>
          <p:nvPr/>
        </p:nvSpPr>
        <p:spPr>
          <a:xfrm>
            <a:off x="7463511" y="3424315"/>
            <a:ext cx="1365662" cy="201881"/>
          </a:xfrm>
          <a:prstGeom prst="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49818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BB5C3-066C-9362-A4A0-F10C3C224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7AF0698B-A066-D8F0-DD0D-F2E74133B963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Apariencia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C5367C-9232-5008-CF6A-2825B84D0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16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D75653-B032-864C-5C10-58D7ED7A5C83}"/>
              </a:ext>
            </a:extLst>
          </p:cNvPr>
          <p:cNvSpPr txBox="1"/>
          <p:nvPr/>
        </p:nvSpPr>
        <p:spPr>
          <a:xfrm>
            <a:off x="211310" y="1867759"/>
            <a:ext cx="3562596" cy="2800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 selecciona un tema.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Por ejemplo el primero que no es de pago.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Fíjate que en el menú los temas pertenecen a apariencia.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B210E0-A27B-C49D-23EC-073FB70095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8290" y="1317625"/>
            <a:ext cx="7772400" cy="4222750"/>
          </a:xfrm>
          <a:prstGeom prst="rect">
            <a:avLst/>
          </a:prstGeom>
        </p:spPr>
      </p:pic>
      <p:sp>
        <p:nvSpPr>
          <p:cNvPr id="6" name="Left Arrow 5">
            <a:extLst>
              <a:ext uri="{FF2B5EF4-FFF2-40B4-BE49-F238E27FC236}">
                <a16:creationId xmlns:a16="http://schemas.microsoft.com/office/drawing/2014/main" id="{3954A849-F845-E482-CE66-B55551E87909}"/>
              </a:ext>
            </a:extLst>
          </p:cNvPr>
          <p:cNvSpPr/>
          <p:nvPr/>
        </p:nvSpPr>
        <p:spPr>
          <a:xfrm rot="5400000">
            <a:off x="8333063" y="5387649"/>
            <a:ext cx="587653" cy="872288"/>
          </a:xfrm>
          <a:prstGeom prst="leftArrow">
            <a:avLst>
              <a:gd name="adj1" fmla="val 50000"/>
              <a:gd name="adj2" fmla="val 52047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32654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7155A-B77F-5E9D-8A6C-D54B27CFA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E5D17E3D-75B1-B746-5EF9-73E2DC6F6C72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menú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D10017-FA9F-3D16-8825-D3FD6FD06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17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E2C85E-7199-4664-2AB4-3BB54B79FE5E}"/>
              </a:ext>
            </a:extLst>
          </p:cNvPr>
          <p:cNvSpPr txBox="1"/>
          <p:nvPr/>
        </p:nvSpPr>
        <p:spPr>
          <a:xfrm>
            <a:off x="643236" y="1815306"/>
            <a:ext cx="6381996" cy="2800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Menú, arriba a la izquierda: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La W con un círculo es el entorno de Wordpress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La casita con el nombre de mi web (botón importante y quizás el más usado).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Pinchamos en la casita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656A479-A59F-E9C6-F8AF-3FBD32E4EF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3464" y="2459570"/>
            <a:ext cx="4305300" cy="52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896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FAC23-4848-CCAD-909A-A4060BAFB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D3569A6C-3A82-5804-CBE2-C413089DAA28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Editar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839D5E-8350-2EE5-596C-FB2612EAE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18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732B72-2AC0-73A3-A793-C070E62409ED}"/>
              </a:ext>
            </a:extLst>
          </p:cNvPr>
          <p:cNvSpPr txBox="1"/>
          <p:nvPr/>
        </p:nvSpPr>
        <p:spPr>
          <a:xfrm>
            <a:off x="471786" y="1562434"/>
            <a:ext cx="4648199" cy="3261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Menú, arriba a la izquierda: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Esta es mi web, veo lo que llevo hecho de la web (por ahora nada) y lo puedo cambiar pinchando dos veces.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Editar: Personaliza la apariencia del sitio web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60DB09-39ED-B368-3BA4-EA63B90BDE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8803" y="1390940"/>
            <a:ext cx="5324997" cy="3878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294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BF97A-907E-EC7C-B118-12639C9FE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A9244F88-AE28-1EC7-C293-DDA09681B1C1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Partes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CEB3A2-E5AA-54CB-E1C2-873FCE4CB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19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A956E6-A3FC-C6E1-FB8E-D6A6C0210171}"/>
              </a:ext>
            </a:extLst>
          </p:cNvPr>
          <p:cNvSpPr txBox="1"/>
          <p:nvPr/>
        </p:nvSpPr>
        <p:spPr>
          <a:xfrm>
            <a:off x="722964" y="1673692"/>
            <a:ext cx="4523874" cy="372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Desde la casita podemos acceder a: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Escritorio: </a:t>
            </a: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Gestionar el sitio web.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Plugins: Instalar plugins (solo en planes que lo permiten).</a:t>
            </a:r>
            <a:endParaRPr lang="es-ES" sz="2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Estadísticas: Ver visitas y rendimiento del sitio.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0B3C08-11DD-C31B-7343-FBAB6ADB69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046" y="1673692"/>
            <a:ext cx="5519554" cy="3622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2548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11DBA-C7B4-F67F-2DDC-4141D455A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27C22496-17A7-84B5-5365-CF81943E3231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Partes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B83DCD-6BCE-F2E7-D637-4E2CE54EC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20</a:t>
            </a:fld>
            <a:endParaRPr lang="es-E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40BA6C-7444-2CE6-1015-216FC67E6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114" y="1111478"/>
            <a:ext cx="2406293" cy="532301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F6DDE5BC-8329-E409-893F-5345ACE35518}"/>
              </a:ext>
            </a:extLst>
          </p:cNvPr>
          <p:cNvSpPr txBox="1"/>
          <p:nvPr/>
        </p:nvSpPr>
        <p:spPr>
          <a:xfrm>
            <a:off x="481263" y="1111478"/>
            <a:ext cx="8129337" cy="4646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Entradas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: Crear y editar artículos del blog.</a:t>
            </a:r>
          </a:p>
          <a:p>
            <a:pPr>
              <a:lnSpc>
                <a:spcPct val="150000"/>
              </a:lnSpc>
            </a:pPr>
            <a:r>
              <a:rPr lang="es-ES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Páginas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: Crear páginas como Inicio, </a:t>
            </a:r>
            <a:r>
              <a:rPr lang="es-ES" sz="20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FAQ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...</a:t>
            </a:r>
          </a:p>
          <a:p>
            <a:pPr>
              <a:lnSpc>
                <a:spcPct val="150000"/>
              </a:lnSpc>
            </a:pPr>
            <a:r>
              <a:rPr lang="es-ES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Apariencia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: Cambiar el tema, colores, tipografías y el editor del sitio.</a:t>
            </a:r>
          </a:p>
          <a:p>
            <a:pPr>
              <a:lnSpc>
                <a:spcPct val="150000"/>
              </a:lnSpc>
            </a:pPr>
            <a:r>
              <a:rPr lang="es-ES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Medios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: Subir imágenes, documentos y vídeos.</a:t>
            </a:r>
          </a:p>
          <a:p>
            <a:pPr>
              <a:lnSpc>
                <a:spcPct val="150000"/>
              </a:lnSpc>
            </a:pPr>
            <a:r>
              <a:rPr lang="es-ES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Comentarios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: Aprobar o eliminar comentarios.</a:t>
            </a:r>
          </a:p>
          <a:p>
            <a:pPr>
              <a:lnSpc>
                <a:spcPct val="150000"/>
              </a:lnSpc>
            </a:pPr>
            <a:r>
              <a:rPr lang="es-ES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Estadísticas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:  Ver visitas y rendimiento del sitio.</a:t>
            </a:r>
          </a:p>
          <a:p>
            <a:pPr>
              <a:lnSpc>
                <a:spcPct val="150000"/>
              </a:lnSpc>
            </a:pPr>
            <a:r>
              <a:rPr lang="es-ES" sz="2000" b="1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Plugins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: Instalar </a:t>
            </a:r>
            <a:r>
              <a:rPr lang="es-ES" sz="20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plugins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según el plan.</a:t>
            </a:r>
          </a:p>
          <a:p>
            <a:pPr>
              <a:lnSpc>
                <a:spcPct val="150000"/>
              </a:lnSpc>
            </a:pPr>
            <a:r>
              <a:rPr lang="es-ES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Usuarios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: Añadir o gestionar colaboradores.</a:t>
            </a:r>
          </a:p>
          <a:p>
            <a:pPr>
              <a:lnSpc>
                <a:spcPct val="150000"/>
              </a:lnSpc>
            </a:pPr>
            <a:r>
              <a:rPr lang="es-ES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Ajustes</a:t>
            </a: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: Configurar el nombre del sitio, idioma,..</a:t>
            </a:r>
          </a:p>
        </p:txBody>
      </p:sp>
    </p:spTree>
    <p:extLst>
      <p:ext uri="{BB962C8B-B14F-4D97-AF65-F5344CB8AC3E}">
        <p14:creationId xmlns:p14="http://schemas.microsoft.com/office/powerpoint/2010/main" val="16580427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2AB52-ACBF-4081-6956-213E15EAD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C63169CD-02A0-09AE-3BEC-1261910045D7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Tema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5294C1-7A61-A208-A2A4-6D7477834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21</a:t>
            </a:fld>
            <a:endParaRPr lang="es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2764E-86C6-C0C0-76F7-3FB784C86658}"/>
              </a:ext>
            </a:extLst>
          </p:cNvPr>
          <p:cNvSpPr txBox="1"/>
          <p:nvPr/>
        </p:nvSpPr>
        <p:spPr>
          <a:xfrm>
            <a:off x="467107" y="1674433"/>
            <a:ext cx="4657558" cy="372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Siempre podemos acceder a los temas desde “Apariencia” y en cualquier momento puedo cambiar.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Nos decidimos por un tema (Qué complicado es decidirse)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Hay que activar el tema que se decida</a:t>
            </a:r>
            <a:endParaRPr lang="en-ES" sz="2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E16371-AD2E-8C88-CF23-254EB35FC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3283" y="1498578"/>
            <a:ext cx="2615653" cy="15257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958F76-C3CA-9562-D988-C7393DD611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7336" y="2407930"/>
            <a:ext cx="4951327" cy="418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9603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F865E-AA3E-569D-2FC9-052331363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99024C24-6E67-7A3A-32A8-B09E8063391A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Tema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809D9A-2953-F2DF-E689-95BA77B33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22</a:t>
            </a:fld>
            <a:endParaRPr lang="es-E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7AB33-0A59-1ED2-B599-20FB26096AA2}"/>
              </a:ext>
            </a:extLst>
          </p:cNvPr>
          <p:cNvSpPr txBox="1"/>
          <p:nvPr/>
        </p:nvSpPr>
        <p:spPr>
          <a:xfrm>
            <a:off x="381105" y="1823830"/>
            <a:ext cx="4033641" cy="3261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Después de elegir un tema, edito mi sitio para modificar </a:t>
            </a: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lo que sea necesario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Aquí </a:t>
            </a:r>
            <a:r>
              <a:rPr lang="en-ES" sz="20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cada grupo </a:t>
            </a: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introducirá los elementos de su página web.</a:t>
            </a:r>
            <a:endParaRPr lang="es-ES" sz="2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E2362C-4848-9CB2-2D0D-C8F3FFC65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251" y="1614084"/>
            <a:ext cx="7363327" cy="372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8508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05976-7143-AB1A-4A63-2E9132E27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libre: forma 2">
            <a:extLst>
              <a:ext uri="{FF2B5EF4-FFF2-40B4-BE49-F238E27FC236}">
                <a16:creationId xmlns:a16="http://schemas.microsoft.com/office/drawing/2014/main" id="{3F373CB1-3D10-6807-A80A-5788AE32EFE9}"/>
              </a:ext>
            </a:extLst>
          </p:cNvPr>
          <p:cNvSpPr/>
          <p:nvPr/>
        </p:nvSpPr>
        <p:spPr>
          <a:xfrm>
            <a:off x="2795886" y="120521"/>
            <a:ext cx="6600228" cy="734502"/>
          </a:xfrm>
          <a:custGeom>
            <a:avLst/>
            <a:gdLst>
              <a:gd name="connsiteX0" fmla="*/ 0 w 7164343"/>
              <a:gd name="connsiteY0" fmla="*/ 80890 h 808897"/>
              <a:gd name="connsiteX1" fmla="*/ 80890 w 7164343"/>
              <a:gd name="connsiteY1" fmla="*/ 0 h 808897"/>
              <a:gd name="connsiteX2" fmla="*/ 7083453 w 7164343"/>
              <a:gd name="connsiteY2" fmla="*/ 0 h 808897"/>
              <a:gd name="connsiteX3" fmla="*/ 7164343 w 7164343"/>
              <a:gd name="connsiteY3" fmla="*/ 80890 h 808897"/>
              <a:gd name="connsiteX4" fmla="*/ 7164343 w 7164343"/>
              <a:gd name="connsiteY4" fmla="*/ 728007 h 808897"/>
              <a:gd name="connsiteX5" fmla="*/ 7083453 w 7164343"/>
              <a:gd name="connsiteY5" fmla="*/ 808897 h 808897"/>
              <a:gd name="connsiteX6" fmla="*/ 80890 w 7164343"/>
              <a:gd name="connsiteY6" fmla="*/ 808897 h 808897"/>
              <a:gd name="connsiteX7" fmla="*/ 0 w 7164343"/>
              <a:gd name="connsiteY7" fmla="*/ 728007 h 808897"/>
              <a:gd name="connsiteX8" fmla="*/ 0 w 7164343"/>
              <a:gd name="connsiteY8" fmla="*/ 80890 h 808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164343" h="808897">
                <a:moveTo>
                  <a:pt x="0" y="80890"/>
                </a:moveTo>
                <a:cubicBezTo>
                  <a:pt x="0" y="36216"/>
                  <a:pt x="36216" y="0"/>
                  <a:pt x="80890" y="0"/>
                </a:cubicBezTo>
                <a:lnTo>
                  <a:pt x="7083453" y="0"/>
                </a:lnTo>
                <a:cubicBezTo>
                  <a:pt x="7128127" y="0"/>
                  <a:pt x="7164343" y="36216"/>
                  <a:pt x="7164343" y="80890"/>
                </a:cubicBezTo>
                <a:lnTo>
                  <a:pt x="7164343" y="728007"/>
                </a:lnTo>
                <a:cubicBezTo>
                  <a:pt x="7164343" y="772681"/>
                  <a:pt x="7128127" y="808897"/>
                  <a:pt x="7083453" y="808897"/>
                </a:cubicBezTo>
                <a:lnTo>
                  <a:pt x="80890" y="808897"/>
                </a:lnTo>
                <a:cubicBezTo>
                  <a:pt x="36216" y="808897"/>
                  <a:pt x="0" y="772681"/>
                  <a:pt x="0" y="728007"/>
                </a:cubicBezTo>
                <a:lnTo>
                  <a:pt x="0" y="8089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45612" tIns="145612" rIns="144000" bIns="145612" numCol="1" spcCol="1270" anchor="ctr" anchorCtr="0">
            <a:noAutofit/>
          </a:bodyPr>
          <a:lstStyle/>
          <a:p>
            <a:pPr algn="ctr" defTabSz="1422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s-ES" sz="2400" dirty="0" err="1"/>
              <a:t>Wordpress</a:t>
            </a:r>
            <a:r>
              <a:rPr lang="es-ES" sz="2400" dirty="0"/>
              <a:t>: Arrancar de nuevo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A2812B-CE7A-B8F7-B003-A59703AB7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23</a:t>
            </a:fld>
            <a:endParaRPr lang="es-E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D4403D-84E6-94AF-543F-1DE59CA33372}"/>
              </a:ext>
            </a:extLst>
          </p:cNvPr>
          <p:cNvSpPr txBox="1"/>
          <p:nvPr/>
        </p:nvSpPr>
        <p:spPr>
          <a:xfrm>
            <a:off x="959064" y="1782113"/>
            <a:ext cx="3673643" cy="372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Una vez creada mi web, cada vez que empiece de nuevo debo entrar en </a:t>
            </a:r>
            <a:r>
              <a:rPr lang="en-GB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  <a:hlinkClick r:id="rId2"/>
              </a:rPr>
              <a:t>https://wordpress.com/</a:t>
            </a:r>
            <a:r>
              <a:rPr lang="en-GB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y </a:t>
            </a:r>
            <a:r>
              <a:rPr lang="en-GB" sz="20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pinchar</a:t>
            </a:r>
            <a:r>
              <a:rPr lang="en-GB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en-GB" sz="20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sobre</a:t>
            </a:r>
            <a:r>
              <a:rPr lang="en-GB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“</a:t>
            </a:r>
            <a:r>
              <a:rPr lang="en-GB" sz="20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ir</a:t>
            </a:r>
            <a:r>
              <a:rPr lang="en-GB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al </a:t>
            </a:r>
            <a:r>
              <a:rPr lang="en-GB" sz="2000" dirty="0" err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escritorio</a:t>
            </a:r>
            <a:r>
              <a:rPr lang="en-GB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”.</a:t>
            </a:r>
            <a:endParaRPr lang="en-ES" sz="2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br>
              <a:rPr lang="en-ES" sz="200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</a:br>
            <a:endParaRPr lang="en-ES" sz="2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287264-ED7A-593E-5AFC-D3B46FDD4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7523" y="1782113"/>
            <a:ext cx="6165783" cy="329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8369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2AAB83A-6F87-8A3C-DC38-C91C259F4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277B7-1433-7C97-D013-B4EAC769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65D05F-6072-4B4E-9981-AFD8EE10E932}" type="slidenum">
              <a:rPr lang="es-ES" smtClean="0"/>
              <a:t>24</a:t>
            </a:fld>
            <a:endParaRPr lang="es-E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02016A-8B28-6F02-7DDD-09194F2D6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923" y="344782"/>
            <a:ext cx="7772400" cy="616843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F43576C-0027-A78F-0B2F-17A5326E92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7523" y="344782"/>
            <a:ext cx="2749062" cy="5674181"/>
          </a:xfrm>
        </p:spPr>
        <p:txBody>
          <a:bodyPr>
            <a:normAutofit/>
          </a:bodyPr>
          <a:lstStyle/>
          <a:p>
            <a:r>
              <a:rPr lang="en-ES" sz="1200" dirty="0"/>
              <a:t>Bueno a partir de aquí puedes seguir un tutorial, por ejemplo he visto este:</a:t>
            </a:r>
            <a:br>
              <a:rPr lang="en-ES" sz="1200" dirty="0"/>
            </a:br>
            <a:r>
              <a:rPr lang="en-ES" sz="1200" dirty="0"/>
              <a:t> </a:t>
            </a:r>
            <a:r>
              <a:rPr lang="en-ES" sz="1200" u="sng" dirty="0">
                <a:hlinkClick r:id="rId3"/>
              </a:rPr>
              <a:t>https://www.youtube.com/watch?v=FACbOhT3QNg</a:t>
            </a:r>
            <a:br>
              <a:rPr lang="en-ES" sz="1200" dirty="0"/>
            </a:br>
            <a:br>
              <a:rPr lang="en-ES" sz="1200" dirty="0"/>
            </a:br>
            <a:br>
              <a:rPr lang="en-ES" sz="1200" dirty="0"/>
            </a:br>
            <a:r>
              <a:rPr lang="en-ES" sz="1200" dirty="0"/>
              <a:t>No está mal, pero </a:t>
            </a:r>
            <a:r>
              <a:rPr lang="en-ES" sz="1200" b="1" dirty="0"/>
              <a:t>empieza en el minuto 33:39</a:t>
            </a:r>
            <a:r>
              <a:rPr lang="en-ES" sz="1200" dirty="0"/>
              <a:t>, lo anterior no te interesa. pierdes</a:t>
            </a:r>
            <a:br>
              <a:rPr lang="en-ES" sz="1200" dirty="0"/>
            </a:br>
            <a:br>
              <a:rPr lang="en-ES" sz="1200" dirty="0"/>
            </a:br>
            <a:br>
              <a:rPr lang="en-ES" sz="1200" dirty="0"/>
            </a:b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2091714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B14FACDD-DA42-2B3A-E787-F134F76D8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s-ES" sz="6600" dirty="0"/>
              <a:t>Fin del tema de </a:t>
            </a:r>
            <a:r>
              <a:rPr lang="es-ES" sz="6600" dirty="0" err="1"/>
              <a:t>Wordpress</a:t>
            </a:r>
            <a:endParaRPr lang="es-ES" sz="6600" dirty="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sX0" fmla="*/ 0 w 5410200"/>
              <a:gd name="csY0" fmla="*/ 0 h 18288"/>
              <a:gd name="csX1" fmla="*/ 568071 w 5410200"/>
              <a:gd name="csY1" fmla="*/ 0 h 18288"/>
              <a:gd name="csX2" fmla="*/ 1298448 w 5410200"/>
              <a:gd name="csY2" fmla="*/ 0 h 18288"/>
              <a:gd name="csX3" fmla="*/ 1920621 w 5410200"/>
              <a:gd name="csY3" fmla="*/ 0 h 18288"/>
              <a:gd name="csX4" fmla="*/ 2488692 w 5410200"/>
              <a:gd name="csY4" fmla="*/ 0 h 18288"/>
              <a:gd name="csX5" fmla="*/ 3219069 w 5410200"/>
              <a:gd name="csY5" fmla="*/ 0 h 18288"/>
              <a:gd name="csX6" fmla="*/ 3895344 w 5410200"/>
              <a:gd name="csY6" fmla="*/ 0 h 18288"/>
              <a:gd name="csX7" fmla="*/ 4571619 w 5410200"/>
              <a:gd name="csY7" fmla="*/ 0 h 18288"/>
              <a:gd name="csX8" fmla="*/ 5410200 w 5410200"/>
              <a:gd name="csY8" fmla="*/ 0 h 18288"/>
              <a:gd name="csX9" fmla="*/ 5410200 w 5410200"/>
              <a:gd name="csY9" fmla="*/ 18288 h 18288"/>
              <a:gd name="csX10" fmla="*/ 4842129 w 5410200"/>
              <a:gd name="csY10" fmla="*/ 18288 h 18288"/>
              <a:gd name="csX11" fmla="*/ 4328160 w 5410200"/>
              <a:gd name="csY11" fmla="*/ 18288 h 18288"/>
              <a:gd name="csX12" fmla="*/ 3597783 w 5410200"/>
              <a:gd name="csY12" fmla="*/ 18288 h 18288"/>
              <a:gd name="csX13" fmla="*/ 3029712 w 5410200"/>
              <a:gd name="csY13" fmla="*/ 18288 h 18288"/>
              <a:gd name="csX14" fmla="*/ 2299335 w 5410200"/>
              <a:gd name="csY14" fmla="*/ 18288 h 18288"/>
              <a:gd name="csX15" fmla="*/ 1514856 w 5410200"/>
              <a:gd name="csY15" fmla="*/ 18288 h 18288"/>
              <a:gd name="csX16" fmla="*/ 892683 w 5410200"/>
              <a:gd name="csY16" fmla="*/ 18288 h 18288"/>
              <a:gd name="csX17" fmla="*/ 0 w 5410200"/>
              <a:gd name="csY17" fmla="*/ 18288 h 18288"/>
              <a:gd name="csX18" fmla="*/ 0 w 541020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1FA42B96-EAFB-929C-B187-4D543AB2544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370779" t="-370779" r="-370779" b="-370779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562312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766">
        <p:fade/>
      </p:transition>
    </mc:Choice>
    <mc:Fallback xmlns="">
      <p:transition spd="med" advTm="766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2009</TotalTime>
  <Words>1011</Words>
  <Application>Microsoft Macintosh PowerPoint</Application>
  <PresentationFormat>Widescreen</PresentationFormat>
  <Paragraphs>124</Paragraphs>
  <Slides>25</Slides>
  <Notes>2</Notes>
  <HiddenSlides>1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Verdana</vt:lpstr>
      <vt:lpstr>Tema de Office</vt:lpstr>
      <vt:lpstr>DISEÑO WEB,  TECNOLOGÍAS DE INTERNET  Y REDES DE COMUNICACIÓN</vt:lpstr>
      <vt:lpstr>Diseño web</vt:lpstr>
      <vt:lpstr>Diseño web</vt:lpstr>
      <vt:lpstr>Diseño web</vt:lpstr>
      <vt:lpstr>Diseño web</vt:lpstr>
      <vt:lpstr>En un diseño web hay que tener en cuenta:</vt:lpstr>
      <vt:lpstr>En un diseño web hay que tener en cuenta:</vt:lpstr>
      <vt:lpstr>En un diseño web hay que tener en cuenta:</vt:lpstr>
      <vt:lpstr>En un diseño web hay que tener en cuenta: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Bueno a partir de aquí puedes seguir un tutorial, por ejemplo he visto este:  https://www.youtube.com/watch?v=FACbOhT3QNg   No está mal, pero empieza en el minuto 33:39, lo anterior no te interesa. pierdes   </vt:lpstr>
      <vt:lpstr>Fin del tema de Wordpress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Crear dashboards con R y RStudio para publicar resultados científicos</dc:title>
  <dc:creator>SONIA ESTEVEZ MARTIN</dc:creator>
  <cp:lastModifiedBy>SONIA ESTEVEZ MARTIN</cp:lastModifiedBy>
  <cp:revision>44</cp:revision>
  <dcterms:created xsi:type="dcterms:W3CDTF">2024-02-26T11:23:01Z</dcterms:created>
  <dcterms:modified xsi:type="dcterms:W3CDTF">2026-09-28T11:35:47Z</dcterms:modified>
</cp:coreProperties>
</file>