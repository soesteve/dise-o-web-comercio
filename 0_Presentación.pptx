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8" r:id="rId2"/>
    <p:sldId id="268" r:id="rId3"/>
    <p:sldId id="265" r:id="rId4"/>
    <p:sldId id="266" r:id="rId5"/>
    <p:sldId id="269" r:id="rId6"/>
    <p:sldId id="263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85205"/>
  </p:normalViewPr>
  <p:slideViewPr>
    <p:cSldViewPr snapToGrid="0">
      <p:cViewPr varScale="1">
        <p:scale>
          <a:sx n="107" d="100"/>
          <a:sy n="107" d="100"/>
        </p:scale>
        <p:origin x="1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B5D0C-FB89-426A-BDB3-9A7787355CF6}" type="datetimeFigureOut">
              <a:rPr lang="es-ES" smtClean="0"/>
              <a:t>21/9/26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5A5A7-F342-4559-B4C0-B2B5679DF7B9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4752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FFFFFF"/>
                </a:solidFill>
              </a:rPr>
              <a:t>Crear dashboards con R y RStudio para publicar resultados científicos</a:t>
            </a: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5A5A7-F342-4559-B4C0-B2B5679DF7B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3772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DFF5D-4665-2574-AB2A-64D05F61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7545D-42D4-2D15-D875-A9A83EFF0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13A9B-1062-1BEB-93F7-249DCB00B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F0650-1E61-5039-11FA-A4A4FB3A1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5A5A7-F342-4559-B4C0-B2B5679DF7B9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5989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E2197-B5E4-B24C-A4EA-F1AEC25B7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638FA4-0288-095A-549C-D781B3E72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2FD770-44DD-5C33-3AC8-416D96F0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6B19-AA4D-C34D-938C-714B8F8B15BF}" type="datetime1">
              <a:rPr lang="es-ES_tradnl" smtClean="0"/>
              <a:t>21/9/26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871365-5264-1D3C-D3FA-20ADCE766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0474B1-8BEE-8B8C-A756-3984FF34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7332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E4E74-2E6B-FA02-9014-E47D6BB25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BF58C5-BFFD-1C79-2BD1-ECF47500C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F675AA-E590-29C9-F1EC-759950B7B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59DBD-4174-E94F-A663-EB0C45B45F3B}" type="datetime1">
              <a:rPr lang="es-ES_tradnl" smtClean="0"/>
              <a:t>21/9/26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7DE8B2-36A3-F598-E6F1-ABFE6576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587D2A-2F23-9195-3428-EFA4E0692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3622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52E8FC-7CDE-100F-8601-2C7ACC320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7C7E8C-B229-051F-F36A-3C699905B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1BF7E1-1BEA-9063-9589-B37D72D0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8180-28C2-E245-8C90-A2196D4A8CFE}" type="datetime1">
              <a:rPr lang="es-ES_tradnl" smtClean="0"/>
              <a:t>21/9/26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9B2A8E-564F-EA7B-914C-89BBF450F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7C2493-5245-0ED4-5C92-DC9C4E73B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18249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38651-231F-5C34-60B5-935D32490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AABA13-DA33-B67C-CE72-15716FBB8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586766-3761-283F-164B-D87062EAB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F7929E-149F-720B-C735-01A207804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3E487-4F0F-BE41-AD26-99917AD92DF6}" type="datetime1">
              <a:rPr lang="es-ES_tradnl" smtClean="0"/>
              <a:t>21/9/26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CB8881-B51D-7FAE-8D3C-4D8DFF56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C77753-1091-0C65-2152-CED432D8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25628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B23D0-9699-D2E9-A27D-21055548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18CC9F-37D0-1651-44E3-95C14D8C2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528990-F0D1-13A4-3440-16FCF5941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968F5A8-2088-177C-CAA1-F1C43DBA3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2A351A-7691-14FD-D18C-2375835C2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4344802-1BF2-CB0E-A6C8-0E54230F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E9164-1A58-9C40-8CB1-E774C890570F}" type="datetime1">
              <a:rPr lang="es-ES_tradnl" smtClean="0"/>
              <a:t>21/9/26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111F23-FD99-5273-017C-960DF25DF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A83CF4-656D-67FC-BF04-03B0BCE09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2967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313E8F-41E6-7A77-ADC5-B2CA631A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C23EADA-7889-3D57-A3E0-E20BB7B9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3A3E2-45BD-5249-B03F-40F4EBECD0CD}" type="datetime1">
              <a:rPr lang="es-ES_tradnl" smtClean="0"/>
              <a:t>21/9/26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64D924D-247A-0D24-0BC4-CA5AEEE9F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236FD14-B266-96DC-15F2-5E3F2731A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48859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863DDF9-C36A-A7C9-6C3C-C76B75886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7305C-E20C-FE4C-900B-3DD9FF3F20F6}" type="datetime1">
              <a:rPr lang="es-ES_tradnl" smtClean="0"/>
              <a:t>21/9/26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22B212-DEC0-F96E-4570-027DF695D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3C1CE2-E752-6DE2-1DEE-09A3E4CE3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367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74493-AD71-09B9-5551-748C9B42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56E1BB-AA9A-3BAD-BD90-50BAC85C7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986107-EF08-E1E0-0D41-FDBB2D8D3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EA0152-AE04-578F-0075-EE4A62350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7764-809B-A64C-B813-40903E2A4C09}" type="datetime1">
              <a:rPr lang="es-ES_tradnl" smtClean="0"/>
              <a:t>21/9/26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1CB7FA-C6D8-FDC8-C3DA-8BE85B10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3C5367-0E66-D29B-5456-94CDA7D2C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8530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41596-0307-2723-FF08-89114FA9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FC02D77-224A-B07D-566C-F9976AD73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77ACAA-197B-C1C3-408F-35BB4C93D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ECE3C7-61F0-AF64-0512-1533CA4F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0B16-AC65-FF43-A087-37F80EF88118}" type="datetime1">
              <a:rPr lang="es-ES_tradnl" smtClean="0"/>
              <a:t>21/9/26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34E8A0-2B81-8458-4C60-51AA55C06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07F507-C442-0C47-DF99-C4BBFB4CC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5687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D660D-A275-EE6F-9AB7-939606D2B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929E9-F850-3A58-1BE1-C4B426B17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6F9AB2-5132-DC2B-D45D-99B352F13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DADFD-6972-7C4C-9C20-DC69861E77DE}" type="datetime1">
              <a:rPr lang="es-ES_tradnl" smtClean="0"/>
              <a:t>21/9/26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FC3EF0-E994-D444-71E4-F05F874F9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CD642F-7E79-1C7E-633C-B2A4492B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7942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A3F4D3-4C29-8365-7AA7-333ED7A65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4ED9CB-577E-5B16-61D6-481B975F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105ED6-E703-84AC-398E-B43ED4614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052B-ADA0-344C-A915-E46137EFB71E}" type="datetime1">
              <a:rPr lang="es-ES_tradnl" smtClean="0"/>
              <a:t>21/9/26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105FF3-97B6-15D2-12D0-34DACC877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672C9-5ED5-97DF-72C9-3B118421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57810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A9CEBF3-2197-2D98-7D8B-428831DC9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649199-4B79-A17E-6EF8-2CD473313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17CA53-799B-6C57-BBCF-939CEEA2C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25CB91-F307-9A4B-ABA1-A6A8BA250802}" type="datetime1">
              <a:rPr lang="es-ES_tradnl" smtClean="0"/>
              <a:t>21/9/26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0E1D95-5605-C4E5-CE8D-1009B32E2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DDDF9D-11E3-8F45-57FC-BD0CF2678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814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cm.es/muc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ucm.es/prof-sonia-estvez-martn" TargetMode="External"/><Relationship Id="rId2" Type="http://schemas.openxmlformats.org/officeDocument/2006/relationships/hyperlink" Target="mailto:soesteve@ucm.e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cm.es/estudios/master-comercioelectronico-plan-606972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cm.es/estudios/master-comercioelectronico-plan-60697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B87C619C-EBAB-488E-96B9-153AA4C9B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130DA1C1-36FD-41D8-9826-EE797BF39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53312" cy="6858000"/>
          </a:xfrm>
          <a:custGeom>
            <a:avLst/>
            <a:gdLst>
              <a:gd name="connsiteX0" fmla="*/ 0 w 7433452"/>
              <a:gd name="connsiteY0" fmla="*/ 0 h 6858000"/>
              <a:gd name="connsiteX1" fmla="*/ 1592736 w 7433452"/>
              <a:gd name="connsiteY1" fmla="*/ 0 h 6858000"/>
              <a:gd name="connsiteX2" fmla="*/ 2171700 w 7433452"/>
              <a:gd name="connsiteY2" fmla="*/ 0 h 6858000"/>
              <a:gd name="connsiteX3" fmla="*/ 2762696 w 7433452"/>
              <a:gd name="connsiteY3" fmla="*/ 0 h 6858000"/>
              <a:gd name="connsiteX4" fmla="*/ 2829254 w 7433452"/>
              <a:gd name="connsiteY4" fmla="*/ 0 h 6858000"/>
              <a:gd name="connsiteX5" fmla="*/ 7415310 w 7433452"/>
              <a:gd name="connsiteY5" fmla="*/ 0 h 6858000"/>
              <a:gd name="connsiteX6" fmla="*/ 7405703 w 7433452"/>
              <a:gd name="connsiteY6" fmla="*/ 94814 h 6858000"/>
              <a:gd name="connsiteX7" fmla="*/ 7410754 w 7433452"/>
              <a:gd name="connsiteY7" fmla="*/ 421796 h 6858000"/>
              <a:gd name="connsiteX8" fmla="*/ 7414688 w 7433452"/>
              <a:gd name="connsiteY8" fmla="*/ 812192 h 6858000"/>
              <a:gd name="connsiteX9" fmla="*/ 7395017 w 7433452"/>
              <a:gd name="connsiteY9" fmla="*/ 1113642 h 6858000"/>
              <a:gd name="connsiteX10" fmla="*/ 7422810 w 7433452"/>
              <a:gd name="connsiteY10" fmla="*/ 1796708 h 6858000"/>
              <a:gd name="connsiteX11" fmla="*/ 7421161 w 7433452"/>
              <a:gd name="connsiteY11" fmla="*/ 2327333 h 6858000"/>
              <a:gd name="connsiteX12" fmla="*/ 7412023 w 7433452"/>
              <a:gd name="connsiteY12" fmla="*/ 2784280 h 6858000"/>
              <a:gd name="connsiteX13" fmla="*/ 7417480 w 7433452"/>
              <a:gd name="connsiteY13" fmla="*/ 2985458 h 6858000"/>
              <a:gd name="connsiteX14" fmla="*/ 7403774 w 7433452"/>
              <a:gd name="connsiteY14" fmla="*/ 3531096 h 6858000"/>
              <a:gd name="connsiteX15" fmla="*/ 7414307 w 7433452"/>
              <a:gd name="connsiteY15" fmla="*/ 4336830 h 6858000"/>
              <a:gd name="connsiteX16" fmla="*/ 7413419 w 7433452"/>
              <a:gd name="connsiteY16" fmla="*/ 5026893 h 6858000"/>
              <a:gd name="connsiteX17" fmla="*/ 7417734 w 7433452"/>
              <a:gd name="connsiteY17" fmla="*/ 5252632 h 6858000"/>
              <a:gd name="connsiteX18" fmla="*/ 7417734 w 7433452"/>
              <a:gd name="connsiteY18" fmla="*/ 5466282 h 6858000"/>
              <a:gd name="connsiteX19" fmla="*/ 7379659 w 7433452"/>
              <a:gd name="connsiteY19" fmla="*/ 6121225 h 6858000"/>
              <a:gd name="connsiteX20" fmla="*/ 7395115 w 7433452"/>
              <a:gd name="connsiteY20" fmla="*/ 6708907 h 6858000"/>
              <a:gd name="connsiteX21" fmla="*/ 7412408 w 7433452"/>
              <a:gd name="connsiteY21" fmla="*/ 6858000 h 6858000"/>
              <a:gd name="connsiteX22" fmla="*/ 2829254 w 7433452"/>
              <a:gd name="connsiteY22" fmla="*/ 6858000 h 6858000"/>
              <a:gd name="connsiteX23" fmla="*/ 2762696 w 7433452"/>
              <a:gd name="connsiteY23" fmla="*/ 6858000 h 6858000"/>
              <a:gd name="connsiteX24" fmla="*/ 2171700 w 7433452"/>
              <a:gd name="connsiteY24" fmla="*/ 6858000 h 6858000"/>
              <a:gd name="connsiteX25" fmla="*/ 1592736 w 7433452"/>
              <a:gd name="connsiteY25" fmla="*/ 6858000 h 6858000"/>
              <a:gd name="connsiteX26" fmla="*/ 0 w 7433452"/>
              <a:gd name="connsiteY2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433452" h="6858000">
                <a:moveTo>
                  <a:pt x="0" y="0"/>
                </a:moveTo>
                <a:lnTo>
                  <a:pt x="1592736" y="0"/>
                </a:lnTo>
                <a:lnTo>
                  <a:pt x="2171700" y="0"/>
                </a:lnTo>
                <a:lnTo>
                  <a:pt x="2762696" y="0"/>
                </a:lnTo>
                <a:lnTo>
                  <a:pt x="2829254" y="0"/>
                </a:lnTo>
                <a:lnTo>
                  <a:pt x="7415310" y="0"/>
                </a:lnTo>
                <a:lnTo>
                  <a:pt x="7405703" y="94814"/>
                </a:lnTo>
                <a:cubicBezTo>
                  <a:pt x="7398856" y="203629"/>
                  <a:pt x="7403520" y="312712"/>
                  <a:pt x="7410754" y="421796"/>
                </a:cubicBezTo>
                <a:cubicBezTo>
                  <a:pt x="7421580" y="551656"/>
                  <a:pt x="7422900" y="682144"/>
                  <a:pt x="7414688" y="812192"/>
                </a:cubicBezTo>
                <a:cubicBezTo>
                  <a:pt x="7406693" y="912591"/>
                  <a:pt x="7397682" y="1012988"/>
                  <a:pt x="7395017" y="1113642"/>
                </a:cubicBezTo>
                <a:cubicBezTo>
                  <a:pt x="7388670" y="1342689"/>
                  <a:pt x="7407708" y="1569316"/>
                  <a:pt x="7422810" y="1796708"/>
                </a:cubicBezTo>
                <a:cubicBezTo>
                  <a:pt x="7434487" y="1973710"/>
                  <a:pt x="7439944" y="2150457"/>
                  <a:pt x="7421161" y="2327333"/>
                </a:cubicBezTo>
                <a:cubicBezTo>
                  <a:pt x="7405170" y="2479266"/>
                  <a:pt x="7396793" y="2631453"/>
                  <a:pt x="7412023" y="2784280"/>
                </a:cubicBezTo>
                <a:cubicBezTo>
                  <a:pt x="7418749" y="2851085"/>
                  <a:pt x="7425984" y="2918653"/>
                  <a:pt x="7417480" y="2985458"/>
                </a:cubicBezTo>
                <a:cubicBezTo>
                  <a:pt x="7394508" y="3167039"/>
                  <a:pt x="7398063" y="3349132"/>
                  <a:pt x="7403774" y="3531096"/>
                </a:cubicBezTo>
                <a:cubicBezTo>
                  <a:pt x="7412277" y="3799715"/>
                  <a:pt x="7426364" y="4067954"/>
                  <a:pt x="7414307" y="4336830"/>
                </a:cubicBezTo>
                <a:cubicBezTo>
                  <a:pt x="7404027" y="4566639"/>
                  <a:pt x="7420653" y="4796831"/>
                  <a:pt x="7413419" y="5026893"/>
                </a:cubicBezTo>
                <a:cubicBezTo>
                  <a:pt x="7410982" y="5102162"/>
                  <a:pt x="7412429" y="5177504"/>
                  <a:pt x="7417734" y="5252632"/>
                </a:cubicBezTo>
                <a:cubicBezTo>
                  <a:pt x="7424271" y="5323700"/>
                  <a:pt x="7424271" y="5395213"/>
                  <a:pt x="7417734" y="5466282"/>
                </a:cubicBezTo>
                <a:cubicBezTo>
                  <a:pt x="7393239" y="5683875"/>
                  <a:pt x="7383214" y="5902486"/>
                  <a:pt x="7379659" y="6121225"/>
                </a:cubicBezTo>
                <a:cubicBezTo>
                  <a:pt x="7376423" y="6317442"/>
                  <a:pt x="7378041" y="6513586"/>
                  <a:pt x="7395115" y="6708907"/>
                </a:cubicBezTo>
                <a:lnTo>
                  <a:pt x="7412408" y="6858000"/>
                </a:lnTo>
                <a:lnTo>
                  <a:pt x="2829254" y="6858000"/>
                </a:lnTo>
                <a:lnTo>
                  <a:pt x="2762696" y="6858000"/>
                </a:lnTo>
                <a:lnTo>
                  <a:pt x="2171700" y="6858000"/>
                </a:lnTo>
                <a:lnTo>
                  <a:pt x="159273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29392" y="815009"/>
            <a:ext cx="5878286" cy="2319127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s-ES" sz="28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DISEÑO WEB, </a:t>
            </a:r>
            <a:br>
              <a:rPr lang="es-ES" sz="28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28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TECNOLOGÍAS DE INTERNET </a:t>
            </a:r>
            <a:br>
              <a:rPr lang="es-ES" sz="28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28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Y REDES DE COMUNICACIÓN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D8460CAE-24BB-A40D-2344-236FBA5B5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473" y="3340939"/>
            <a:ext cx="6081713" cy="2662693"/>
          </a:xfrm>
        </p:spPr>
        <p:txBody>
          <a:bodyPr>
            <a:normAutofit/>
          </a:bodyPr>
          <a:lstStyle/>
          <a:p>
            <a:pPr algn="l"/>
            <a:endParaRPr lang="es-ES" dirty="0">
              <a:solidFill>
                <a:srgbClr val="FFFFFF"/>
              </a:solidFill>
            </a:endParaRPr>
          </a:p>
          <a:p>
            <a:pPr algn="l"/>
            <a:r>
              <a:rPr lang="es-ES" dirty="0">
                <a:solidFill>
                  <a:srgbClr val="FFFFFF"/>
                </a:solidFill>
              </a:rPr>
              <a:t>Sonia Estévez Martín</a:t>
            </a:r>
          </a:p>
          <a:p>
            <a:pPr algn="l"/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97" name="sketch line">
            <a:extLst>
              <a:ext uri="{FF2B5EF4-FFF2-40B4-BE49-F238E27FC236}">
                <a16:creationId xmlns:a16="http://schemas.microsoft.com/office/drawing/2014/main" id="{35BC54F7-1315-4D6C-9420-A5BF0CDDB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475" y="4252192"/>
            <a:ext cx="4056549" cy="18288"/>
          </a:xfrm>
          <a:custGeom>
            <a:avLst/>
            <a:gdLst>
              <a:gd name="csX0" fmla="*/ 0 w 4056549"/>
              <a:gd name="csY0" fmla="*/ 0 h 18288"/>
              <a:gd name="csX1" fmla="*/ 676092 w 4056549"/>
              <a:gd name="csY1" fmla="*/ 0 h 18288"/>
              <a:gd name="csX2" fmla="*/ 1271052 w 4056549"/>
              <a:gd name="csY2" fmla="*/ 0 h 18288"/>
              <a:gd name="csX3" fmla="*/ 1947144 w 4056549"/>
              <a:gd name="csY3" fmla="*/ 0 h 18288"/>
              <a:gd name="csX4" fmla="*/ 2501539 w 4056549"/>
              <a:gd name="csY4" fmla="*/ 0 h 18288"/>
              <a:gd name="csX5" fmla="*/ 3137065 w 4056549"/>
              <a:gd name="csY5" fmla="*/ 0 h 18288"/>
              <a:gd name="csX6" fmla="*/ 4056549 w 4056549"/>
              <a:gd name="csY6" fmla="*/ 0 h 18288"/>
              <a:gd name="csX7" fmla="*/ 4056549 w 4056549"/>
              <a:gd name="csY7" fmla="*/ 18288 h 18288"/>
              <a:gd name="csX8" fmla="*/ 3380458 w 4056549"/>
              <a:gd name="csY8" fmla="*/ 18288 h 18288"/>
              <a:gd name="csX9" fmla="*/ 2663801 w 4056549"/>
              <a:gd name="csY9" fmla="*/ 18288 h 18288"/>
              <a:gd name="csX10" fmla="*/ 2068840 w 4056549"/>
              <a:gd name="csY10" fmla="*/ 18288 h 18288"/>
              <a:gd name="csX11" fmla="*/ 1311618 w 4056549"/>
              <a:gd name="csY11" fmla="*/ 18288 h 18288"/>
              <a:gd name="csX12" fmla="*/ 716657 w 4056549"/>
              <a:gd name="csY12" fmla="*/ 18288 h 18288"/>
              <a:gd name="csX13" fmla="*/ 0 w 4056549"/>
              <a:gd name="csY13" fmla="*/ 18288 h 18288"/>
              <a:gd name="csX14" fmla="*/ 0 w 4056549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6549" h="18288" fill="none" extrusionOk="0">
                <a:moveTo>
                  <a:pt x="0" y="0"/>
                </a:moveTo>
                <a:cubicBezTo>
                  <a:pt x="324395" y="-12272"/>
                  <a:pt x="437185" y="20747"/>
                  <a:pt x="676092" y="0"/>
                </a:cubicBezTo>
                <a:cubicBezTo>
                  <a:pt x="914999" y="-20747"/>
                  <a:pt x="980886" y="20074"/>
                  <a:pt x="1271052" y="0"/>
                </a:cubicBezTo>
                <a:cubicBezTo>
                  <a:pt x="1561218" y="-20074"/>
                  <a:pt x="1609815" y="19965"/>
                  <a:pt x="1947144" y="0"/>
                </a:cubicBezTo>
                <a:cubicBezTo>
                  <a:pt x="2284473" y="-19965"/>
                  <a:pt x="2317816" y="-23682"/>
                  <a:pt x="2501539" y="0"/>
                </a:cubicBezTo>
                <a:cubicBezTo>
                  <a:pt x="2685262" y="23682"/>
                  <a:pt x="2879461" y="12712"/>
                  <a:pt x="3137065" y="0"/>
                </a:cubicBezTo>
                <a:cubicBezTo>
                  <a:pt x="3394669" y="-12712"/>
                  <a:pt x="3618306" y="-41742"/>
                  <a:pt x="4056549" y="0"/>
                </a:cubicBezTo>
                <a:cubicBezTo>
                  <a:pt x="4056201" y="6465"/>
                  <a:pt x="4056979" y="10922"/>
                  <a:pt x="4056549" y="18288"/>
                </a:cubicBezTo>
                <a:cubicBezTo>
                  <a:pt x="3807729" y="-7540"/>
                  <a:pt x="3536237" y="12619"/>
                  <a:pt x="3380458" y="18288"/>
                </a:cubicBezTo>
                <a:cubicBezTo>
                  <a:pt x="3224679" y="23957"/>
                  <a:pt x="2967497" y="23368"/>
                  <a:pt x="2663801" y="18288"/>
                </a:cubicBezTo>
                <a:cubicBezTo>
                  <a:pt x="2360105" y="13208"/>
                  <a:pt x="2359716" y="-8821"/>
                  <a:pt x="2068840" y="18288"/>
                </a:cubicBezTo>
                <a:cubicBezTo>
                  <a:pt x="1777964" y="45397"/>
                  <a:pt x="1641909" y="31681"/>
                  <a:pt x="1311618" y="18288"/>
                </a:cubicBezTo>
                <a:cubicBezTo>
                  <a:pt x="981327" y="4895"/>
                  <a:pt x="990410" y="11155"/>
                  <a:pt x="716657" y="18288"/>
                </a:cubicBezTo>
                <a:cubicBezTo>
                  <a:pt x="442904" y="25421"/>
                  <a:pt x="330722" y="13665"/>
                  <a:pt x="0" y="18288"/>
                </a:cubicBezTo>
                <a:cubicBezTo>
                  <a:pt x="75" y="12069"/>
                  <a:pt x="515" y="5650"/>
                  <a:pt x="0" y="0"/>
                </a:cubicBezTo>
                <a:close/>
              </a:path>
              <a:path w="4056549" h="18288" stroke="0" extrusionOk="0">
                <a:moveTo>
                  <a:pt x="0" y="0"/>
                </a:moveTo>
                <a:cubicBezTo>
                  <a:pt x="175099" y="13469"/>
                  <a:pt x="459673" y="14529"/>
                  <a:pt x="594961" y="0"/>
                </a:cubicBezTo>
                <a:cubicBezTo>
                  <a:pt x="730249" y="-14529"/>
                  <a:pt x="873178" y="22015"/>
                  <a:pt x="1149356" y="0"/>
                </a:cubicBezTo>
                <a:cubicBezTo>
                  <a:pt x="1425534" y="-22015"/>
                  <a:pt x="1498871" y="-21513"/>
                  <a:pt x="1744316" y="0"/>
                </a:cubicBezTo>
                <a:cubicBezTo>
                  <a:pt x="1989761" y="21513"/>
                  <a:pt x="2112991" y="-46"/>
                  <a:pt x="2420408" y="0"/>
                </a:cubicBezTo>
                <a:cubicBezTo>
                  <a:pt x="2727825" y="46"/>
                  <a:pt x="2880256" y="-10040"/>
                  <a:pt x="3137065" y="0"/>
                </a:cubicBezTo>
                <a:cubicBezTo>
                  <a:pt x="3393874" y="10040"/>
                  <a:pt x="3704325" y="-6685"/>
                  <a:pt x="4056549" y="0"/>
                </a:cubicBezTo>
                <a:cubicBezTo>
                  <a:pt x="4055732" y="6895"/>
                  <a:pt x="4055770" y="11206"/>
                  <a:pt x="4056549" y="18288"/>
                </a:cubicBezTo>
                <a:cubicBezTo>
                  <a:pt x="3812770" y="11959"/>
                  <a:pt x="3533996" y="-5717"/>
                  <a:pt x="3299327" y="18288"/>
                </a:cubicBezTo>
                <a:cubicBezTo>
                  <a:pt x="3064658" y="42293"/>
                  <a:pt x="2940381" y="24492"/>
                  <a:pt x="2744931" y="18288"/>
                </a:cubicBezTo>
                <a:cubicBezTo>
                  <a:pt x="2549481" y="12084"/>
                  <a:pt x="2252169" y="51841"/>
                  <a:pt x="1987709" y="18288"/>
                </a:cubicBezTo>
                <a:cubicBezTo>
                  <a:pt x="1723249" y="-15265"/>
                  <a:pt x="1438946" y="3423"/>
                  <a:pt x="1230487" y="18288"/>
                </a:cubicBezTo>
                <a:cubicBezTo>
                  <a:pt x="1022028" y="33153"/>
                  <a:pt x="795957" y="18596"/>
                  <a:pt x="676092" y="18288"/>
                </a:cubicBezTo>
                <a:cubicBezTo>
                  <a:pt x="556227" y="17980"/>
                  <a:pt x="334853" y="39451"/>
                  <a:pt x="0" y="18288"/>
                </a:cubicBezTo>
                <a:cubicBezTo>
                  <a:pt x="95" y="14343"/>
                  <a:pt x="742" y="686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E4786-325E-6177-227A-09E3A9BF9135}"/>
              </a:ext>
            </a:extLst>
          </p:cNvPr>
          <p:cNvSpPr txBox="1"/>
          <p:nvPr/>
        </p:nvSpPr>
        <p:spPr>
          <a:xfrm>
            <a:off x="8046814" y="4270480"/>
            <a:ext cx="3679776" cy="110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Máster Universitario en Comercio Electrónico</a:t>
            </a:r>
            <a:endParaRPr lang="es-E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80CBC7-4264-739F-DEB2-93CA56495BA6}"/>
              </a:ext>
            </a:extLst>
          </p:cNvPr>
          <p:cNvSpPr txBox="1"/>
          <p:nvPr/>
        </p:nvSpPr>
        <p:spPr>
          <a:xfrm>
            <a:off x="8210798" y="1328840"/>
            <a:ext cx="3351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Presentación</a:t>
            </a:r>
            <a:endParaRPr lang="es-ES_tradnl" dirty="0"/>
          </a:p>
        </p:txBody>
      </p:sp>
      <p:pic>
        <p:nvPicPr>
          <p:cNvPr id="9" name="Picture 8" descr="A logo of a university&#10;&#10;Description automatically generated">
            <a:extLst>
              <a:ext uri="{FF2B5EF4-FFF2-40B4-BE49-F238E27FC236}">
                <a16:creationId xmlns:a16="http://schemas.microsoft.com/office/drawing/2014/main" id="{726333BB-17CC-375C-C724-DD9AE13E90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058" y="1754485"/>
            <a:ext cx="1790148" cy="2046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B3387C-0CB8-A442-4434-5AC7A5064DF8}"/>
              </a:ext>
            </a:extLst>
          </p:cNvPr>
          <p:cNvSpPr txBox="1"/>
          <p:nvPr/>
        </p:nvSpPr>
        <p:spPr>
          <a:xfrm>
            <a:off x="7973604" y="6210971"/>
            <a:ext cx="3826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Universidad Complutense de Madrid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4000"/>
    </mc:Choice>
    <mc:Fallback xmlns="">
      <p:transition advClick="0" advTm="4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A3E4A6-9310-96C3-CE85-8C41BFF5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65D05F-6072-4B4E-9981-AFD8EE10E93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Forma libre: forma 2">
            <a:extLst>
              <a:ext uri="{FF2B5EF4-FFF2-40B4-BE49-F238E27FC236}">
                <a16:creationId xmlns:a16="http://schemas.microsoft.com/office/drawing/2014/main" id="{5BD23415-8DCC-89B4-3F32-6E35B17C48B2}"/>
              </a:ext>
            </a:extLst>
          </p:cNvPr>
          <p:cNvSpPr/>
          <p:nvPr/>
        </p:nvSpPr>
        <p:spPr>
          <a:xfrm>
            <a:off x="3766930" y="387468"/>
            <a:ext cx="4658139" cy="455680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200" kern="1200" dirty="0"/>
              <a:t>Profesora</a:t>
            </a:r>
            <a:endParaRPr lang="en-US" sz="22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62E343-3BAF-7F28-E165-4F18BEFF9B38}"/>
              </a:ext>
            </a:extLst>
          </p:cNvPr>
          <p:cNvSpPr txBox="1"/>
          <p:nvPr/>
        </p:nvSpPr>
        <p:spPr>
          <a:xfrm>
            <a:off x="1270660" y="2164579"/>
            <a:ext cx="9342911" cy="33247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lnSpc>
                <a:spcPct val="200000"/>
              </a:lnSpc>
              <a:defRPr b="1"/>
            </a:lvl1pPr>
          </a:lstStyle>
          <a:p>
            <a:pPr>
              <a:lnSpc>
                <a:spcPct val="250000"/>
              </a:lnSpc>
            </a:pPr>
            <a:r>
              <a:rPr lang="es-ES" sz="2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Sonia Estévez Martín</a:t>
            </a:r>
          </a:p>
          <a:p>
            <a:pPr>
              <a:lnSpc>
                <a:spcPct val="250000"/>
              </a:lnSpc>
            </a:pPr>
            <a:r>
              <a:rPr lang="es-ES" sz="2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Despacho: 412 de la facultad de informática</a:t>
            </a:r>
          </a:p>
          <a:p>
            <a:pPr>
              <a:lnSpc>
                <a:spcPct val="250000"/>
              </a:lnSpc>
            </a:pPr>
            <a:r>
              <a:rPr lang="es-ES" sz="2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Tutorías: solicitar escribiendo a </a:t>
            </a:r>
            <a:r>
              <a:rPr lang="es-ES" sz="2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2"/>
              </a:rPr>
              <a:t>soesteve@ucm.es</a:t>
            </a:r>
            <a:endParaRPr lang="es-ES" sz="2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250000"/>
              </a:lnSpc>
            </a:pPr>
            <a:r>
              <a:rPr lang="es-ES" sz="2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web: </a:t>
            </a:r>
            <a:r>
              <a:rPr lang="en-GB" sz="2200" b="0" i="0" dirty="0">
                <a:solidFill>
                  <a:srgbClr val="1155C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3"/>
              </a:rPr>
              <a:t>https://sites.google.com/ucm.es/prof-sonia-estvez-martn</a:t>
            </a:r>
            <a:endParaRPr lang="en-ES" sz="2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71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2106D40-5140-520E-ABAE-E2111D8C82D2}"/>
              </a:ext>
            </a:extLst>
          </p:cNvPr>
          <p:cNvSpPr txBox="1"/>
          <p:nvPr/>
        </p:nvSpPr>
        <p:spPr>
          <a:xfrm>
            <a:off x="797851" y="1083709"/>
            <a:ext cx="10596296" cy="531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2"/>
              </a:rPr>
              <a:t>https://www.ucm.es/estudios/master-comercioelectronico-plan-606972</a:t>
            </a:r>
            <a:endParaRPr lang="es-ES_tradnl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A40E0509-8392-8F64-6F84-F56DEF5E15CC}"/>
              </a:ext>
            </a:extLst>
          </p:cNvPr>
          <p:cNvSpPr/>
          <p:nvPr/>
        </p:nvSpPr>
        <p:spPr>
          <a:xfrm>
            <a:off x="3766930" y="387468"/>
            <a:ext cx="4658139" cy="455680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200" kern="1200" dirty="0"/>
              <a:t>Ficha docente</a:t>
            </a:r>
            <a:endParaRPr lang="en-US" sz="2200" kern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A3E4A6-9310-96C3-CE85-8C41BFF5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3</a:t>
            </a:fld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BAD9E9-21AC-7BE1-D247-0AE2196940D2}"/>
              </a:ext>
            </a:extLst>
          </p:cNvPr>
          <p:cNvSpPr txBox="1"/>
          <p:nvPr/>
        </p:nvSpPr>
        <p:spPr>
          <a:xfrm>
            <a:off x="797851" y="1970261"/>
            <a:ext cx="10555949" cy="442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Contenidos</a:t>
            </a:r>
            <a:endParaRPr lang="en-GB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250000"/>
              </a:lnSpc>
            </a:pPr>
            <a:r>
              <a:rPr lang="es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I. La terminología básica de la web.-- Lenguajes, protocolos, formatos.</a:t>
            </a:r>
          </a:p>
          <a:p>
            <a:pPr>
              <a:lnSpc>
                <a:spcPct val="150000"/>
              </a:lnSpc>
            </a:pPr>
            <a:r>
              <a:rPr lang="es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-- La evolución de la web.</a:t>
            </a:r>
          </a:p>
          <a:p>
            <a:pPr>
              <a:lnSpc>
                <a:spcPct val="150000"/>
              </a:lnSpc>
            </a:pPr>
            <a:r>
              <a:rPr lang="es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-- Nuevas tendencias en el diseño web.</a:t>
            </a:r>
          </a:p>
          <a:p>
            <a:pPr>
              <a:lnSpc>
                <a:spcPct val="150000"/>
              </a:lnSpc>
            </a:pPr>
            <a:r>
              <a:rPr lang="es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II. Arquitectura y lenguajes de la web. </a:t>
            </a:r>
          </a:p>
          <a:p>
            <a:pPr>
              <a:lnSpc>
                <a:spcPct val="150000"/>
              </a:lnSpc>
            </a:pPr>
            <a:r>
              <a:rPr lang="es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-- Instalar un servidor web.</a:t>
            </a:r>
          </a:p>
          <a:p>
            <a:pPr>
              <a:lnSpc>
                <a:spcPct val="150000"/>
              </a:lnSpc>
            </a:pPr>
            <a:r>
              <a:rPr lang="es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-- Escribir pequeñas páginas web desde cero con HTML + CSS </a:t>
            </a:r>
          </a:p>
          <a:p>
            <a:pPr>
              <a:lnSpc>
                <a:spcPct val="150000"/>
              </a:lnSpc>
            </a:pPr>
            <a:r>
              <a:rPr lang="es-E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III. CMS</a:t>
            </a:r>
          </a:p>
        </p:txBody>
      </p:sp>
    </p:spTree>
    <p:extLst>
      <p:ext uri="{BB962C8B-B14F-4D97-AF65-F5344CB8AC3E}">
        <p14:creationId xmlns:p14="http://schemas.microsoft.com/office/powerpoint/2010/main" val="1665461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2106D40-5140-520E-ABAE-E2111D8C82D2}"/>
              </a:ext>
            </a:extLst>
          </p:cNvPr>
          <p:cNvSpPr txBox="1"/>
          <p:nvPr/>
        </p:nvSpPr>
        <p:spPr>
          <a:xfrm>
            <a:off x="863392" y="1072478"/>
            <a:ext cx="10596296" cy="1039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3"/>
              </a:rPr>
              <a:t>https://www.ucm.es/estudios/master-comercioelectronico-plan-606972</a:t>
            </a:r>
            <a:endParaRPr lang="es-ES_tradnl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es-ES_tradnl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A40E0509-8392-8F64-6F84-F56DEF5E15CC}"/>
              </a:ext>
            </a:extLst>
          </p:cNvPr>
          <p:cNvSpPr/>
          <p:nvPr/>
        </p:nvSpPr>
        <p:spPr>
          <a:xfrm>
            <a:off x="3766930" y="387468"/>
            <a:ext cx="4658139" cy="455680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200" kern="1200" dirty="0"/>
              <a:t>Ficha docente</a:t>
            </a:r>
            <a:endParaRPr lang="en-US" sz="2200" kern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A3E4A6-9310-96C3-CE85-8C41BFF5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4</a:t>
            </a:fld>
            <a:endParaRPr lang="es-E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6EA0FB-9347-0AE1-9CAD-0AE518381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412511"/>
              </p:ext>
            </p:extLst>
          </p:nvPr>
        </p:nvGraphicFramePr>
        <p:xfrm>
          <a:off x="748620" y="1965036"/>
          <a:ext cx="10534425" cy="411784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717148">
                  <a:extLst>
                    <a:ext uri="{9D8B030D-6E8A-4147-A177-3AD203B41FA5}">
                      <a16:colId xmlns:a16="http://schemas.microsoft.com/office/drawing/2014/main" val="2650169765"/>
                    </a:ext>
                  </a:extLst>
                </a:gridCol>
                <a:gridCol w="5817277">
                  <a:extLst>
                    <a:ext uri="{9D8B030D-6E8A-4147-A177-3AD203B41FA5}">
                      <a16:colId xmlns:a16="http://schemas.microsoft.com/office/drawing/2014/main" val="2327656352"/>
                    </a:ext>
                  </a:extLst>
                </a:gridCol>
              </a:tblGrid>
              <a:tr h="74965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Evaluación</a:t>
                      </a:r>
                      <a:endParaRPr lang="es-ES_tradnl" sz="2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endParaRPr lang="es-ES_tradnl" sz="2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116280"/>
                  </a:ext>
                </a:extLst>
              </a:tr>
              <a:tr h="749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Pruebas</a:t>
                      </a:r>
                      <a:r>
                        <a:rPr lang="en-GB" sz="2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2200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orales</a:t>
                      </a:r>
                      <a:r>
                        <a:rPr lang="en-GB" sz="2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y </a:t>
                      </a:r>
                      <a:r>
                        <a:rPr lang="en-GB" sz="2200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escritas</a:t>
                      </a:r>
                      <a:r>
                        <a:rPr lang="en-GB" sz="2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: 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GB" sz="2200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Pruebas</a:t>
                      </a:r>
                      <a:r>
                        <a:rPr lang="en-GB" sz="22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2200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escritas</a:t>
                      </a:r>
                      <a:r>
                        <a:rPr lang="en-GB" sz="22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que se </a:t>
                      </a:r>
                      <a:r>
                        <a:rPr lang="en-GB" sz="2200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harán</a:t>
                      </a:r>
                      <a:r>
                        <a:rPr lang="en-GB" sz="22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2200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durante</a:t>
                      </a:r>
                      <a:r>
                        <a:rPr lang="en-GB" sz="22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el </a:t>
                      </a:r>
                      <a:r>
                        <a:rPr lang="en-GB" sz="2200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curso</a:t>
                      </a:r>
                      <a:endParaRPr lang="es-ES_tradnl" sz="22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015839"/>
                  </a:ext>
                </a:extLst>
              </a:tr>
              <a:tr h="9811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Trabajos</a:t>
                      </a:r>
                      <a:r>
                        <a:rPr lang="en-GB" sz="2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e </a:t>
                      </a:r>
                      <a:r>
                        <a:rPr lang="en-GB" sz="2200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informes</a:t>
                      </a:r>
                      <a:r>
                        <a:rPr lang="en-GB" sz="2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: 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entregarán</a:t>
                      </a: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a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través</a:t>
                      </a: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informes</a:t>
                      </a: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o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documentación</a:t>
                      </a: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de las webs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realizadas</a:t>
                      </a: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durante</a:t>
                      </a: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el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curso</a:t>
                      </a:r>
                      <a:endParaRPr lang="es-ES_tradnl" sz="2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052845"/>
                  </a:ext>
                </a:extLst>
              </a:tr>
              <a:tr h="749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  <a:r>
                        <a:rPr lang="en-GB" sz="2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2200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</a:t>
                      </a:r>
                      <a:r>
                        <a:rPr lang="en-GB" sz="2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2200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clase</a:t>
                      </a:r>
                      <a:r>
                        <a:rPr lang="en-GB" sz="2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: 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Asistencia y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  <a:r>
                        <a:rPr lang="en-GB" sz="2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2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 </a:t>
                      </a:r>
                      <a:r>
                        <a:rPr lang="en-GB" sz="2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clase</a:t>
                      </a:r>
                      <a:endParaRPr lang="en-GB" sz="2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1813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445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C517D-57A2-09E9-5897-415039746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04991D97-4430-9864-7032-8AC2EB07DFC3}"/>
              </a:ext>
            </a:extLst>
          </p:cNvPr>
          <p:cNvSpPr/>
          <p:nvPr/>
        </p:nvSpPr>
        <p:spPr>
          <a:xfrm>
            <a:off x="3766930" y="387468"/>
            <a:ext cx="4658139" cy="455680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Evaluación</a:t>
            </a:r>
            <a:endParaRPr lang="es-ES_tradnl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39F14F-0911-1909-6183-59243545B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5</a:t>
            </a:fld>
            <a:endParaRPr lang="es-E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39398A-9414-74AE-923E-B9738E71C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963168"/>
              </p:ext>
            </p:extLst>
          </p:nvPr>
        </p:nvGraphicFramePr>
        <p:xfrm>
          <a:off x="923789" y="1305946"/>
          <a:ext cx="10250891" cy="455844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987650">
                  <a:extLst>
                    <a:ext uri="{9D8B030D-6E8A-4147-A177-3AD203B41FA5}">
                      <a16:colId xmlns:a16="http://schemas.microsoft.com/office/drawing/2014/main" val="2650169765"/>
                    </a:ext>
                  </a:extLst>
                </a:gridCol>
                <a:gridCol w="1555667">
                  <a:extLst>
                    <a:ext uri="{9D8B030D-6E8A-4147-A177-3AD203B41FA5}">
                      <a16:colId xmlns:a16="http://schemas.microsoft.com/office/drawing/2014/main" val="1301333949"/>
                    </a:ext>
                  </a:extLst>
                </a:gridCol>
                <a:gridCol w="2707574">
                  <a:extLst>
                    <a:ext uri="{9D8B030D-6E8A-4147-A177-3AD203B41FA5}">
                      <a16:colId xmlns:a16="http://schemas.microsoft.com/office/drawing/2014/main" val="2423655775"/>
                    </a:ext>
                  </a:extLst>
                </a:gridCol>
              </a:tblGrid>
              <a:tr h="74965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8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Porcentajes</a:t>
                      </a:r>
                      <a:endParaRPr lang="es-ES_tradnl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Puntos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Entrega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116280"/>
                  </a:ext>
                </a:extLst>
              </a:tr>
              <a:tr h="74965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Html + </a:t>
                      </a:r>
                      <a:r>
                        <a:rPr lang="en-GB" sz="1800" kern="1200" dirty="0" err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css</a:t>
                      </a:r>
                      <a:endParaRPr lang="en-GB" sz="1800" kern="12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s-ES_tradnl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 puntos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s-ES_tradnl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Campus Virtual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015839"/>
                  </a:ext>
                </a:extLst>
              </a:tr>
              <a:tr h="81017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GB" sz="1800" kern="1200" dirty="0" err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Creacción</a:t>
                      </a: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de </a:t>
                      </a:r>
                      <a:r>
                        <a:rPr lang="en-GB" sz="1800" kern="1200" dirty="0" err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una</a:t>
                      </a: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1800" kern="1200" dirty="0" err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página</a:t>
                      </a: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web con </a:t>
                      </a:r>
                      <a:r>
                        <a:rPr lang="en-GB" sz="1800" kern="120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Wordpress</a:t>
                      </a:r>
                      <a:endParaRPr lang="en-GB" sz="1800" kern="12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ES_tradnl" sz="18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40 puntos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ES_tradnl" sz="18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Campus Virtual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052845"/>
                  </a:ext>
                </a:extLst>
              </a:tr>
              <a:tr h="749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CMSs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40 </a:t>
                      </a:r>
                      <a:r>
                        <a:rPr lang="es-ES_tradnl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puntos</a:t>
                      </a:r>
                      <a:endParaRPr lang="en-GB" sz="1800" kern="12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 err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Exposición</a:t>
                      </a: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1800" kern="1200" dirty="0" err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</a:t>
                      </a: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1800" kern="1200" dirty="0" err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clase</a:t>
                      </a:r>
                      <a:endParaRPr lang="en-GB" sz="1800" kern="12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1813073"/>
                  </a:ext>
                </a:extLst>
              </a:tr>
              <a:tr h="749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 err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1800" kern="1200" dirty="0" err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en</a:t>
                      </a: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GB" sz="1800" kern="1200" dirty="0" err="1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clase</a:t>
                      </a:r>
                      <a:endParaRPr lang="en-GB" sz="1800" kern="12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 </a:t>
                      </a:r>
                      <a:r>
                        <a:rPr lang="es-ES_tradnl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puntos</a:t>
                      </a:r>
                      <a:endParaRPr lang="en-GB" sz="1800" kern="12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kern="12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609038"/>
                  </a:ext>
                </a:extLst>
              </a:tr>
              <a:tr h="749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accen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100 puntos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kern="12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124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577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14FACDD-DA42-2B3A-E787-F134F76D8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s-ES" sz="6600" dirty="0"/>
              <a:t>Fin de la presentación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1FA42B96-EAFB-929C-B187-4D543AB254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370779" t="-370779" r="-370779" b="-370779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6231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66">
        <p:fade/>
      </p:transition>
    </mc:Choice>
    <mc:Fallback xmlns="">
      <p:transition spd="med" advTm="76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1616</TotalTime>
  <Words>256</Words>
  <Application>Microsoft Macintosh PowerPoint</Application>
  <PresentationFormat>Widescreen</PresentationFormat>
  <Paragraphs>55</Paragraphs>
  <Slides>6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Verdana</vt:lpstr>
      <vt:lpstr>Tema de Office</vt:lpstr>
      <vt:lpstr>DISEÑO WEB,  TECNOLOGÍAS DE INTERNET  Y REDES DE COMUNICACIÓN</vt:lpstr>
      <vt:lpstr>PowerPoint Presentation</vt:lpstr>
      <vt:lpstr>PowerPoint Presentation</vt:lpstr>
      <vt:lpstr>PowerPoint Presentation</vt:lpstr>
      <vt:lpstr>PowerPoint Presentation</vt:lpstr>
      <vt:lpstr>Fin de la presentación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Crear dashboards con R y RStudio para publicar resultados científicos</dc:title>
  <dc:creator>SONIA ESTEVEZ MARTIN</dc:creator>
  <cp:lastModifiedBy>SONIA ESTEVEZ MARTIN</cp:lastModifiedBy>
  <cp:revision>39</cp:revision>
  <dcterms:created xsi:type="dcterms:W3CDTF">2024-02-26T11:23:01Z</dcterms:created>
  <dcterms:modified xsi:type="dcterms:W3CDTF">2026-09-21T11:46:43Z</dcterms:modified>
</cp:coreProperties>
</file>