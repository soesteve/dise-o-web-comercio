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Z9iDwMP+kVPI1/Ww/sE1NPPFU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Hola a todos. Somos Xinyu Lu y Huiyi Zhong, del grupo 16. Nuestro tema es Shopify: sus funcionalidades, sus características y cómo se usa en el comercio electrónico. Para unir teoría y práctica, hemos creado nuestra propia tienda: JOJO SHOP.</a:t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Shopify es un CMS especial para el comercio electrónico. Es un servicio en la nube: pagas una cuota mensual y Shopify se ocupa del servidor, la seguridad y los pagos. Para diseñar la tienda se usan temas, que se editan con un editor visual. Si necesitas más funciones, puedes instalar apps de la Shopify App Store.</a:t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Estas son las cinco funciones principales de Shopify. Gestión de productos: fotos, precios y colecciones. Temas: el diseño de la tienda con un editor visual. Pagos: tarjetas, PayPal y un checkout seguro. Pedidos: envíos, seguimiento y devoluciones. Y marketing: descuentos, ofertas y redes sociales. Como el tiempo es corto, hoy explicamos en detalle solo dos: productos y marketing.</a:t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practicar, creamos JOJO SHOP, una tienda de pañuelos y cuellos para perros y gatos. Usamos la prueba de Shopify de 1 euro al mes. Diseñamos la tienda con el editor de temas, subimos los productos en tres colecciones, activamos PayPal y el envío gratis a España, y añadimos descuentos, ofertas, preguntas frecuentes y reseñas.</a:t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primera función que explicamos en detalle es la gestión de productos. En Shopify cada producto tiene título, fotos y precio. También se pueden añadir variantes, como tallas, y controlar el inventario. Los productos se agrupan en colecciones. En JOJO SHOP tenemos tres colecciones: Edición Limitada a 29 euros, Novedades a 21 euros y Ofertas a 18,90 euros.</a:t>
            </a:r>
            <a:endParaRPr/>
          </a:p>
        </p:txBody>
      </p:sp>
      <p:sp>
        <p:nvSpPr>
          <p:cNvPr id="93" name="Google Shape;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segunda función que explicamos en detalle es el marketing. Shopify incluye descuentos, precios de oferta, campañas de email, conexión con redes sociales, SEO e informes de ventas. En JOJO SHOP usamos tres herramientas. El código JOJO2026 da un 10 por ciento en el primer pedido. En la colección Ofertas el precio baja de 21 a 18,90 euros. Y la cuenta atrás muestra cuándo acaba la oferta. Además, las reseñas y las fotos de clientes dan confianza.</a:t>
            </a:r>
            <a:endParaRPr/>
          </a:p>
        </p:txBody>
      </p:sp>
      <p:sp>
        <p:nvSpPr>
          <p:cNvPr id="108" name="Google Shape;10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terminar: Shopify reúne todo lo necesario para vender online en un solo panel: productos, diseño, pagos, pedidos y marketing. Es fácil de aprender, porque creamos JOJO SHOP sin saber programar. Su principal inconveniente es el coste mensual y de las apps. Aun así, creemos que es una buena opción para tiendas pequeñas como la nuestra.</a:t>
            </a:r>
            <a:endParaRPr/>
          </a:p>
        </p:txBody>
      </p:sp>
      <p:sp>
        <p:nvSpPr>
          <p:cNvPr id="127" name="Google Shape;12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Muchas gracias por escuchar. Ahora vamos a abrir la tienda en directo para que veáis cómo funciona. Si tenéis preguntas, podéis hacerlas ahora.</a:t>
            </a:r>
            <a:endParaRPr/>
          </a:p>
        </p:txBody>
      </p:sp>
      <p:sp>
        <p:nvSpPr>
          <p:cNvPr id="147" name="Google Shape;14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BF6E6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0"/>
          <p:cNvSpPr txBox="1"/>
          <p:nvPr>
            <p:ph type="title"/>
          </p:nvPr>
        </p:nvSpPr>
        <p:spPr>
          <a:xfrm>
            <a:off x="812800" y="1163290"/>
            <a:ext cx="1056640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3600"/>
              <a:buFont typeface="Arial"/>
              <a:buNone/>
              <a:defRPr sz="3600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" type="body"/>
          </p:nvPr>
        </p:nvSpPr>
        <p:spPr>
          <a:xfrm>
            <a:off x="812800" y="1970980"/>
            <a:ext cx="10566400" cy="4074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5A4239"/>
              </a:buClr>
              <a:buSzPts val="1600"/>
              <a:buNone/>
              <a:defRPr sz="1600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6E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12800" y="1163290"/>
            <a:ext cx="1056640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12800" y="1970980"/>
            <a:ext cx="10566400" cy="4074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5A4239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Relationship Id="rId4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z4mp07zx9zev8yhl-96715211018.shopifypreview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BC0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812800" y="1868239"/>
            <a:ext cx="5886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0705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0705E"/>
                </a:solidFill>
                <a:latin typeface="Arial"/>
                <a:ea typeface="Arial"/>
                <a:cs typeface="Arial"/>
                <a:sym typeface="Arial"/>
              </a:rPr>
              <a:t>TRABAJO DE CMSS · CASO PRÁCTICO: JOJO SHOP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 txBox="1"/>
          <p:nvPr>
            <p:ph type="title"/>
          </p:nvPr>
        </p:nvSpPr>
        <p:spPr>
          <a:xfrm>
            <a:off x="812800" y="2320330"/>
            <a:ext cx="588645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6000"/>
              <a:buFont typeface="Arial"/>
              <a:buNone/>
            </a:pPr>
            <a:r>
              <a:rPr b="1" i="0" lang="en-US" sz="6000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Shopify</a:t>
            </a:r>
            <a:endParaRPr sz="6000"/>
          </a:p>
        </p:txBody>
      </p:sp>
      <p:sp>
        <p:nvSpPr>
          <p:cNvPr id="23" name="Google Shape;23;p1"/>
          <p:cNvSpPr/>
          <p:nvPr/>
        </p:nvSpPr>
        <p:spPr>
          <a:xfrm>
            <a:off x="812800" y="3323630"/>
            <a:ext cx="5886450" cy="751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5A5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6E5A50"/>
                </a:solidFill>
              </a:rPr>
              <a:t>Funcionalidades, características y aplicación en el comercio electrónico</a:t>
            </a:r>
            <a:endParaRPr b="1"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12800" y="4253210"/>
            <a:ext cx="588645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Xinyu Lu · Huiyi Zhong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812800" y="4740870"/>
            <a:ext cx="5886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5A5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E5A50"/>
                </a:solidFill>
                <a:latin typeface="Arial"/>
                <a:ea typeface="Arial"/>
                <a:cs typeface="Arial"/>
                <a:sym typeface="Arial"/>
              </a:rPr>
              <a:t>Grupo 16 · Universidad Complutense de Madrid · 2026-27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" name="Google Shape;26;p1" title="下载.png"/>
          <p:cNvPicPr preferRelativeResize="0"/>
          <p:nvPr/>
        </p:nvPicPr>
        <p:blipFill rotWithShape="1">
          <a:blip r:embed="rId3">
            <a:alphaModFix/>
          </a:blip>
          <a:srcRect b="10992" l="0" r="0" t="10992"/>
          <a:stretch/>
        </p:blipFill>
        <p:spPr>
          <a:xfrm>
            <a:off x="6699250" y="1181225"/>
            <a:ext cx="4457400" cy="4345200"/>
          </a:xfrm>
          <a:prstGeom prst="roundRect">
            <a:avLst>
              <a:gd fmla="val 5161" name="adj"/>
            </a:avLst>
          </a:prstGeom>
          <a:noFill/>
          <a:ln>
            <a:noFill/>
          </a:ln>
          <a:effectLst>
            <a:outerShdw blurRad="304800" rotWithShape="0" algn="bl" dir="5400000" dist="101600">
              <a:srgbClr val="5A4239">
                <a:alpha val="18039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6E6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850375" y="1113400"/>
            <a:ext cx="108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0705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0705E"/>
                </a:solidFill>
                <a:latin typeface="Arial"/>
                <a:ea typeface="Arial"/>
                <a:cs typeface="Arial"/>
                <a:sym typeface="Arial"/>
              </a:rPr>
              <a:t>TEORÍA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 txBox="1"/>
          <p:nvPr>
            <p:ph type="title"/>
          </p:nvPr>
        </p:nvSpPr>
        <p:spPr>
          <a:xfrm>
            <a:off x="850375" y="1463890"/>
            <a:ext cx="108834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ct val="100000"/>
              <a:buFont typeface="Arial"/>
              <a:buNone/>
            </a:pPr>
            <a:r>
              <a:rPr b="1" i="0" lang="en-US" sz="3600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¿Qué es Shopify?</a:t>
            </a:r>
            <a:endParaRPr sz="3600"/>
          </a:p>
        </p:txBody>
      </p:sp>
      <p:sp>
        <p:nvSpPr>
          <p:cNvPr id="34" name="Google Shape;34;p2"/>
          <p:cNvSpPr/>
          <p:nvPr/>
        </p:nvSpPr>
        <p:spPr>
          <a:xfrm>
            <a:off x="850375" y="2322380"/>
            <a:ext cx="91566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Shopify es un CMS en la nube para crear tiendas online. No hace falta programar ni tener un servidor propio.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50375" y="3363780"/>
            <a:ext cx="3386700" cy="1905000"/>
          </a:xfrm>
          <a:prstGeom prst="roundRect">
            <a:avLst>
              <a:gd fmla="val 8000" name="adj"/>
            </a:avLst>
          </a:prstGeom>
          <a:solidFill>
            <a:srgbClr val="F5EB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loud" id="36" name="Google Shape;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4375" y="361778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1104375" y="4074980"/>
            <a:ext cx="2964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Todo incluido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04375" y="4481380"/>
            <a:ext cx="29649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5A5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E5A50"/>
                </a:solidFill>
                <a:latin typeface="Arial"/>
                <a:ea typeface="Arial"/>
                <a:cs typeface="Arial"/>
                <a:sym typeface="Arial"/>
              </a:rPr>
              <a:t>Alojamiento, seguridad y pagos en la misma plataforma.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440209" y="3363780"/>
            <a:ext cx="3386700" cy="1905000"/>
          </a:xfrm>
          <a:prstGeom prst="roundRect">
            <a:avLst>
              <a:gd fmla="val 8000" name="adj"/>
            </a:avLst>
          </a:prstGeom>
          <a:solidFill>
            <a:srgbClr val="F5EB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ettings" id="40" name="Google Shape;4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4209" y="361778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4694209" y="4074980"/>
            <a:ext cx="2964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Temas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94209" y="4481380"/>
            <a:ext cx="29649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5A5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E5A50"/>
                </a:solidFill>
                <a:latin typeface="Arial"/>
                <a:ea typeface="Arial"/>
                <a:cs typeface="Arial"/>
                <a:sym typeface="Arial"/>
              </a:rPr>
              <a:t>Plantillas que se cambian con un editor visual de secciones.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030017" y="3334280"/>
            <a:ext cx="3386700" cy="1905000"/>
          </a:xfrm>
          <a:prstGeom prst="roundRect">
            <a:avLst>
              <a:gd fmla="val 8000" name="adj"/>
            </a:avLst>
          </a:prstGeom>
          <a:solidFill>
            <a:srgbClr val="F5EB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ool" id="44" name="Google Shape;4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84017" y="358828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8284017" y="4045480"/>
            <a:ext cx="2964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Apps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284017" y="4451880"/>
            <a:ext cx="29649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5A5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E5A50"/>
                </a:solidFill>
                <a:latin typeface="Arial"/>
                <a:ea typeface="Arial"/>
                <a:cs typeface="Arial"/>
                <a:sym typeface="Arial"/>
              </a:rPr>
              <a:t>La Shopify App Store añade funciones, como las reseñas.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27100" y="635500"/>
            <a:ext cx="4406676" cy="13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BC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0705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0705E"/>
                </a:solidFill>
                <a:latin typeface="Arial"/>
                <a:ea typeface="Arial"/>
                <a:cs typeface="Arial"/>
                <a:sym typeface="Arial"/>
              </a:rPr>
              <a:t>TEORÍA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 txBox="1"/>
          <p:nvPr>
            <p:ph type="title"/>
          </p:nvPr>
        </p:nvSpPr>
        <p:spPr>
          <a:xfrm>
            <a:off x="812800" y="1163290"/>
            <a:ext cx="10883392" cy="5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3600"/>
              <a:buFont typeface="Arial"/>
              <a:buNone/>
            </a:pPr>
            <a:r>
              <a:rPr b="1" i="0" lang="en-US" sz="3600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Funciones principales</a:t>
            </a:r>
            <a:endParaRPr sz="3600"/>
          </a:p>
        </p:txBody>
      </p:sp>
      <p:sp>
        <p:nvSpPr>
          <p:cNvPr id="55" name="Google Shape;55;p3"/>
          <p:cNvSpPr/>
          <p:nvPr/>
        </p:nvSpPr>
        <p:spPr>
          <a:xfrm>
            <a:off x="812800" y="2021780"/>
            <a:ext cx="1991320" cy="1686520"/>
          </a:xfrm>
          <a:prstGeom prst="roundRect">
            <a:avLst>
              <a:gd fmla="val 9036" name="adj"/>
            </a:avLst>
          </a:prstGeom>
          <a:solidFill>
            <a:srgbClr val="F1E1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atabase" id="56" name="Google Shape;5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000" y="222498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3"/>
          <p:cNvSpPr/>
          <p:nvPr/>
        </p:nvSpPr>
        <p:spPr>
          <a:xfrm>
            <a:off x="1016000" y="2682180"/>
            <a:ext cx="1635720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Productos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1016000" y="3042841"/>
            <a:ext cx="1635720" cy="487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Fotos, precios y colecciones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2956520" y="2021780"/>
            <a:ext cx="1991370" cy="1686520"/>
          </a:xfrm>
          <a:prstGeom prst="roundRect">
            <a:avLst>
              <a:gd fmla="val 9036" name="adj"/>
            </a:avLst>
          </a:prstGeom>
          <a:solidFill>
            <a:srgbClr val="FBF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ettings" id="60" name="Google Shape;6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9720" y="222498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/>
          <p:nvPr/>
        </p:nvSpPr>
        <p:spPr>
          <a:xfrm>
            <a:off x="3159720" y="2682180"/>
            <a:ext cx="1635770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Temas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159720" y="3042841"/>
            <a:ext cx="1635770" cy="487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Diseño con editor visual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100290" y="2021780"/>
            <a:ext cx="1991370" cy="1686520"/>
          </a:xfrm>
          <a:prstGeom prst="roundRect">
            <a:avLst>
              <a:gd fmla="val 9036" name="adj"/>
            </a:avLst>
          </a:prstGeom>
          <a:solidFill>
            <a:srgbClr val="FBF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ck" id="64" name="Google Shape;6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3490" y="222498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/>
          <p:nvPr/>
        </p:nvSpPr>
        <p:spPr>
          <a:xfrm>
            <a:off x="5303490" y="2682180"/>
            <a:ext cx="1635770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Pagos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303490" y="3042841"/>
            <a:ext cx="1635770" cy="487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Tarjetas, PayPal y checkout seguro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244060" y="2021780"/>
            <a:ext cx="1991370" cy="1686520"/>
          </a:xfrm>
          <a:prstGeom prst="roundRect">
            <a:avLst>
              <a:gd fmla="val 9036" name="adj"/>
            </a:avLst>
          </a:prstGeom>
          <a:solidFill>
            <a:srgbClr val="FBF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aperPlane" id="68" name="Google Shape;6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47260" y="222498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/>
          <p:nvPr/>
        </p:nvSpPr>
        <p:spPr>
          <a:xfrm>
            <a:off x="7447260" y="2682180"/>
            <a:ext cx="1635770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Pedidos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7447260" y="3042841"/>
            <a:ext cx="1635770" cy="487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Envíos, seguimiento y devoluciones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9387830" y="2021780"/>
            <a:ext cx="1991370" cy="1686520"/>
          </a:xfrm>
          <a:prstGeom prst="roundRect">
            <a:avLst>
              <a:gd fmla="val 9036" name="adj"/>
            </a:avLst>
          </a:prstGeom>
          <a:solidFill>
            <a:srgbClr val="F1E1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tar" id="72" name="Google Shape;72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91030" y="222498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9591030" y="2682180"/>
            <a:ext cx="1635770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Marketing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9591030" y="3042841"/>
            <a:ext cx="1635770" cy="487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Descuentos, ofertas y redes sociales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812800" y="4063901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5A5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E5A50"/>
                </a:solidFill>
                <a:latin typeface="Arial"/>
                <a:ea typeface="Arial"/>
                <a:cs typeface="Arial"/>
                <a:sym typeface="Arial"/>
              </a:rPr>
              <a:t>Hoy explicamos en detalle dos funciones con nuestra tienda: </a:t>
            </a:r>
            <a:r>
              <a:rPr b="1" i="0" lang="en-US" sz="15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productos</a:t>
            </a:r>
            <a:r>
              <a:rPr b="0" i="0" lang="en-US" sz="1500" u="none" cap="none" strike="noStrike">
                <a:solidFill>
                  <a:srgbClr val="6E5A50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i="0" lang="en-US" sz="15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marketing</a:t>
            </a:r>
            <a:r>
              <a:rPr b="0" i="0" lang="en-US" sz="1500" u="none" cap="none" strike="noStrike">
                <a:solidFill>
                  <a:srgbClr val="6E5A5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17313" y="4449001"/>
            <a:ext cx="5274365" cy="219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A4239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/>
          <p:nvPr/>
        </p:nvSpPr>
        <p:spPr>
          <a:xfrm>
            <a:off x="606125" y="858030"/>
            <a:ext cx="627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9C6C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9C6CF"/>
                </a:solidFill>
                <a:latin typeface="Arial"/>
                <a:ea typeface="Arial"/>
                <a:cs typeface="Arial"/>
                <a:sym typeface="Arial"/>
              </a:rPr>
              <a:t>LO QUE HEMOS HECHO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 txBox="1"/>
          <p:nvPr>
            <p:ph type="title"/>
          </p:nvPr>
        </p:nvSpPr>
        <p:spPr>
          <a:xfrm>
            <a:off x="718850" y="1335520"/>
            <a:ext cx="6279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F6E6"/>
              </a:buClr>
              <a:buSzPct val="100000"/>
              <a:buFont typeface="Arial"/>
              <a:buNone/>
            </a:pPr>
            <a:r>
              <a:rPr b="1" i="0" lang="en-US" sz="4000">
                <a:solidFill>
                  <a:srgbClr val="FBF6E6"/>
                </a:solidFill>
                <a:latin typeface="Arial"/>
                <a:ea typeface="Arial"/>
                <a:cs typeface="Arial"/>
                <a:sym typeface="Arial"/>
              </a:rPr>
              <a:t>JOJO SHOP: accesorios para mascotas</a:t>
            </a:r>
            <a:endParaRPr sz="4000"/>
          </a:p>
        </p:txBody>
      </p:sp>
      <p:sp>
        <p:nvSpPr>
          <p:cNvPr id="84" name="Google Shape;84;p4"/>
          <p:cNvSpPr/>
          <p:nvPr/>
        </p:nvSpPr>
        <p:spPr>
          <a:xfrm>
            <a:off x="606125" y="3019920"/>
            <a:ext cx="62790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EBC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5EBC0"/>
                </a:solidFill>
                <a:latin typeface="Arial"/>
                <a:ea typeface="Arial"/>
                <a:cs typeface="Arial"/>
                <a:sym typeface="Arial"/>
              </a:rPr>
              <a:t>· Tienda creada con la prueba de 1 € al mes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06125" y="3388220"/>
            <a:ext cx="62790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EBC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5EBC0"/>
                </a:solidFill>
                <a:latin typeface="Arial"/>
                <a:ea typeface="Arial"/>
                <a:cs typeface="Arial"/>
                <a:sym typeface="Arial"/>
              </a:rPr>
              <a:t>· Diseño propio con el editor de temas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06125" y="3756520"/>
            <a:ext cx="62790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EBC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5EBC0"/>
                </a:solidFill>
                <a:latin typeface="Arial"/>
                <a:ea typeface="Arial"/>
                <a:cs typeface="Arial"/>
                <a:sym typeface="Arial"/>
              </a:rPr>
              <a:t>· Productos en 3 colecciones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606125" y="4124820"/>
            <a:ext cx="62790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EBC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5EBC0"/>
                </a:solidFill>
                <a:latin typeface="Arial"/>
                <a:ea typeface="Arial"/>
                <a:cs typeface="Arial"/>
                <a:sym typeface="Arial"/>
              </a:rPr>
              <a:t>· Pago con PayPal y envío gratis a España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606125" y="4493120"/>
            <a:ext cx="62790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EBC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5EBC0"/>
                </a:solidFill>
                <a:latin typeface="Arial"/>
                <a:ea typeface="Arial"/>
                <a:cs typeface="Arial"/>
                <a:sym typeface="Arial"/>
              </a:rPr>
              <a:t>· Descuentos, ofertas, FAQ y reseñas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2950" y="2165425"/>
            <a:ext cx="6382825" cy="3200100"/>
          </a:xfrm>
          <a:prstGeom prst="rect">
            <a:avLst/>
          </a:prstGeom>
          <a:noFill/>
          <a:ln>
            <a:noFill/>
          </a:ln>
          <a:effectLst>
            <a:outerShdw blurRad="304800" rotWithShape="0" algn="bl" dir="5400000" dist="101600">
              <a:srgbClr val="5A4239">
                <a:alpha val="1804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6E6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0705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0705E"/>
                </a:solidFill>
                <a:latin typeface="Arial"/>
                <a:ea typeface="Arial"/>
                <a:cs typeface="Arial"/>
                <a:sym typeface="Arial"/>
              </a:rPr>
              <a:t>EN DETALLE · 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 txBox="1"/>
          <p:nvPr>
            <p:ph type="title"/>
          </p:nvPr>
        </p:nvSpPr>
        <p:spPr>
          <a:xfrm>
            <a:off x="812800" y="1163290"/>
            <a:ext cx="10883392" cy="5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3600"/>
              <a:buFont typeface="Arial"/>
              <a:buNone/>
            </a:pPr>
            <a:r>
              <a:rPr b="1" i="0" lang="en-US" sz="3600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Gestión de productos</a:t>
            </a:r>
            <a:endParaRPr sz="3600"/>
          </a:p>
        </p:txBody>
      </p:sp>
      <p:sp>
        <p:nvSpPr>
          <p:cNvPr id="97" name="Google Shape;97;p5"/>
          <p:cNvSpPr/>
          <p:nvPr/>
        </p:nvSpPr>
        <p:spPr>
          <a:xfrm>
            <a:off x="812800" y="1920180"/>
            <a:ext cx="3810000" cy="1239441"/>
          </a:xfrm>
          <a:prstGeom prst="roundRect">
            <a:avLst>
              <a:gd fmla="val 12296" name="adj"/>
            </a:avLst>
          </a:prstGeom>
          <a:solidFill>
            <a:srgbClr val="F5EB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1016000" y="2123380"/>
            <a:ext cx="3505708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0705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A0705E"/>
                </a:solidFill>
                <a:latin typeface="Arial"/>
                <a:ea typeface="Arial"/>
                <a:cs typeface="Arial"/>
                <a:sym typeface="Arial"/>
              </a:rPr>
              <a:t>En Shopify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016000" y="2458641"/>
            <a:ext cx="3505708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Título, fotos, precio, variantes e inventario. Los productos se agrupan en colecciones.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812800" y="3312021"/>
            <a:ext cx="3810000" cy="1239441"/>
          </a:xfrm>
          <a:prstGeom prst="roundRect">
            <a:avLst>
              <a:gd fmla="val 12296" name="adj"/>
            </a:avLst>
          </a:prstGeom>
          <a:solidFill>
            <a:srgbClr val="F1E1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1016000" y="3515221"/>
            <a:ext cx="3505708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0705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A0705E"/>
                </a:solidFill>
                <a:latin typeface="Arial"/>
                <a:ea typeface="Arial"/>
                <a:cs typeface="Arial"/>
                <a:sym typeface="Arial"/>
              </a:rPr>
              <a:t>En JOJO SHOP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016000" y="3850481"/>
            <a:ext cx="3505708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3 colecciones: Edición Limitada (29 €), Novedades (21 €) y Ofertas (18,90 €).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978400" y="1920180"/>
            <a:ext cx="6400800" cy="3721100"/>
          </a:xfrm>
          <a:prstGeom prst="roundRect">
            <a:avLst>
              <a:gd fmla="val 4096" name="adj"/>
            </a:avLst>
          </a:prstGeom>
          <a:solidFill>
            <a:srgbClr val="EFE3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lección Edición Limitada con tres pañuelos para mascotas a 29 euros"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-49" r="-49" t="0"/>
          <a:stretch/>
        </p:blipFill>
        <p:spPr>
          <a:xfrm>
            <a:off x="4978400" y="1920180"/>
            <a:ext cx="6400800" cy="3721100"/>
          </a:xfrm>
          <a:prstGeom prst="roundRect">
            <a:avLst>
              <a:gd fmla="val 4096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6E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0705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0705E"/>
                </a:solidFill>
                <a:latin typeface="Arial"/>
                <a:ea typeface="Arial"/>
                <a:cs typeface="Arial"/>
                <a:sym typeface="Arial"/>
              </a:rPr>
              <a:t>EN DETALLE · 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 txBox="1"/>
          <p:nvPr>
            <p:ph type="title"/>
          </p:nvPr>
        </p:nvSpPr>
        <p:spPr>
          <a:xfrm>
            <a:off x="812800" y="1163290"/>
            <a:ext cx="10883392" cy="5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3600"/>
              <a:buFont typeface="Arial"/>
              <a:buNone/>
            </a:pPr>
            <a:r>
              <a:rPr b="1" i="0" lang="en-US" sz="3600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Marketing</a:t>
            </a:r>
            <a:endParaRPr sz="3600"/>
          </a:p>
        </p:txBody>
      </p:sp>
      <p:sp>
        <p:nvSpPr>
          <p:cNvPr id="112" name="Google Shape;112;p6"/>
          <p:cNvSpPr/>
          <p:nvPr/>
        </p:nvSpPr>
        <p:spPr>
          <a:xfrm>
            <a:off x="812800" y="1920180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En Shopify:</a:t>
            </a:r>
            <a:r>
              <a:rPr b="0" i="0" lang="en-US" sz="1500" u="none" cap="none" strike="noStrike">
                <a:solidFill>
                  <a:srgbClr val="6E5A50"/>
                </a:solidFill>
                <a:latin typeface="Arial"/>
                <a:ea typeface="Arial"/>
                <a:cs typeface="Arial"/>
                <a:sym typeface="Arial"/>
              </a:rPr>
              <a:t> descuentos, precios de oferta, email, redes sociales, SEO e informes de ventas.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812800" y="2440880"/>
            <a:ext cx="3386634" cy="905470"/>
          </a:xfrm>
          <a:prstGeom prst="roundRect">
            <a:avLst>
              <a:gd fmla="val 14026" name="adj"/>
            </a:avLst>
          </a:prstGeom>
          <a:solidFill>
            <a:srgbClr val="F1E1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990600" y="2618680"/>
            <a:ext cx="3121965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JOJO2026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990600" y="2928541"/>
            <a:ext cx="3121965" cy="265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10 % en el primer pedido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402634" y="2440880"/>
            <a:ext cx="3386683" cy="905470"/>
          </a:xfrm>
          <a:prstGeom prst="roundRect">
            <a:avLst>
              <a:gd fmla="val 14026" name="adj"/>
            </a:avLst>
          </a:prstGeom>
          <a:solidFill>
            <a:srgbClr val="F1E1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4580434" y="2618680"/>
            <a:ext cx="3122016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Ofertas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580434" y="2928541"/>
            <a:ext cx="3122016" cy="265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De 21 € a 18,90 €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7992517" y="2440880"/>
            <a:ext cx="3386634" cy="905470"/>
          </a:xfrm>
          <a:prstGeom prst="roundRect">
            <a:avLst>
              <a:gd fmla="val 14026" name="adj"/>
            </a:avLst>
          </a:prstGeom>
          <a:solidFill>
            <a:srgbClr val="F1E1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8170317" y="2618680"/>
            <a:ext cx="3121965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Cuenta atrás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8170317" y="2928541"/>
            <a:ext cx="3121965" cy="265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Indica cuándo acaba la oferta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lección Ofertas con pañuelos rebajados de 21 a 18,90 euros" id="122" name="Google Shape;122;p6"/>
          <p:cNvPicPr preferRelativeResize="0"/>
          <p:nvPr/>
        </p:nvPicPr>
        <p:blipFill rotWithShape="1">
          <a:blip r:embed="rId3">
            <a:alphaModFix/>
          </a:blip>
          <a:srcRect b="17262" l="0" r="0" t="17262"/>
          <a:stretch/>
        </p:blipFill>
        <p:spPr>
          <a:xfrm>
            <a:off x="812800" y="3600351"/>
            <a:ext cx="5181600" cy="19050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Banner con 10 por ciento de descuento en el primer pedido y el código JOJO2026" id="123" name="Google Shape;123;p6"/>
          <p:cNvPicPr preferRelativeResize="0"/>
          <p:nvPr/>
        </p:nvPicPr>
        <p:blipFill rotWithShape="1">
          <a:blip r:embed="rId4">
            <a:alphaModFix/>
          </a:blip>
          <a:srcRect b="14384" l="0" r="0" t="14384"/>
          <a:stretch/>
        </p:blipFill>
        <p:spPr>
          <a:xfrm>
            <a:off x="6197600" y="3600351"/>
            <a:ext cx="5181600" cy="19050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6E6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0705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0705E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 txBox="1"/>
          <p:nvPr>
            <p:ph type="title"/>
          </p:nvPr>
        </p:nvSpPr>
        <p:spPr>
          <a:xfrm>
            <a:off x="812800" y="1163290"/>
            <a:ext cx="10883392" cy="5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3600"/>
              <a:buFont typeface="Arial"/>
              <a:buNone/>
            </a:pPr>
            <a:r>
              <a:rPr b="1" i="0" lang="en-US" sz="3600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sz="3600"/>
          </a:p>
        </p:txBody>
      </p:sp>
      <p:sp>
        <p:nvSpPr>
          <p:cNvPr id="131" name="Google Shape;131;p7"/>
          <p:cNvSpPr/>
          <p:nvPr/>
        </p:nvSpPr>
        <p:spPr>
          <a:xfrm>
            <a:off x="812800" y="2021780"/>
            <a:ext cx="3386634" cy="2171700"/>
          </a:xfrm>
          <a:prstGeom prst="roundRect">
            <a:avLst>
              <a:gd fmla="val 7018" name="adj"/>
            </a:avLst>
          </a:prstGeom>
          <a:solidFill>
            <a:srgbClr val="F5EB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ome" id="132" name="Google Shape;1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227578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7"/>
          <p:cNvSpPr/>
          <p:nvPr/>
        </p:nvSpPr>
        <p:spPr>
          <a:xfrm>
            <a:off x="1066800" y="2732980"/>
            <a:ext cx="2964993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Todo en uno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066800" y="3139380"/>
            <a:ext cx="2964993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5A5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E5A50"/>
                </a:solidFill>
                <a:latin typeface="Arial"/>
                <a:ea typeface="Arial"/>
                <a:cs typeface="Arial"/>
                <a:sym typeface="Arial"/>
              </a:rPr>
              <a:t>Productos, diseño, pagos, pedidos y marketing en un solo panel.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402634" y="2021780"/>
            <a:ext cx="3386683" cy="2171700"/>
          </a:xfrm>
          <a:prstGeom prst="roundRect">
            <a:avLst>
              <a:gd fmla="val 7018" name="adj"/>
            </a:avLst>
          </a:prstGeom>
          <a:solidFill>
            <a:srgbClr val="F5EB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ightbulb" id="136" name="Google Shape;13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6634" y="227578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7"/>
          <p:cNvSpPr/>
          <p:nvPr/>
        </p:nvSpPr>
        <p:spPr>
          <a:xfrm>
            <a:off x="4656634" y="2732980"/>
            <a:ext cx="2965044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Fácil de aprender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656634" y="3139380"/>
            <a:ext cx="2965044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5A5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E5A50"/>
                </a:solidFill>
                <a:latin typeface="Arial"/>
                <a:ea typeface="Arial"/>
                <a:cs typeface="Arial"/>
                <a:sym typeface="Arial"/>
              </a:rPr>
              <a:t>Creamos JOJO SHOP sin saber programar.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7992517" y="2021780"/>
            <a:ext cx="3386634" cy="2171700"/>
          </a:xfrm>
          <a:prstGeom prst="roundRect">
            <a:avLst>
              <a:gd fmla="val 7018" name="adj"/>
            </a:avLst>
          </a:prstGeom>
          <a:solidFill>
            <a:srgbClr val="F5EB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humbsUp" id="140" name="Google Shape;14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46517" y="227578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/>
          <p:nvPr/>
        </p:nvSpPr>
        <p:spPr>
          <a:xfrm>
            <a:off x="8246517" y="2732980"/>
            <a:ext cx="2964993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423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5A4239"/>
                </a:solidFill>
                <a:latin typeface="Arial"/>
                <a:ea typeface="Arial"/>
                <a:cs typeface="Arial"/>
                <a:sym typeface="Arial"/>
              </a:rPr>
              <a:t>Buena opción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8246517" y="3139380"/>
            <a:ext cx="2964993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5A5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E5A50"/>
                </a:solidFill>
                <a:latin typeface="Arial"/>
                <a:ea typeface="Arial"/>
                <a:cs typeface="Arial"/>
                <a:sym typeface="Arial"/>
              </a:rPr>
              <a:t>Ideal para tiendas pequeñas, aunque tiene coste mensual.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66150" y="4383455"/>
            <a:ext cx="4794522" cy="2359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A4239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/>
          <p:nvPr>
            <p:ph type="title"/>
          </p:nvPr>
        </p:nvSpPr>
        <p:spPr>
          <a:xfrm>
            <a:off x="4113793" y="2307630"/>
            <a:ext cx="39645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F6E6"/>
              </a:buClr>
              <a:buSzPct val="100000"/>
              <a:buFont typeface="Arial"/>
              <a:buNone/>
            </a:pPr>
            <a:r>
              <a:rPr b="1" i="0" lang="en-US" sz="6000">
                <a:solidFill>
                  <a:srgbClr val="FBF6E6"/>
                </a:solidFill>
                <a:latin typeface="Arial"/>
                <a:ea typeface="Arial"/>
                <a:cs typeface="Arial"/>
                <a:sym typeface="Arial"/>
              </a:rPr>
              <a:t>¡Gracias!</a:t>
            </a:r>
            <a:endParaRPr sz="6000"/>
          </a:p>
        </p:txBody>
      </p:sp>
      <p:sp>
        <p:nvSpPr>
          <p:cNvPr id="150" name="Google Shape;150;p8"/>
          <p:cNvSpPr/>
          <p:nvPr/>
        </p:nvSpPr>
        <p:spPr>
          <a:xfrm>
            <a:off x="3048595" y="3171230"/>
            <a:ext cx="6094809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5EBC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4232700" y="3297950"/>
            <a:ext cx="3726600" cy="539400"/>
          </a:xfrm>
          <a:prstGeom prst="roundRect">
            <a:avLst>
              <a:gd fmla="val 50000" name="adj"/>
            </a:avLst>
          </a:prstGeom>
          <a:solidFill>
            <a:srgbClr val="F5EBC0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1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https://z4mp07zx9zev8yhl-96715211018.shopifypreview.com</a:t>
            </a: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opify – JOJO SHOP">
  <a:themeElements>
    <a:clrScheme name="Shopify – JOJO SHOP">
      <a:dk1>
        <a:srgbClr val="5A4239"/>
      </a:dk1>
      <a:lt1>
        <a:srgbClr val="FBF6E6"/>
      </a:lt1>
      <a:dk2>
        <a:srgbClr val="826F64"/>
      </a:dk2>
      <a:lt2>
        <a:srgbClr val="EBE4D5"/>
      </a:lt2>
      <a:accent1>
        <a:srgbClr val="F5EBC0"/>
      </a:accent1>
      <a:accent2>
        <a:srgbClr val="A0705E"/>
      </a:accent2>
      <a:accent3>
        <a:srgbClr val="EFE3A4"/>
      </a:accent3>
      <a:accent4>
        <a:srgbClr val="E9C6CF"/>
      </a:accent4>
      <a:accent5>
        <a:srgbClr val="9AA0A6"/>
      </a:accent5>
      <a:accent6>
        <a:srgbClr val="9A8A7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opify – JOJO SHOP">
  <a:themeElements>
    <a:clrScheme name="Shopify – JOJO SHOP">
      <a:dk1>
        <a:srgbClr val="5A4239"/>
      </a:dk1>
      <a:lt1>
        <a:srgbClr val="FBF6E6"/>
      </a:lt1>
      <a:dk2>
        <a:srgbClr val="826F64"/>
      </a:dk2>
      <a:lt2>
        <a:srgbClr val="EBE4D5"/>
      </a:lt2>
      <a:accent1>
        <a:srgbClr val="F5EBC0"/>
      </a:accent1>
      <a:accent2>
        <a:srgbClr val="A0705E"/>
      </a:accent2>
      <a:accent3>
        <a:srgbClr val="EFE3A4"/>
      </a:accent3>
      <a:accent4>
        <a:srgbClr val="E9C6CF"/>
      </a:accent4>
      <a:accent5>
        <a:srgbClr val="9AA0A6"/>
      </a:accent5>
      <a:accent6>
        <a:srgbClr val="9A8A7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2026-10-14T16:49:58Z</dcterms:created>
</cp:coreProperties>
</file>