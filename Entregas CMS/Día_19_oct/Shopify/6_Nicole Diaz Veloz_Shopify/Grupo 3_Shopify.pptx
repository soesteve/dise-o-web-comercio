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Poppins Bold" charset="1" panose="00000800000000000000"/>
      <p:regular r:id="rId21"/>
    </p:embeddedFont>
    <p:embeddedFont>
      <p:font typeface="Poppins Semi-Bold" charset="1" panose="00000700000000000000"/>
      <p:regular r:id="rId22"/>
    </p:embeddedFont>
    <p:embeddedFont>
      <p:font typeface="Inter Semi-Bold" charset="1" panose="02000503000000020004"/>
      <p:regular r:id="rId23"/>
    </p:embeddedFont>
    <p:embeddedFont>
      <p:font typeface="Inter Medium" charset="1" panose="02000503000000020004"/>
      <p:regular r:id="rId24"/>
    </p:embeddedFont>
    <p:embeddedFont>
      <p:font typeface="Aileron Ultra-Bold" charset="1" panose="00000A00000000000000"/>
      <p:regular r:id="rId25"/>
    </p:embeddedFont>
    <p:embeddedFont>
      <p:font typeface="Aileron Bold" charset="1" panose="00000800000000000000"/>
      <p:regular r:id="rId26"/>
    </p:embeddedFont>
    <p:embeddedFont>
      <p:font typeface="Roboto Bold" charset="1" panose="02000000000000000000"/>
      <p:regular r:id="rId27"/>
    </p:embeddedFont>
    <p:embeddedFont>
      <p:font typeface="Roboto" charset="1" panose="02000000000000000000"/>
      <p:regular r:id="rId28"/>
    </p:embeddedFont>
    <p:embeddedFont>
      <p:font typeface="Poppins Ultra-Bold" charset="1" panose="00000900000000000000"/>
      <p:regular r:id="rId29"/>
    </p:embeddedFont>
    <p:embeddedFont>
      <p:font typeface="Poppins Medium" charset="1" panose="00000600000000000000"/>
      <p:regular r:id="rId30"/>
    </p:embeddedFont>
    <p:embeddedFont>
      <p:font typeface="Poppins Light" charset="1" panose="00000400000000000000"/>
      <p:regular r:id="rId31"/>
    </p:embeddedFont>
    <p:embeddedFont>
      <p:font typeface="Adirek Sans Semi-Bold" charset="1" panose="00000000000000000000"/>
      <p:regular r:id="rId32"/>
    </p:embeddedFont>
    <p:embeddedFont>
      <p:font typeface="Poppins" charset="1" panose="00000500000000000000"/>
      <p:regular r:id="rId33"/>
    </p:embeddedFont>
    <p:embeddedFont>
      <p:font typeface="Open Sans Condensed Bold" charset="1" panose="00000000000000000000"/>
      <p:regular r:id="rId34"/>
    </p:embeddedFont>
    <p:embeddedFont>
      <p:font typeface="Inter" charset="1" panose="020B0502030000000004"/>
      <p:regular r:id="rId35"/>
    </p:embeddedFont>
    <p:embeddedFont>
      <p:font typeface="TT Commons Pro" charset="1" panose="020B0103030102020204"/>
      <p:regular r:id="rId36"/>
    </p:embeddedFont>
    <p:embeddedFont>
      <p:font typeface="TT Commons Pro Bold" charset="1" panose="020B0103030102020204"/>
      <p:regular r:id="rId37"/>
    </p:embeddedFont>
    <p:embeddedFont>
      <p:font typeface="Agrandir Tight Medium Italics" charset="1" panose="00000608000000000000"/>
      <p:regular r:id="rId38"/>
    </p:embeddedFont>
    <p:embeddedFont>
      <p:font typeface="Bebas Neue Bold" charset="1" panose="020B0606020202050201"/>
      <p:regular r:id="rId39"/>
    </p:embeddedFont>
    <p:embeddedFont>
      <p:font typeface="Agrandir Tight Italics" charset="1" panose="00000508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21.png" Type="http://schemas.openxmlformats.org/officeDocument/2006/relationships/image"/><Relationship Id="rId24" Target="../media/image45.png" Type="http://schemas.openxmlformats.org/officeDocument/2006/relationships/image"/><Relationship Id="rId25" Target="../media/image46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png" Type="http://schemas.openxmlformats.org/officeDocument/2006/relationships/image"/><Relationship Id="rId18" Target="../media/image63.png" Type="http://schemas.openxmlformats.org/officeDocument/2006/relationships/image"/><Relationship Id="rId19" Target="../media/image64.png" Type="http://schemas.openxmlformats.org/officeDocument/2006/relationships/image"/><Relationship Id="rId2" Target="../media/image47.png" Type="http://schemas.openxmlformats.org/officeDocument/2006/relationships/image"/><Relationship Id="rId20" Target="../media/image65.png" Type="http://schemas.openxmlformats.org/officeDocument/2006/relationships/image"/><Relationship Id="rId21" Target="../media/image66.png" Type="http://schemas.openxmlformats.org/officeDocument/2006/relationships/image"/><Relationship Id="rId22" Target="../media/image67.png" Type="http://schemas.openxmlformats.org/officeDocument/2006/relationships/image"/><Relationship Id="rId23" Target="../media/image68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82.png" Type="http://schemas.openxmlformats.org/officeDocument/2006/relationships/image"/><Relationship Id="rId16" Target="../media/image83.png" Type="http://schemas.openxmlformats.org/officeDocument/2006/relationships/image"/><Relationship Id="rId17" Target="../media/image84.png" Type="http://schemas.openxmlformats.org/officeDocument/2006/relationships/image"/><Relationship Id="rId18" Target="../media/image85.png" Type="http://schemas.openxmlformats.org/officeDocument/2006/relationships/image"/><Relationship Id="rId19" Target="../media/image86.png" Type="http://schemas.openxmlformats.org/officeDocument/2006/relationships/image"/><Relationship Id="rId2" Target="../media/image69.png" Type="http://schemas.openxmlformats.org/officeDocument/2006/relationships/image"/><Relationship Id="rId20" Target="../media/image87.png" Type="http://schemas.openxmlformats.org/officeDocument/2006/relationships/image"/><Relationship Id="rId21" Target="../media/image88.png" Type="http://schemas.openxmlformats.org/officeDocument/2006/relationships/image"/><Relationship Id="rId22" Target="../media/image89.png" Type="http://schemas.openxmlformats.org/officeDocument/2006/relationships/image"/><Relationship Id="rId23" Target="../media/image90.png" Type="http://schemas.openxmlformats.org/officeDocument/2006/relationships/image"/><Relationship Id="rId24" Target="../media/image91.png" Type="http://schemas.openxmlformats.org/officeDocument/2006/relationships/image"/><Relationship Id="rId25" Target="../media/image92.png" Type="http://schemas.openxmlformats.org/officeDocument/2006/relationships/image"/><Relationship Id="rId26" Target="../media/image93.png" Type="http://schemas.openxmlformats.org/officeDocument/2006/relationships/image"/><Relationship Id="rId27" Target="../media/image94.png" Type="http://schemas.openxmlformats.org/officeDocument/2006/relationships/image"/><Relationship Id="rId28" Target="../media/image95.png" Type="http://schemas.openxmlformats.org/officeDocument/2006/relationships/image"/><Relationship Id="rId29" Target="../media/image96.png" Type="http://schemas.openxmlformats.org/officeDocument/2006/relationships/image"/><Relationship Id="rId3" Target="../media/image70.png" Type="http://schemas.openxmlformats.org/officeDocument/2006/relationships/image"/><Relationship Id="rId30" Target="../media/image97.png" Type="http://schemas.openxmlformats.org/officeDocument/2006/relationships/image"/><Relationship Id="rId31" Target="../media/image98.png" Type="http://schemas.openxmlformats.org/officeDocument/2006/relationships/image"/><Relationship Id="rId32" Target="../media/image99.png" Type="http://schemas.openxmlformats.org/officeDocument/2006/relationships/image"/><Relationship Id="rId33" Target="../media/image10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png" Type="http://schemas.openxmlformats.org/officeDocument/2006/relationships/image"/><Relationship Id="rId12" Target="../media/image111.png" Type="http://schemas.openxmlformats.org/officeDocument/2006/relationships/image"/><Relationship Id="rId13" Target="../media/image112.png" Type="http://schemas.openxmlformats.org/officeDocument/2006/relationships/image"/><Relationship Id="rId14" Target="../media/image113.png" Type="http://schemas.openxmlformats.org/officeDocument/2006/relationships/image"/><Relationship Id="rId15" Target="../media/image114.png" Type="http://schemas.openxmlformats.org/officeDocument/2006/relationships/image"/><Relationship Id="rId16" Target="../media/image115.png" Type="http://schemas.openxmlformats.org/officeDocument/2006/relationships/image"/><Relationship Id="rId17" Target="../media/image116.png" Type="http://schemas.openxmlformats.org/officeDocument/2006/relationships/image"/><Relationship Id="rId18" Target="../media/image117.png" Type="http://schemas.openxmlformats.org/officeDocument/2006/relationships/image"/><Relationship Id="rId19" Target="../media/image118.png" Type="http://schemas.openxmlformats.org/officeDocument/2006/relationships/image"/><Relationship Id="rId2" Target="../media/image101.png" Type="http://schemas.openxmlformats.org/officeDocument/2006/relationships/image"/><Relationship Id="rId20" Target="../media/image119.png" Type="http://schemas.openxmlformats.org/officeDocument/2006/relationships/image"/><Relationship Id="rId21" Target="../media/image120.png" Type="http://schemas.openxmlformats.org/officeDocument/2006/relationships/image"/><Relationship Id="rId22" Target="../media/image121.png" Type="http://schemas.openxmlformats.org/officeDocument/2006/relationships/image"/><Relationship Id="rId23" Target="../media/image122.png" Type="http://schemas.openxmlformats.org/officeDocument/2006/relationships/image"/><Relationship Id="rId24" Target="../media/image123.png" Type="http://schemas.openxmlformats.org/officeDocument/2006/relationships/image"/><Relationship Id="rId25" Target="../media/image124.png" Type="http://schemas.openxmlformats.org/officeDocument/2006/relationships/image"/><Relationship Id="rId26" Target="../media/image125.png" Type="http://schemas.openxmlformats.org/officeDocument/2006/relationships/image"/><Relationship Id="rId27" Target="../media/image126.png" Type="http://schemas.openxmlformats.org/officeDocument/2006/relationships/image"/><Relationship Id="rId28" Target="../media/image127.png" Type="http://schemas.openxmlformats.org/officeDocument/2006/relationships/image"/><Relationship Id="rId29" Target="../media/image128.png" Type="http://schemas.openxmlformats.org/officeDocument/2006/relationships/image"/><Relationship Id="rId3" Target="../media/image102.png" Type="http://schemas.openxmlformats.org/officeDocument/2006/relationships/image"/><Relationship Id="rId30" Target="../media/image129.png" Type="http://schemas.openxmlformats.org/officeDocument/2006/relationships/image"/><Relationship Id="rId31" Target="../media/image130.png" Type="http://schemas.openxmlformats.org/officeDocument/2006/relationships/image"/><Relationship Id="rId32" Target="../media/image131.png" Type="http://schemas.openxmlformats.org/officeDocument/2006/relationships/image"/><Relationship Id="rId33" Target="../media/image132.png" Type="http://schemas.openxmlformats.org/officeDocument/2006/relationships/image"/><Relationship Id="rId34" Target="../media/image133.png" Type="http://schemas.openxmlformats.org/officeDocument/2006/relationships/image"/><Relationship Id="rId35" Target="../media/image134.png" Type="http://schemas.openxmlformats.org/officeDocument/2006/relationships/image"/><Relationship Id="rId36" Target="../media/image135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png" Type="http://schemas.openxmlformats.org/officeDocument/2006/relationships/image"/><Relationship Id="rId12" Target="../media/image146.png" Type="http://schemas.openxmlformats.org/officeDocument/2006/relationships/image"/><Relationship Id="rId13" Target="../media/image147.png" Type="http://schemas.openxmlformats.org/officeDocument/2006/relationships/image"/><Relationship Id="rId14" Target="../media/image148.png" Type="http://schemas.openxmlformats.org/officeDocument/2006/relationships/image"/><Relationship Id="rId15" Target="../media/image149.png" Type="http://schemas.openxmlformats.org/officeDocument/2006/relationships/image"/><Relationship Id="rId16" Target="../media/image150.png" Type="http://schemas.openxmlformats.org/officeDocument/2006/relationships/image"/><Relationship Id="rId17" Target="../media/image151.png" Type="http://schemas.openxmlformats.org/officeDocument/2006/relationships/image"/><Relationship Id="rId18" Target="../media/image152.png" Type="http://schemas.openxmlformats.org/officeDocument/2006/relationships/image"/><Relationship Id="rId19" Target="../media/image153.png" Type="http://schemas.openxmlformats.org/officeDocument/2006/relationships/image"/><Relationship Id="rId2" Target="../media/image136.png" Type="http://schemas.openxmlformats.org/officeDocument/2006/relationships/image"/><Relationship Id="rId20" Target="../media/image154.png" Type="http://schemas.openxmlformats.org/officeDocument/2006/relationships/image"/><Relationship Id="rId21" Target="../media/image155.png" Type="http://schemas.openxmlformats.org/officeDocument/2006/relationships/image"/><Relationship Id="rId22" Target="../media/image156.png" Type="http://schemas.openxmlformats.org/officeDocument/2006/relationships/image"/><Relationship Id="rId3" Target="../media/image137.png" Type="http://schemas.openxmlformats.org/officeDocument/2006/relationships/image"/><Relationship Id="rId4" Target="../media/image138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141.png" Type="http://schemas.openxmlformats.org/officeDocument/2006/relationships/image"/><Relationship Id="rId8" Target="../media/image142.png" Type="http://schemas.openxmlformats.org/officeDocument/2006/relationships/image"/><Relationship Id="rId9" Target="../media/image1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66.png" Type="http://schemas.openxmlformats.org/officeDocument/2006/relationships/image"/><Relationship Id="rId12" Target="../media/image167.png" Type="http://schemas.openxmlformats.org/officeDocument/2006/relationships/image"/><Relationship Id="rId13" Target="../media/image168.png" Type="http://schemas.openxmlformats.org/officeDocument/2006/relationships/image"/><Relationship Id="rId14" Target="../media/image169.png" Type="http://schemas.openxmlformats.org/officeDocument/2006/relationships/image"/><Relationship Id="rId15" Target="../media/image170.png" Type="http://schemas.openxmlformats.org/officeDocument/2006/relationships/image"/><Relationship Id="rId16" Target="../media/image171.png" Type="http://schemas.openxmlformats.org/officeDocument/2006/relationships/image"/><Relationship Id="rId17" Target="../media/image172.png" Type="http://schemas.openxmlformats.org/officeDocument/2006/relationships/image"/><Relationship Id="rId18" Target="../media/image173.png" Type="http://schemas.openxmlformats.org/officeDocument/2006/relationships/image"/><Relationship Id="rId19" Target="../media/image174.png" Type="http://schemas.openxmlformats.org/officeDocument/2006/relationships/image"/><Relationship Id="rId2" Target="../media/image157.png" Type="http://schemas.openxmlformats.org/officeDocument/2006/relationships/image"/><Relationship Id="rId20" Target="../media/image175.png" Type="http://schemas.openxmlformats.org/officeDocument/2006/relationships/image"/><Relationship Id="rId21" Target="../media/image176.png" Type="http://schemas.openxmlformats.org/officeDocument/2006/relationships/image"/><Relationship Id="rId22" Target="../media/image177.png" Type="http://schemas.openxmlformats.org/officeDocument/2006/relationships/image"/><Relationship Id="rId23" Target="../media/image178.png" Type="http://schemas.openxmlformats.org/officeDocument/2006/relationships/image"/><Relationship Id="rId24" Target="../media/image179.png" Type="http://schemas.openxmlformats.org/officeDocument/2006/relationships/image"/><Relationship Id="rId25" Target="../media/image180.png" Type="http://schemas.openxmlformats.org/officeDocument/2006/relationships/image"/><Relationship Id="rId26" Target="../media/image181.png" Type="http://schemas.openxmlformats.org/officeDocument/2006/relationships/image"/><Relationship Id="rId27" Target="../media/image182.png" Type="http://schemas.openxmlformats.org/officeDocument/2006/relationships/image"/><Relationship Id="rId28" Target="../media/image183.png" Type="http://schemas.openxmlformats.org/officeDocument/2006/relationships/image"/><Relationship Id="rId29" Target="../media/image184.png" Type="http://schemas.openxmlformats.org/officeDocument/2006/relationships/image"/><Relationship Id="rId3" Target="../media/image158.png" Type="http://schemas.openxmlformats.org/officeDocument/2006/relationships/image"/><Relationship Id="rId30" Target="../media/image185.png" Type="http://schemas.openxmlformats.org/officeDocument/2006/relationships/image"/><Relationship Id="rId31" Target="../media/image186.png" Type="http://schemas.openxmlformats.org/officeDocument/2006/relationships/image"/><Relationship Id="rId32" Target="../media/image187.png" Type="http://schemas.openxmlformats.org/officeDocument/2006/relationships/image"/><Relationship Id="rId33" Target="../media/image188.png" Type="http://schemas.openxmlformats.org/officeDocument/2006/relationships/image"/><Relationship Id="rId34" Target="../media/image189.png" Type="http://schemas.openxmlformats.org/officeDocument/2006/relationships/image"/><Relationship Id="rId35" Target="../media/image190.png" Type="http://schemas.openxmlformats.org/officeDocument/2006/relationships/image"/><Relationship Id="rId36" Target="../media/image191.png" Type="http://schemas.openxmlformats.org/officeDocument/2006/relationships/image"/><Relationship Id="rId37" Target="../media/image192.png" Type="http://schemas.openxmlformats.org/officeDocument/2006/relationships/image"/><Relationship Id="rId38" Target="../media/image193.png" Type="http://schemas.openxmlformats.org/officeDocument/2006/relationships/image"/><Relationship Id="rId39" Target="../media/image194.png" Type="http://schemas.openxmlformats.org/officeDocument/2006/relationships/image"/><Relationship Id="rId4" Target="../media/image159.png" Type="http://schemas.openxmlformats.org/officeDocument/2006/relationships/image"/><Relationship Id="rId40" Target="../media/image195.png" Type="http://schemas.openxmlformats.org/officeDocument/2006/relationships/image"/><Relationship Id="rId41" Target="../media/image196.png" Type="http://schemas.openxmlformats.org/officeDocument/2006/relationships/image"/><Relationship Id="rId42" Target="../media/image197.png" Type="http://schemas.openxmlformats.org/officeDocument/2006/relationships/image"/><Relationship Id="rId43" Target="../media/image198.png" Type="http://schemas.openxmlformats.org/officeDocument/2006/relationships/image"/><Relationship Id="rId44" Target="../media/image199.png" Type="http://schemas.openxmlformats.org/officeDocument/2006/relationships/image"/><Relationship Id="rId5" Target="../media/image160.png" Type="http://schemas.openxmlformats.org/officeDocument/2006/relationships/image"/><Relationship Id="rId6" Target="../media/image161.png" Type="http://schemas.openxmlformats.org/officeDocument/2006/relationships/image"/><Relationship Id="rId7" Target="../media/image162.png" Type="http://schemas.openxmlformats.org/officeDocument/2006/relationships/image"/><Relationship Id="rId8" Target="../media/image163.png" Type="http://schemas.openxmlformats.org/officeDocument/2006/relationships/image"/><Relationship Id="rId9" Target="../media/image1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8.png" Type="http://schemas.openxmlformats.org/officeDocument/2006/relationships/image"/><Relationship Id="rId11" Target="../media/image209.png" Type="http://schemas.openxmlformats.org/officeDocument/2006/relationships/image"/><Relationship Id="rId12" Target="../media/image210.png" Type="http://schemas.openxmlformats.org/officeDocument/2006/relationships/image"/><Relationship Id="rId13" Target="../media/image211.png" Type="http://schemas.openxmlformats.org/officeDocument/2006/relationships/image"/><Relationship Id="rId14" Target="../media/image212.png" Type="http://schemas.openxmlformats.org/officeDocument/2006/relationships/image"/><Relationship Id="rId15" Target="../media/image213.png" Type="http://schemas.openxmlformats.org/officeDocument/2006/relationships/image"/><Relationship Id="rId16" Target="../media/image214.png" Type="http://schemas.openxmlformats.org/officeDocument/2006/relationships/image"/><Relationship Id="rId17" Target="../media/image215.png" Type="http://schemas.openxmlformats.org/officeDocument/2006/relationships/image"/><Relationship Id="rId18" Target="../media/image216.png" Type="http://schemas.openxmlformats.org/officeDocument/2006/relationships/image"/><Relationship Id="rId19" Target="../media/image217.png" Type="http://schemas.openxmlformats.org/officeDocument/2006/relationships/image"/><Relationship Id="rId2" Target="../media/image200.png" Type="http://schemas.openxmlformats.org/officeDocument/2006/relationships/image"/><Relationship Id="rId20" Target="../media/image218.png" Type="http://schemas.openxmlformats.org/officeDocument/2006/relationships/image"/><Relationship Id="rId21" Target="../media/image219.png" Type="http://schemas.openxmlformats.org/officeDocument/2006/relationships/image"/><Relationship Id="rId22" Target="../media/image220.png" Type="http://schemas.openxmlformats.org/officeDocument/2006/relationships/image"/><Relationship Id="rId23" Target="../media/image221.png" Type="http://schemas.openxmlformats.org/officeDocument/2006/relationships/image"/><Relationship Id="rId24" Target="../media/image222.png" Type="http://schemas.openxmlformats.org/officeDocument/2006/relationships/image"/><Relationship Id="rId25" Target="../media/image223.png" Type="http://schemas.openxmlformats.org/officeDocument/2006/relationships/image"/><Relationship Id="rId26" Target="../media/image224.png" Type="http://schemas.openxmlformats.org/officeDocument/2006/relationships/image"/><Relationship Id="rId27" Target="../media/image225.png" Type="http://schemas.openxmlformats.org/officeDocument/2006/relationships/image"/><Relationship Id="rId28" Target="../media/image226.png" Type="http://schemas.openxmlformats.org/officeDocument/2006/relationships/image"/><Relationship Id="rId29" Target="../media/image227.png" Type="http://schemas.openxmlformats.org/officeDocument/2006/relationships/image"/><Relationship Id="rId3" Target="../media/image201.png" Type="http://schemas.openxmlformats.org/officeDocument/2006/relationships/image"/><Relationship Id="rId30" Target="../media/image228.png" Type="http://schemas.openxmlformats.org/officeDocument/2006/relationships/image"/><Relationship Id="rId31" Target="../media/image229.png" Type="http://schemas.openxmlformats.org/officeDocument/2006/relationships/image"/><Relationship Id="rId32" Target="../media/image230.png" Type="http://schemas.openxmlformats.org/officeDocument/2006/relationships/image"/><Relationship Id="rId33" Target="../media/image231.png" Type="http://schemas.openxmlformats.org/officeDocument/2006/relationships/image"/><Relationship Id="rId34" Target="../media/image232.png" Type="http://schemas.openxmlformats.org/officeDocument/2006/relationships/image"/><Relationship Id="rId35" Target="../media/image233.png" Type="http://schemas.openxmlformats.org/officeDocument/2006/relationships/image"/><Relationship Id="rId36" Target="../media/image234.png" Type="http://schemas.openxmlformats.org/officeDocument/2006/relationships/image"/><Relationship Id="rId4" Target="../media/image202.png" Type="http://schemas.openxmlformats.org/officeDocument/2006/relationships/image"/><Relationship Id="rId5" Target="../media/image203.png" Type="http://schemas.openxmlformats.org/officeDocument/2006/relationships/image"/><Relationship Id="rId6" Target="../media/image204.png" Type="http://schemas.openxmlformats.org/officeDocument/2006/relationships/image"/><Relationship Id="rId7" Target="../media/image205.png" Type="http://schemas.openxmlformats.org/officeDocument/2006/relationships/image"/><Relationship Id="rId8" Target="../media/image206.png" Type="http://schemas.openxmlformats.org/officeDocument/2006/relationships/image"/><Relationship Id="rId9" Target="../media/image20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3.png" Type="http://schemas.openxmlformats.org/officeDocument/2006/relationships/image"/><Relationship Id="rId11" Target="../media/image244.png" Type="http://schemas.openxmlformats.org/officeDocument/2006/relationships/image"/><Relationship Id="rId12" Target="../media/image245.png" Type="http://schemas.openxmlformats.org/officeDocument/2006/relationships/image"/><Relationship Id="rId13" Target="../media/image246.png" Type="http://schemas.openxmlformats.org/officeDocument/2006/relationships/image"/><Relationship Id="rId14" Target="../media/image247.png" Type="http://schemas.openxmlformats.org/officeDocument/2006/relationships/image"/><Relationship Id="rId15" Target="../media/image248.png" Type="http://schemas.openxmlformats.org/officeDocument/2006/relationships/image"/><Relationship Id="rId16" Target="../media/image249.png" Type="http://schemas.openxmlformats.org/officeDocument/2006/relationships/image"/><Relationship Id="rId17" Target="../media/image250.png" Type="http://schemas.openxmlformats.org/officeDocument/2006/relationships/image"/><Relationship Id="rId18" Target="../media/image251.png" Type="http://schemas.openxmlformats.org/officeDocument/2006/relationships/image"/><Relationship Id="rId2" Target="../media/image235.png" Type="http://schemas.openxmlformats.org/officeDocument/2006/relationships/image"/><Relationship Id="rId3" Target="../media/image236.png" Type="http://schemas.openxmlformats.org/officeDocument/2006/relationships/image"/><Relationship Id="rId4" Target="../media/image237.png" Type="http://schemas.openxmlformats.org/officeDocument/2006/relationships/image"/><Relationship Id="rId5" Target="../media/image238.png" Type="http://schemas.openxmlformats.org/officeDocument/2006/relationships/image"/><Relationship Id="rId6" Target="../media/image239.png" Type="http://schemas.openxmlformats.org/officeDocument/2006/relationships/image"/><Relationship Id="rId7" Target="../media/image240.png" Type="http://schemas.openxmlformats.org/officeDocument/2006/relationships/image"/><Relationship Id="rId8" Target="../media/image241.png" Type="http://schemas.openxmlformats.org/officeDocument/2006/relationships/image"/><Relationship Id="rId9" Target="../media/image2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0.png" Type="http://schemas.openxmlformats.org/officeDocument/2006/relationships/image"/><Relationship Id="rId11" Target="../media/image261.png" Type="http://schemas.openxmlformats.org/officeDocument/2006/relationships/image"/><Relationship Id="rId12" Target="../media/image262.png" Type="http://schemas.openxmlformats.org/officeDocument/2006/relationships/image"/><Relationship Id="rId13" Target="../media/image263.png" Type="http://schemas.openxmlformats.org/officeDocument/2006/relationships/image"/><Relationship Id="rId14" Target="../media/image264.png" Type="http://schemas.openxmlformats.org/officeDocument/2006/relationships/image"/><Relationship Id="rId15" Target="../media/image265.png" Type="http://schemas.openxmlformats.org/officeDocument/2006/relationships/image"/><Relationship Id="rId16" Target="../media/image266.png" Type="http://schemas.openxmlformats.org/officeDocument/2006/relationships/image"/><Relationship Id="rId17" Target="../media/image267.png" Type="http://schemas.openxmlformats.org/officeDocument/2006/relationships/image"/><Relationship Id="rId18" Target="../media/image268.png" Type="http://schemas.openxmlformats.org/officeDocument/2006/relationships/image"/><Relationship Id="rId19" Target="../media/image269.png" Type="http://schemas.openxmlformats.org/officeDocument/2006/relationships/image"/><Relationship Id="rId2" Target="../media/image252.png" Type="http://schemas.openxmlformats.org/officeDocument/2006/relationships/image"/><Relationship Id="rId20" Target="../media/image270.png" Type="http://schemas.openxmlformats.org/officeDocument/2006/relationships/image"/><Relationship Id="rId21" Target="../media/image271.png" Type="http://schemas.openxmlformats.org/officeDocument/2006/relationships/image"/><Relationship Id="rId22" Target="../media/image272.png" Type="http://schemas.openxmlformats.org/officeDocument/2006/relationships/image"/><Relationship Id="rId23" Target="../media/image273.png" Type="http://schemas.openxmlformats.org/officeDocument/2006/relationships/image"/><Relationship Id="rId24" Target="../media/image274.png" Type="http://schemas.openxmlformats.org/officeDocument/2006/relationships/image"/><Relationship Id="rId3" Target="../media/image253.png" Type="http://schemas.openxmlformats.org/officeDocument/2006/relationships/image"/><Relationship Id="rId4" Target="../media/image254.png" Type="http://schemas.openxmlformats.org/officeDocument/2006/relationships/image"/><Relationship Id="rId5" Target="../media/image255.png" Type="http://schemas.openxmlformats.org/officeDocument/2006/relationships/image"/><Relationship Id="rId6" Target="../media/image256.png" Type="http://schemas.openxmlformats.org/officeDocument/2006/relationships/image"/><Relationship Id="rId7" Target="../media/image257.png" Type="http://schemas.openxmlformats.org/officeDocument/2006/relationships/image"/><Relationship Id="rId8" Target="../media/image258.png" Type="http://schemas.openxmlformats.org/officeDocument/2006/relationships/image"/><Relationship Id="rId9" Target="../media/image25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6.png" Type="http://schemas.openxmlformats.org/officeDocument/2006/relationships/image"/><Relationship Id="rId3" Target="../media/image27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4.png" Type="http://schemas.openxmlformats.org/officeDocument/2006/relationships/image"/><Relationship Id="rId11" Target="../media/image285.png" Type="http://schemas.openxmlformats.org/officeDocument/2006/relationships/image"/><Relationship Id="rId12" Target="../media/image286.png" Type="http://schemas.openxmlformats.org/officeDocument/2006/relationships/image"/><Relationship Id="rId13" Target="../media/image287.png" Type="http://schemas.openxmlformats.org/officeDocument/2006/relationships/image"/><Relationship Id="rId14" Target="../media/image288.png" Type="http://schemas.openxmlformats.org/officeDocument/2006/relationships/image"/><Relationship Id="rId15" Target="../media/image289.png" Type="http://schemas.openxmlformats.org/officeDocument/2006/relationships/image"/><Relationship Id="rId16" Target="../media/image290.png" Type="http://schemas.openxmlformats.org/officeDocument/2006/relationships/image"/><Relationship Id="rId17" Target="../media/image291.png" Type="http://schemas.openxmlformats.org/officeDocument/2006/relationships/image"/><Relationship Id="rId18" Target="../media/image292.png" Type="http://schemas.openxmlformats.org/officeDocument/2006/relationships/image"/><Relationship Id="rId19" Target="../media/image293.png" Type="http://schemas.openxmlformats.org/officeDocument/2006/relationships/image"/><Relationship Id="rId2" Target="../media/image276.png" Type="http://schemas.openxmlformats.org/officeDocument/2006/relationships/image"/><Relationship Id="rId20" Target="../media/image294.png" Type="http://schemas.openxmlformats.org/officeDocument/2006/relationships/image"/><Relationship Id="rId21" Target="../media/image295.png" Type="http://schemas.openxmlformats.org/officeDocument/2006/relationships/image"/><Relationship Id="rId22" Target="../media/image296.png" Type="http://schemas.openxmlformats.org/officeDocument/2006/relationships/image"/><Relationship Id="rId23" Target="../media/image297.png" Type="http://schemas.openxmlformats.org/officeDocument/2006/relationships/image"/><Relationship Id="rId3" Target="../media/image277.png" Type="http://schemas.openxmlformats.org/officeDocument/2006/relationships/image"/><Relationship Id="rId4" Target="../media/image278.png" Type="http://schemas.openxmlformats.org/officeDocument/2006/relationships/image"/><Relationship Id="rId5" Target="../media/image279.png" Type="http://schemas.openxmlformats.org/officeDocument/2006/relationships/image"/><Relationship Id="rId6" Target="../media/image280.png" Type="http://schemas.openxmlformats.org/officeDocument/2006/relationships/image"/><Relationship Id="rId7" Target="../media/image281.png" Type="http://schemas.openxmlformats.org/officeDocument/2006/relationships/image"/><Relationship Id="rId8" Target="../media/image282.png" Type="http://schemas.openxmlformats.org/officeDocument/2006/relationships/image"/><Relationship Id="rId9" Target="../media/image28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6.png" Type="http://schemas.openxmlformats.org/officeDocument/2006/relationships/image"/><Relationship Id="rId2" Target="../media/image298.png" Type="http://schemas.openxmlformats.org/officeDocument/2006/relationships/image"/><Relationship Id="rId3" Target="../media/image299.png" Type="http://schemas.openxmlformats.org/officeDocument/2006/relationships/image"/><Relationship Id="rId4" Target="../media/image300.png" Type="http://schemas.openxmlformats.org/officeDocument/2006/relationships/image"/><Relationship Id="rId5" Target="../media/image301.png" Type="http://schemas.openxmlformats.org/officeDocument/2006/relationships/image"/><Relationship Id="rId6" Target="../media/image302.png" Type="http://schemas.openxmlformats.org/officeDocument/2006/relationships/image"/><Relationship Id="rId7" Target="../media/image303.png" Type="http://schemas.openxmlformats.org/officeDocument/2006/relationships/image"/><Relationship Id="rId8" Target="../media/image304.png" Type="http://schemas.openxmlformats.org/officeDocument/2006/relationships/image"/><Relationship Id="rId9" Target="../media/image3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4880" y="742950"/>
            <a:ext cx="1709315" cy="2047875"/>
          </a:xfrm>
          <a:custGeom>
            <a:avLst/>
            <a:gdLst/>
            <a:ahLst/>
            <a:cxnLst/>
            <a:rect r="r" b="b" t="t" l="l"/>
            <a:pathLst>
              <a:path h="2047875" w="1709315">
                <a:moveTo>
                  <a:pt x="0" y="0"/>
                </a:moveTo>
                <a:lnTo>
                  <a:pt x="1709315" y="0"/>
                </a:lnTo>
                <a:lnTo>
                  <a:pt x="1709315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6775" y="2845508"/>
            <a:ext cx="6892469" cy="208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6"/>
              </a:lnSpc>
            </a:pPr>
            <a:r>
              <a:rPr lang="en-US" sz="15596" spc="-776" b="true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Shopify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6775" y="4714875"/>
            <a:ext cx="6105525" cy="428625"/>
          </a:xfrm>
          <a:custGeom>
            <a:avLst/>
            <a:gdLst/>
            <a:ahLst/>
            <a:cxnLst/>
            <a:rect r="r" b="b" t="t" l="l"/>
            <a:pathLst>
              <a:path h="428625" w="6105525">
                <a:moveTo>
                  <a:pt x="0" y="0"/>
                </a:moveTo>
                <a:lnTo>
                  <a:pt x="6105525" y="0"/>
                </a:lnTo>
                <a:lnTo>
                  <a:pt x="6105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4531" y="5266133"/>
            <a:ext cx="7778571" cy="110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499" spc="-140" b="true">
                <a:solidFill>
                  <a:srgbClr val="8CB540"/>
                </a:solidFill>
                <a:latin typeface="Poppins Bold"/>
                <a:ea typeface="Poppins Bold"/>
                <a:cs typeface="Poppins Bold"/>
                <a:sym typeface="Poppins Bold"/>
              </a:rPr>
              <a:t>Diseño web</a:t>
            </a:r>
            <a:r>
              <a:rPr lang="en-US" sz="3499" spc="-140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 y </a:t>
            </a:r>
            <a:r>
              <a:rPr lang="en-US" sz="3499" spc="-140" b="true">
                <a:solidFill>
                  <a:srgbClr val="8CB54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experiencia de usuario</a:t>
            </a:r>
            <a:r>
              <a:rPr lang="en-US" sz="3499" spc="-140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 en el proceso de compra.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6775" y="7067550"/>
            <a:ext cx="5448300" cy="1933575"/>
          </a:xfrm>
          <a:custGeom>
            <a:avLst/>
            <a:gdLst/>
            <a:ahLst/>
            <a:cxnLst/>
            <a:rect r="r" b="b" t="t" l="l"/>
            <a:pathLst>
              <a:path h="1933575" w="5448300">
                <a:moveTo>
                  <a:pt x="0" y="0"/>
                </a:moveTo>
                <a:lnTo>
                  <a:pt x="5448300" y="0"/>
                </a:lnTo>
                <a:lnTo>
                  <a:pt x="5448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7286625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5165" y="7411270"/>
            <a:ext cx="3520183" cy="116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94" b="true">
                <a:solidFill>
                  <a:srgbClr val="FAFAF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Estudiantes:</a:t>
            </a:r>
          </a:p>
          <a:p>
            <a:pPr algn="l" marL="507366" indent="-253683" lvl="1">
              <a:lnSpc>
                <a:spcPts val="3055"/>
              </a:lnSpc>
              <a:buFont typeface="Arial"/>
              <a:buChar char="•"/>
            </a:pPr>
            <a:r>
              <a:rPr lang="en-US" b="true" sz="2351" spc="-94">
                <a:solidFill>
                  <a:srgbClr val="FAFAF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Nicole Diaz Veloz</a:t>
            </a:r>
          </a:p>
          <a:p>
            <a:pPr algn="l" marL="507366" indent="-253683" lvl="1">
              <a:lnSpc>
                <a:spcPts val="3055"/>
              </a:lnSpc>
              <a:buFont typeface="Arial"/>
              <a:buChar char="•"/>
            </a:pPr>
            <a:r>
              <a:rPr lang="en-US" b="true" sz="2351" spc="-94">
                <a:solidFill>
                  <a:srgbClr val="FAFAF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Juan Esteban Castro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62775" y="1924050"/>
            <a:ext cx="10020300" cy="7505700"/>
          </a:xfrm>
          <a:custGeom>
            <a:avLst/>
            <a:gdLst/>
            <a:ahLst/>
            <a:cxnLst/>
            <a:rect r="r" b="b" t="t" l="l"/>
            <a:pathLst>
              <a:path h="7505700" w="10020300">
                <a:moveTo>
                  <a:pt x="0" y="0"/>
                </a:moveTo>
                <a:lnTo>
                  <a:pt x="10020300" y="0"/>
                </a:lnTo>
                <a:lnTo>
                  <a:pt x="100203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87700" y="4495800"/>
            <a:ext cx="2190750" cy="2152650"/>
          </a:xfrm>
          <a:custGeom>
            <a:avLst/>
            <a:gdLst/>
            <a:ahLst/>
            <a:cxnLst/>
            <a:rect r="r" b="b" t="t" l="l"/>
            <a:pathLst>
              <a:path h="2152650" w="2190750">
                <a:moveTo>
                  <a:pt x="0" y="0"/>
                </a:moveTo>
                <a:lnTo>
                  <a:pt x="2190750" y="0"/>
                </a:lnTo>
                <a:lnTo>
                  <a:pt x="2190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8775" y="0"/>
            <a:ext cx="5229225" cy="5791200"/>
          </a:xfrm>
          <a:custGeom>
            <a:avLst/>
            <a:gdLst/>
            <a:ahLst/>
            <a:cxnLst/>
            <a:rect r="r" b="b" t="t" l="l"/>
            <a:pathLst>
              <a:path h="5791200" w="5229225">
                <a:moveTo>
                  <a:pt x="0" y="0"/>
                </a:moveTo>
                <a:lnTo>
                  <a:pt x="5229225" y="0"/>
                </a:lnTo>
                <a:lnTo>
                  <a:pt x="52292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06775" y="428625"/>
            <a:ext cx="1533525" cy="857250"/>
          </a:xfrm>
          <a:custGeom>
            <a:avLst/>
            <a:gdLst/>
            <a:ahLst/>
            <a:cxnLst/>
            <a:rect r="r" b="b" t="t" l="l"/>
            <a:pathLst>
              <a:path h="857250" w="1533525">
                <a:moveTo>
                  <a:pt x="0" y="0"/>
                </a:moveTo>
                <a:lnTo>
                  <a:pt x="1533525" y="0"/>
                </a:lnTo>
                <a:lnTo>
                  <a:pt x="1533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55286"/>
            <a:ext cx="8634854" cy="95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4"/>
              </a:lnSpc>
            </a:pPr>
            <a:r>
              <a:rPr lang="en-US" sz="6774" b="true">
                <a:solidFill>
                  <a:srgbClr val="1F3F25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</a:t>
            </a:r>
            <a:r>
              <a:rPr lang="en-US" sz="6774" b="true">
                <a:solidFill>
                  <a:srgbClr val="69A83B"/>
                </a:solidFill>
                <a:latin typeface="Poppins Bold"/>
                <a:ea typeface="Poppins Bold"/>
                <a:cs typeface="Poppins Bold"/>
                <a:sym typeface="Poppins Bold"/>
              </a:rPr>
              <a:t>SHOPIFY?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1431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257175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9850" y="2571750"/>
            <a:ext cx="438150" cy="1285875"/>
          </a:xfrm>
          <a:custGeom>
            <a:avLst/>
            <a:gdLst/>
            <a:ahLst/>
            <a:cxnLst/>
            <a:rect r="r" b="b" t="t" l="l"/>
            <a:pathLst>
              <a:path h="1285875" w="438150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68387" y="2552178"/>
            <a:ext cx="3914466" cy="42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110" b="true">
                <a:solidFill>
                  <a:srgbClr val="1F3F2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Plataforma e-commerce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0887" y="3086121"/>
            <a:ext cx="3664394" cy="6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74" b="true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Permite crear y gestionar tiendas online sin programación avanzada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28625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5850" y="449580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9850" y="4495800"/>
            <a:ext cx="438150" cy="1295400"/>
          </a:xfrm>
          <a:custGeom>
            <a:avLst/>
            <a:gdLst/>
            <a:ahLst/>
            <a:cxnLst/>
            <a:rect r="r" b="b" t="t" l="l"/>
            <a:pathLst>
              <a:path h="1295400" w="43815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69006" y="4752230"/>
            <a:ext cx="3852559" cy="42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110" b="true">
                <a:solidFill>
                  <a:srgbClr val="1F3F2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Todo en un mismo lugar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68746" y="5295985"/>
            <a:ext cx="3878505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spc="-79" b="true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Catálogo, diseño, pedidos y pagos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7700" y="642937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5850" y="663892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09850" y="6429375"/>
            <a:ext cx="438150" cy="1714500"/>
          </a:xfrm>
          <a:custGeom>
            <a:avLst/>
            <a:gdLst/>
            <a:ahLst/>
            <a:cxnLst/>
            <a:rect r="r" b="b" t="t" l="l"/>
            <a:pathLst>
              <a:path h="1714500" w="438150">
                <a:moveTo>
                  <a:pt x="0" y="0"/>
                </a:moveTo>
                <a:lnTo>
                  <a:pt x="438150" y="0"/>
                </a:lnTo>
                <a:lnTo>
                  <a:pt x="438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070308" y="6560492"/>
            <a:ext cx="3722347" cy="42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110" b="true">
                <a:solidFill>
                  <a:srgbClr val="1F3F2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Para distintos negocios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69017" y="7079366"/>
            <a:ext cx="3851437" cy="96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74" b="true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Desde pequeños comercios hasta empresas que amplían su presencia digital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57850" y="1714500"/>
            <a:ext cx="11106150" cy="7286625"/>
          </a:xfrm>
          <a:custGeom>
            <a:avLst/>
            <a:gdLst/>
            <a:ahLst/>
            <a:cxnLst/>
            <a:rect r="r" b="b" t="t" l="l"/>
            <a:pathLst>
              <a:path h="7286625" w="11106150">
                <a:moveTo>
                  <a:pt x="0" y="0"/>
                </a:moveTo>
                <a:lnTo>
                  <a:pt x="11106150" y="0"/>
                </a:lnTo>
                <a:lnTo>
                  <a:pt x="1110615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47700" y="8794302"/>
            <a:ext cx="12588365" cy="1285875"/>
          </a:xfrm>
          <a:custGeom>
            <a:avLst/>
            <a:gdLst/>
            <a:ahLst/>
            <a:cxnLst/>
            <a:rect r="r" b="b" t="t" l="l"/>
            <a:pathLst>
              <a:path h="1285875" w="12588365">
                <a:moveTo>
                  <a:pt x="0" y="0"/>
                </a:moveTo>
                <a:lnTo>
                  <a:pt x="12588365" y="0"/>
                </a:lnTo>
                <a:lnTo>
                  <a:pt x="1258836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-36726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04377" y="3608957"/>
            <a:ext cx="1962150" cy="5572125"/>
          </a:xfrm>
          <a:custGeom>
            <a:avLst/>
            <a:gdLst/>
            <a:ahLst/>
            <a:cxnLst/>
            <a:rect r="r" b="b" t="t" l="l"/>
            <a:pathLst>
              <a:path h="5572125" w="1962150">
                <a:moveTo>
                  <a:pt x="0" y="0"/>
                </a:moveTo>
                <a:lnTo>
                  <a:pt x="1962150" y="0"/>
                </a:lnTo>
                <a:lnTo>
                  <a:pt x="19621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5924" y="8915888"/>
            <a:ext cx="1234376" cy="1042703"/>
          </a:xfrm>
          <a:custGeom>
            <a:avLst/>
            <a:gdLst/>
            <a:ahLst/>
            <a:cxnLst/>
            <a:rect r="r" b="b" t="t" l="l"/>
            <a:pathLst>
              <a:path h="1042703" w="1234376">
                <a:moveTo>
                  <a:pt x="0" y="0"/>
                </a:moveTo>
                <a:lnTo>
                  <a:pt x="1234376" y="0"/>
                </a:lnTo>
                <a:lnTo>
                  <a:pt x="1234376" y="1042702"/>
                </a:lnTo>
                <a:lnTo>
                  <a:pt x="0" y="10427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683481" y="8926301"/>
            <a:ext cx="10552584" cy="8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Shopify facilita la creación de tiendas online y ofrece</a:t>
            </a:r>
          </a:p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una base tecnológica para desarrollar la actividad comercial.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5204" y="438253"/>
            <a:ext cx="10839443" cy="13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 spc="168">
                <a:solidFill>
                  <a:srgbClr val="1F3D23"/>
                </a:solidFill>
                <a:latin typeface="Poppins Bold"/>
                <a:ea typeface="Poppins Bold"/>
                <a:cs typeface="Poppins Bold"/>
                <a:sym typeface="Poppins Bold"/>
              </a:rPr>
              <a:t>¿CÓMO FUNCIONA SHOPIFY?</a:t>
            </a:r>
          </a:p>
          <a:p>
            <a:pPr algn="ctr">
              <a:lnSpc>
                <a:spcPts val="5040"/>
              </a:lnSpc>
            </a:pPr>
            <a:r>
              <a:rPr lang="en-US" b="true" sz="4200" spc="168">
                <a:solidFill>
                  <a:srgbClr val="1F3D23"/>
                </a:solidFill>
                <a:latin typeface="Poppins Bold"/>
                <a:ea typeface="Poppins Bold"/>
                <a:cs typeface="Poppins Bold"/>
                <a:sym typeface="Poppins Bold"/>
              </a:rPr>
              <a:t>FLUJO BÁSICO DE LA TIENDA ONLINE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000625" y="2571750"/>
            <a:ext cx="1533525" cy="2362200"/>
          </a:xfrm>
          <a:custGeom>
            <a:avLst/>
            <a:gdLst/>
            <a:ahLst/>
            <a:cxnLst/>
            <a:rect r="r" b="b" t="t" l="l"/>
            <a:pathLst>
              <a:path h="2362200" w="1533525">
                <a:moveTo>
                  <a:pt x="0" y="0"/>
                </a:moveTo>
                <a:lnTo>
                  <a:pt x="1533525" y="0"/>
                </a:lnTo>
                <a:lnTo>
                  <a:pt x="1533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5550" y="1714500"/>
            <a:ext cx="5676900" cy="3219450"/>
          </a:xfrm>
          <a:custGeom>
            <a:avLst/>
            <a:gdLst/>
            <a:ahLst/>
            <a:cxnLst/>
            <a:rect r="r" b="b" t="t" l="l"/>
            <a:pathLst>
              <a:path h="3219450" w="5676900">
                <a:moveTo>
                  <a:pt x="0" y="0"/>
                </a:moveTo>
                <a:lnTo>
                  <a:pt x="5676900" y="0"/>
                </a:lnTo>
                <a:lnTo>
                  <a:pt x="56769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3850" y="3209925"/>
            <a:ext cx="1533525" cy="1724025"/>
          </a:xfrm>
          <a:custGeom>
            <a:avLst/>
            <a:gdLst/>
            <a:ahLst/>
            <a:cxnLst/>
            <a:rect r="r" b="b" t="t" l="l"/>
            <a:pathLst>
              <a:path h="1724025" w="15335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625" y="4924425"/>
            <a:ext cx="4143375" cy="3438525"/>
          </a:xfrm>
          <a:custGeom>
            <a:avLst/>
            <a:gdLst/>
            <a:ahLst/>
            <a:cxnLst/>
            <a:rect r="r" b="b" t="t" l="l"/>
            <a:pathLst>
              <a:path h="3438525" w="4143375">
                <a:moveTo>
                  <a:pt x="0" y="0"/>
                </a:moveTo>
                <a:lnTo>
                  <a:pt x="4143375" y="0"/>
                </a:lnTo>
                <a:lnTo>
                  <a:pt x="4143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170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2625" y="55721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69596" y="6645362"/>
            <a:ext cx="2384638" cy="28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1. Crea y configura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070" y="7346862"/>
            <a:ext cx="2945690" cy="47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Elige una plantilla y</a:t>
            </a:r>
          </a:p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establece los ajustes básicos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72000" y="4924425"/>
            <a:ext cx="4143375" cy="3438525"/>
          </a:xfrm>
          <a:custGeom>
            <a:avLst/>
            <a:gdLst/>
            <a:ahLst/>
            <a:cxnLst/>
            <a:rect r="r" b="b" t="t" l="l"/>
            <a:pathLst>
              <a:path h="3438525" w="4143375">
                <a:moveTo>
                  <a:pt x="0" y="0"/>
                </a:moveTo>
                <a:lnTo>
                  <a:pt x="4143375" y="0"/>
                </a:lnTo>
                <a:lnTo>
                  <a:pt x="4143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05550" y="49244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96000" y="55721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44165" y="6645362"/>
            <a:ext cx="2621011" cy="28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2. Pública productos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14431" y="7268728"/>
            <a:ext cx="2880479" cy="75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Añade nombres, precios, fotografías y descripciones al catálogo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924925" y="4924425"/>
            <a:ext cx="4143375" cy="3438525"/>
          </a:xfrm>
          <a:custGeom>
            <a:avLst/>
            <a:gdLst/>
            <a:ahLst/>
            <a:cxnLst/>
            <a:rect r="r" b="b" t="t" l="l"/>
            <a:pathLst>
              <a:path h="3438525" w="4143375">
                <a:moveTo>
                  <a:pt x="0" y="0"/>
                </a:moveTo>
                <a:lnTo>
                  <a:pt x="4143375" y="0"/>
                </a:lnTo>
                <a:lnTo>
                  <a:pt x="4143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6800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8925" y="55721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23460" y="6645362"/>
            <a:ext cx="2162973" cy="28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 Compra online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8152" y="7346862"/>
            <a:ext cx="3213589" cy="47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El cliente consulta productos, usa el carrito y realiza el pago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277850" y="4924425"/>
            <a:ext cx="4362450" cy="3438525"/>
          </a:xfrm>
          <a:custGeom>
            <a:avLst/>
            <a:gdLst/>
            <a:ahLst/>
            <a:cxnLst/>
            <a:rect r="r" b="b" t="t" l="l"/>
            <a:pathLst>
              <a:path h="3438525" w="4362450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020925" y="49244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801850" y="55721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065470" y="6645362"/>
            <a:ext cx="2641655" cy="28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true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 Gestión el negocio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98828" y="7268728"/>
            <a:ext cx="2974940" cy="75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El vendedor revisa pedidos, inventario y envíos desde</a:t>
            </a:r>
          </a:p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el panel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133850" y="642937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8677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83970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28625" y="8143875"/>
            <a:ext cx="17211675" cy="857250"/>
          </a:xfrm>
          <a:custGeom>
            <a:avLst/>
            <a:gdLst/>
            <a:ahLst/>
            <a:cxnLst/>
            <a:rect r="r" b="b" t="t" l="l"/>
            <a:pathLst>
              <a:path h="857250" w="17211675">
                <a:moveTo>
                  <a:pt x="0" y="0"/>
                </a:moveTo>
                <a:lnTo>
                  <a:pt x="17211675" y="0"/>
                </a:lnTo>
                <a:lnTo>
                  <a:pt x="1721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85850" y="8143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985606" y="8474236"/>
            <a:ext cx="10394079" cy="2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Puedes incorporar aplicaciones y herramientas adicionales según las necesidades de tu negocio.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28625" y="9001125"/>
            <a:ext cx="17211675" cy="1285875"/>
          </a:xfrm>
          <a:custGeom>
            <a:avLst/>
            <a:gdLst/>
            <a:ahLst/>
            <a:cxnLst/>
            <a:rect r="r" b="b" t="t" l="l"/>
            <a:pathLst>
              <a:path h="1285875" w="17211675">
                <a:moveTo>
                  <a:pt x="0" y="0"/>
                </a:moveTo>
                <a:lnTo>
                  <a:pt x="17211675" y="0"/>
                </a:lnTo>
                <a:lnTo>
                  <a:pt x="17211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5850" y="90011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390775" y="9210675"/>
            <a:ext cx="228600" cy="866775"/>
          </a:xfrm>
          <a:custGeom>
            <a:avLst/>
            <a:gdLst/>
            <a:ahLst/>
            <a:cxnLst/>
            <a:rect r="r" b="b" t="t" l="l"/>
            <a:pathLst>
              <a:path h="866775" w="228600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683699" y="9152334"/>
            <a:ext cx="12915213" cy="83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82" b="true">
                <a:solidFill>
                  <a:srgbClr val="F5F8F2"/>
                </a:solidFill>
                <a:latin typeface="Aileron Bold"/>
                <a:ea typeface="Aileron Bold"/>
                <a:cs typeface="Aileron Bold"/>
                <a:sym typeface="Aileron Bold"/>
              </a:rPr>
              <a:t>Shopify reúne las funciones básicas para gestionar una tienda online, desde la </a:t>
            </a:r>
            <a:r>
              <a:rPr lang="en-US" sz="2759" spc="82" b="true">
                <a:solidFill>
                  <a:srgbClr val="69A83C"/>
                </a:solidFill>
                <a:latin typeface="Aileron Bold"/>
                <a:ea typeface="Aileron Bold"/>
                <a:cs typeface="Aileron Bold"/>
                <a:sym typeface="Aileron Bold"/>
              </a:rPr>
              <a:t>publicación de productos</a:t>
            </a:r>
            <a:r>
              <a:rPr lang="en-US" sz="2759" spc="82" b="true">
                <a:solidFill>
                  <a:srgbClr val="F5F8F2"/>
                </a:solidFill>
                <a:latin typeface="Aileron Bold"/>
                <a:ea typeface="Aileron Bold"/>
                <a:cs typeface="Aileron Bold"/>
                <a:sym typeface="Aileron Bold"/>
              </a:rPr>
              <a:t> hasta la </a:t>
            </a:r>
            <a:r>
              <a:rPr lang="en-US" sz="2759" spc="82" b="true">
                <a:solidFill>
                  <a:srgbClr val="69A83C"/>
                </a:solidFill>
                <a:latin typeface="Aileron Bold"/>
                <a:ea typeface="Aileron Bold"/>
                <a:cs typeface="Aileron Bold"/>
                <a:sym typeface="Aileron Bold"/>
              </a:rPr>
              <a:t>tramitación de las compras.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3900" y="645761"/>
            <a:ext cx="12080202" cy="81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0"/>
              </a:lnSpc>
            </a:pPr>
            <a:r>
              <a:rPr lang="en-US" b="true" sz="5690" spc="-141">
                <a:solidFill>
                  <a:srgbClr val="0F1E35"/>
                </a:solidFill>
                <a:latin typeface="Poppins Bold"/>
                <a:ea typeface="Poppins Bold"/>
                <a:cs typeface="Poppins Bold"/>
                <a:sym typeface="Poppins Bold"/>
              </a:rPr>
              <a:t>HERRAMIENTAS DE SHOPIFY 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79868" y="1494992"/>
            <a:ext cx="14128264" cy="65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7"/>
              </a:lnSpc>
            </a:pPr>
            <a:r>
              <a:rPr lang="en-US" b="true" sz="4647" spc="-115">
                <a:solidFill>
                  <a:srgbClr val="5C7B29"/>
                </a:solidFill>
                <a:latin typeface="Poppins Bold"/>
                <a:ea typeface="Poppins Bold"/>
                <a:cs typeface="Poppins Bold"/>
                <a:sym typeface="Poppins Bold"/>
              </a:rPr>
              <a:t>MEJORAN LA EXPERIENCIA DEL CONSUMIDOR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2571750"/>
            <a:ext cx="5667375" cy="2790825"/>
          </a:xfrm>
          <a:custGeom>
            <a:avLst/>
            <a:gdLst/>
            <a:ahLst/>
            <a:cxnLst/>
            <a:rect r="r" b="b" t="t" l="l"/>
            <a:pathLst>
              <a:path h="2790825" w="5667375">
                <a:moveTo>
                  <a:pt x="0" y="0"/>
                </a:moveTo>
                <a:lnTo>
                  <a:pt x="5667375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625" y="278130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209925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23448" y="3138591"/>
            <a:ext cx="2151246" cy="8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72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Organización</a:t>
            </a:r>
          </a:p>
          <a:p>
            <a:pPr algn="l">
              <a:lnSpc>
                <a:spcPts val="3184"/>
              </a:lnSpc>
            </a:pPr>
            <a:r>
              <a:rPr lang="en-US" sz="2896" spc="-72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del catálogo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2549" y="4224821"/>
            <a:ext cx="2241161" cy="68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57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Categorías, filtros</a:t>
            </a:r>
          </a:p>
          <a:p>
            <a:pPr algn="l">
              <a:lnSpc>
                <a:spcPts val="2774"/>
              </a:lnSpc>
            </a:pPr>
            <a:r>
              <a:rPr lang="en-US" sz="2311" spc="-57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y variantes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57850" y="363855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6000" y="2571750"/>
            <a:ext cx="6096000" cy="6000750"/>
          </a:xfrm>
          <a:custGeom>
            <a:avLst/>
            <a:gdLst/>
            <a:ahLst/>
            <a:cxnLst/>
            <a:rect r="r" b="b" t="t" l="l"/>
            <a:pathLst>
              <a:path h="6000750" w="6096000">
                <a:moveTo>
                  <a:pt x="0" y="0"/>
                </a:moveTo>
                <a:lnTo>
                  <a:pt x="6096000" y="0"/>
                </a:lnTo>
                <a:lnTo>
                  <a:pt x="6096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05550" y="3857625"/>
            <a:ext cx="5457825" cy="3648075"/>
          </a:xfrm>
          <a:custGeom>
            <a:avLst/>
            <a:gdLst/>
            <a:ahLst/>
            <a:cxnLst/>
            <a:rect r="r" b="b" t="t" l="l"/>
            <a:pathLst>
              <a:path h="3648075" w="5457825">
                <a:moveTo>
                  <a:pt x="0" y="0"/>
                </a:moveTo>
                <a:lnTo>
                  <a:pt x="5457825" y="0"/>
                </a:lnTo>
                <a:lnTo>
                  <a:pt x="54578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77550" y="4924425"/>
            <a:ext cx="1104900" cy="1933575"/>
          </a:xfrm>
          <a:custGeom>
            <a:avLst/>
            <a:gdLst/>
            <a:ahLst/>
            <a:cxnLst/>
            <a:rect r="r" b="b" t="t" l="l"/>
            <a:pathLst>
              <a:path h="1933575" w="1104900">
                <a:moveTo>
                  <a:pt x="0" y="0"/>
                </a:moveTo>
                <a:lnTo>
                  <a:pt x="1104900" y="0"/>
                </a:lnTo>
                <a:lnTo>
                  <a:pt x="11049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72925" y="2571750"/>
            <a:ext cx="5886450" cy="2790825"/>
          </a:xfrm>
          <a:custGeom>
            <a:avLst/>
            <a:gdLst/>
            <a:ahLst/>
            <a:cxnLst/>
            <a:rect r="r" b="b" t="t" l="l"/>
            <a:pathLst>
              <a:path h="2790825" w="5886450">
                <a:moveTo>
                  <a:pt x="0" y="0"/>
                </a:moveTo>
                <a:lnTo>
                  <a:pt x="5886450" y="0"/>
                </a:lnTo>
                <a:lnTo>
                  <a:pt x="5886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2925" y="2781300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01550" y="300037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168367" y="3138538"/>
            <a:ext cx="2983647" cy="43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spc="-75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Información clara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68978" y="3823506"/>
            <a:ext cx="2922548" cy="10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6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Disponibilidad y</a:t>
            </a:r>
          </a:p>
          <a:p>
            <a:pPr algn="l">
              <a:lnSpc>
                <a:spcPts val="2932"/>
              </a:lnSpc>
            </a:pPr>
            <a:r>
              <a:rPr lang="en-US" sz="2443" spc="-6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precios visibles en las fichas de producto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315700" y="36385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4925" y="5781675"/>
            <a:ext cx="4791075" cy="3009900"/>
          </a:xfrm>
          <a:custGeom>
            <a:avLst/>
            <a:gdLst/>
            <a:ahLst/>
            <a:cxnLst/>
            <a:rect r="r" b="b" t="t" l="l"/>
            <a:pathLst>
              <a:path h="3009900" w="4791075">
                <a:moveTo>
                  <a:pt x="0" y="0"/>
                </a:moveTo>
                <a:lnTo>
                  <a:pt x="4791075" y="0"/>
                </a:lnTo>
                <a:lnTo>
                  <a:pt x="47910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8625" y="600075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47700" y="621030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24340" y="6348255"/>
            <a:ext cx="2062124" cy="8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72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Seguimiento</a:t>
            </a:r>
          </a:p>
          <a:p>
            <a:pPr algn="l">
              <a:lnSpc>
                <a:spcPts val="3184"/>
              </a:lnSpc>
            </a:pPr>
            <a:r>
              <a:rPr lang="en-US" sz="2896" spc="-72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del pedido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15183" y="7389279"/>
            <a:ext cx="2977794" cy="68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57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Estado del pedido y condiciones de entrega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657850" y="6638925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972925" y="5781675"/>
            <a:ext cx="5886450" cy="3009900"/>
          </a:xfrm>
          <a:custGeom>
            <a:avLst/>
            <a:gdLst/>
            <a:ahLst/>
            <a:cxnLst/>
            <a:rect r="r" b="b" t="t" l="l"/>
            <a:pathLst>
              <a:path h="3009900" w="5886450">
                <a:moveTo>
                  <a:pt x="0" y="0"/>
                </a:moveTo>
                <a:lnTo>
                  <a:pt x="5886450" y="0"/>
                </a:lnTo>
                <a:lnTo>
                  <a:pt x="58864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72925" y="6000750"/>
            <a:ext cx="1962150" cy="1933575"/>
          </a:xfrm>
          <a:custGeom>
            <a:avLst/>
            <a:gdLst/>
            <a:ahLst/>
            <a:cxnLst/>
            <a:rect r="r" b="b" t="t" l="l"/>
            <a:pathLst>
              <a:path h="1933575" w="1962150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401550" y="621030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179688" y="6287980"/>
            <a:ext cx="1851499" cy="80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72" b="true">
                <a:solidFill>
                  <a:srgbClr val="0F1E35"/>
                </a:solidFill>
                <a:latin typeface="Roboto Bold"/>
                <a:ea typeface="Roboto Bold"/>
                <a:cs typeface="Roboto Bold"/>
                <a:sym typeface="Roboto Bold"/>
              </a:rPr>
              <a:t>Funciones adicionales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98203" y="7347451"/>
            <a:ext cx="3321844" cy="102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57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Aplicaciones para personalizar funcionalidades y atención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315700" y="66389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28625" y="8782050"/>
            <a:ext cx="17430750" cy="1504950"/>
          </a:xfrm>
          <a:custGeom>
            <a:avLst/>
            <a:gdLst/>
            <a:ahLst/>
            <a:cxnLst/>
            <a:rect r="r" b="b" t="t" l="l"/>
            <a:pathLst>
              <a:path h="1504950" w="17430750">
                <a:moveTo>
                  <a:pt x="0" y="0"/>
                </a:moveTo>
                <a:lnTo>
                  <a:pt x="17430750" y="0"/>
                </a:lnTo>
                <a:lnTo>
                  <a:pt x="1743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04925" y="90011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676989" y="9345941"/>
            <a:ext cx="13891821" cy="42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78">
                <a:solidFill>
                  <a:srgbClr val="F2F2F2"/>
                </a:solidFill>
                <a:latin typeface="Roboto Bold"/>
                <a:ea typeface="Roboto Bold"/>
                <a:cs typeface="Roboto Bold"/>
                <a:sym typeface="Roboto Bold"/>
              </a:rPr>
              <a:t>Estas herramientas facilitan una experiencia de compra más clara y confiable.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7771" y="410059"/>
            <a:ext cx="13195578" cy="70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D1D3C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DISEÑO, TEMAS Y PERSONALIZACIÓN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1495425"/>
            <a:ext cx="3924300" cy="3867150"/>
          </a:xfrm>
          <a:custGeom>
            <a:avLst/>
            <a:gdLst/>
            <a:ahLst/>
            <a:cxnLst/>
            <a:rect r="r" b="b" t="t" l="l"/>
            <a:pathLst>
              <a:path h="3867150" w="3924300">
                <a:moveTo>
                  <a:pt x="0" y="0"/>
                </a:moveTo>
                <a:lnTo>
                  <a:pt x="3924300" y="0"/>
                </a:lnTo>
                <a:lnTo>
                  <a:pt x="39243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5419" y="1559641"/>
            <a:ext cx="424273" cy="4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33550" y="1924050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3429000"/>
            <a:ext cx="2838450" cy="647700"/>
          </a:xfrm>
          <a:custGeom>
            <a:avLst/>
            <a:gdLst/>
            <a:ahLst/>
            <a:cxnLst/>
            <a:rect r="r" b="b" t="t" l="l"/>
            <a:pathLst>
              <a:path h="647700" w="2838450">
                <a:moveTo>
                  <a:pt x="0" y="0"/>
                </a:moveTo>
                <a:lnTo>
                  <a:pt x="2838450" y="0"/>
                </a:lnTo>
                <a:lnTo>
                  <a:pt x="2838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4315" y="3478265"/>
            <a:ext cx="2017007" cy="2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Primera impresión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5203" y="4060591"/>
            <a:ext cx="2855229" cy="10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b="true" sz="1617" spc="-40">
                <a:solidFill>
                  <a:srgbClr val="2B2B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Colores, imágenes, tipografías y distribución influyen en la percepción de la marca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33850" y="2571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81550" y="1495425"/>
            <a:ext cx="4152900" cy="3867150"/>
          </a:xfrm>
          <a:custGeom>
            <a:avLst/>
            <a:gdLst/>
            <a:ahLst/>
            <a:cxnLst/>
            <a:rect r="r" b="b" t="t" l="l"/>
            <a:pathLst>
              <a:path h="3867150" w="4152900">
                <a:moveTo>
                  <a:pt x="0" y="0"/>
                </a:moveTo>
                <a:lnTo>
                  <a:pt x="4152900" y="0"/>
                </a:lnTo>
                <a:lnTo>
                  <a:pt x="41529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0625" y="128587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75054" y="1559641"/>
            <a:ext cx="498236" cy="4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876925" y="1924050"/>
            <a:ext cx="1962150" cy="1504950"/>
          </a:xfrm>
          <a:custGeom>
            <a:avLst/>
            <a:gdLst/>
            <a:ahLst/>
            <a:cxnLst/>
            <a:rect r="r" b="b" t="t" l="l"/>
            <a:pathLst>
              <a:path h="1504950" w="19621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219700" y="3429000"/>
            <a:ext cx="3276600" cy="647700"/>
          </a:xfrm>
          <a:custGeom>
            <a:avLst/>
            <a:gdLst/>
            <a:ahLst/>
            <a:cxnLst/>
            <a:rect r="r" b="b" t="t" l="l"/>
            <a:pathLst>
              <a:path h="647700" w="3276600">
                <a:moveTo>
                  <a:pt x="0" y="0"/>
                </a:moveTo>
                <a:lnTo>
                  <a:pt x="3276600" y="0"/>
                </a:lnTo>
                <a:lnTo>
                  <a:pt x="3276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17991" y="3508403"/>
            <a:ext cx="2872516" cy="2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Personaliza sin programar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54060" y="4216639"/>
            <a:ext cx="2289855" cy="5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42">
                <a:solidFill>
                  <a:srgbClr val="2B2B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Temas gratuitos o de pago + editor visual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705850" y="2571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3550" y="1495425"/>
            <a:ext cx="3933825" cy="3867150"/>
          </a:xfrm>
          <a:custGeom>
            <a:avLst/>
            <a:gdLst/>
            <a:ahLst/>
            <a:cxnLst/>
            <a:rect r="r" b="b" t="t" l="l"/>
            <a:pathLst>
              <a:path h="3867150" w="3933825">
                <a:moveTo>
                  <a:pt x="0" y="0"/>
                </a:moveTo>
                <a:lnTo>
                  <a:pt x="3933825" y="0"/>
                </a:lnTo>
                <a:lnTo>
                  <a:pt x="39338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72625" y="128587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13708" y="1559641"/>
            <a:ext cx="514899" cy="4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229850" y="1924050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91700" y="3429000"/>
            <a:ext cx="3057525" cy="647700"/>
          </a:xfrm>
          <a:custGeom>
            <a:avLst/>
            <a:gdLst/>
            <a:ahLst/>
            <a:cxnLst/>
            <a:rect r="r" b="b" t="t" l="l"/>
            <a:pathLst>
              <a:path h="647700" w="3057525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315667" y="3508403"/>
            <a:ext cx="2003816" cy="2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Diseño que facilita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10853" y="4060445"/>
            <a:ext cx="2413444" cy="87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b="true" sz="1810" spc="-45">
                <a:solidFill>
                  <a:srgbClr val="2B2B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Estructura ordenada, botones visibles y categorías claras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058775" y="2571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496925" y="1495425"/>
            <a:ext cx="4143375" cy="3867150"/>
          </a:xfrm>
          <a:custGeom>
            <a:avLst/>
            <a:gdLst/>
            <a:ahLst/>
            <a:cxnLst/>
            <a:rect r="r" b="b" t="t" l="l"/>
            <a:pathLst>
              <a:path h="3867150" w="4143375">
                <a:moveTo>
                  <a:pt x="0" y="0"/>
                </a:moveTo>
                <a:lnTo>
                  <a:pt x="4143375" y="0"/>
                </a:lnTo>
                <a:lnTo>
                  <a:pt x="41433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716000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849554" y="1559641"/>
            <a:ext cx="547816" cy="4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363700" y="192405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25550" y="3429000"/>
            <a:ext cx="3276600" cy="647700"/>
          </a:xfrm>
          <a:custGeom>
            <a:avLst/>
            <a:gdLst/>
            <a:ahLst/>
            <a:cxnLst/>
            <a:rect r="r" b="b" t="t" l="l"/>
            <a:pathLst>
              <a:path h="647700" w="3276600">
                <a:moveTo>
                  <a:pt x="0" y="0"/>
                </a:moveTo>
                <a:lnTo>
                  <a:pt x="3276600" y="0"/>
                </a:lnTo>
                <a:lnTo>
                  <a:pt x="3276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365472" y="3508403"/>
            <a:ext cx="2500817" cy="2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Experiencia responsive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74714" y="4060445"/>
            <a:ext cx="2090904" cy="87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b="true" sz="1810" spc="-45">
                <a:solidFill>
                  <a:srgbClr val="2B2B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Adaptación a ordenadores, tabletas y móviles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47700" y="5572125"/>
            <a:ext cx="4581525" cy="3219450"/>
          </a:xfrm>
          <a:custGeom>
            <a:avLst/>
            <a:gdLst/>
            <a:ahLst/>
            <a:cxnLst/>
            <a:rect r="r" b="b" t="t" l="l"/>
            <a:pathLst>
              <a:path h="3219450" w="4581525">
                <a:moveTo>
                  <a:pt x="0" y="0"/>
                </a:moveTo>
                <a:lnTo>
                  <a:pt x="4581525" y="0"/>
                </a:lnTo>
                <a:lnTo>
                  <a:pt x="4581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219700" y="5572125"/>
            <a:ext cx="4800600" cy="3219450"/>
          </a:xfrm>
          <a:custGeom>
            <a:avLst/>
            <a:gdLst/>
            <a:ahLst/>
            <a:cxnLst/>
            <a:rect r="r" b="b" t="t" l="l"/>
            <a:pathLst>
              <a:path h="3219450" w="4800600">
                <a:moveTo>
                  <a:pt x="0" y="0"/>
                </a:moveTo>
                <a:lnTo>
                  <a:pt x="4800600" y="0"/>
                </a:lnTo>
                <a:lnTo>
                  <a:pt x="4800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66775" y="57816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770533" y="5883921"/>
            <a:ext cx="2433408" cy="51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spc="-40" b="true">
                <a:solidFill>
                  <a:srgbClr val="962C2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Demasiados elementos » navegación difícil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85850" y="6638925"/>
            <a:ext cx="3486150" cy="1933575"/>
          </a:xfrm>
          <a:custGeom>
            <a:avLst/>
            <a:gdLst/>
            <a:ahLst/>
            <a:cxnLst/>
            <a:rect r="r" b="b" t="t" l="l"/>
            <a:pathLst>
              <a:path h="1933575" w="3486150">
                <a:moveTo>
                  <a:pt x="0" y="0"/>
                </a:moveTo>
                <a:lnTo>
                  <a:pt x="3486150" y="0"/>
                </a:lnTo>
                <a:lnTo>
                  <a:pt x="3486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572000" y="66389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923863" y="7074839"/>
            <a:ext cx="555538" cy="43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VS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657850" y="57816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506994" y="5883921"/>
            <a:ext cx="2235953" cy="51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b="true" sz="1617" spc="-40">
                <a:solidFill>
                  <a:srgbClr val="2B2B2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Estructura ordenada » recorrido más fácil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876925" y="6638925"/>
            <a:ext cx="3486150" cy="1933575"/>
          </a:xfrm>
          <a:custGeom>
            <a:avLst/>
            <a:gdLst/>
            <a:ahLst/>
            <a:cxnLst/>
            <a:rect r="r" b="b" t="t" l="l"/>
            <a:pathLst>
              <a:path h="1933575" w="3486150">
                <a:moveTo>
                  <a:pt x="0" y="0"/>
                </a:moveTo>
                <a:lnTo>
                  <a:pt x="3486150" y="0"/>
                </a:lnTo>
                <a:lnTo>
                  <a:pt x="3486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91700" y="5143500"/>
            <a:ext cx="5448300" cy="3648075"/>
          </a:xfrm>
          <a:custGeom>
            <a:avLst/>
            <a:gdLst/>
            <a:ahLst/>
            <a:cxnLst/>
            <a:rect r="r" b="b" t="t" l="l"/>
            <a:pathLst>
              <a:path h="3648075" w="5448300">
                <a:moveTo>
                  <a:pt x="0" y="0"/>
                </a:moveTo>
                <a:lnTo>
                  <a:pt x="5448300" y="0"/>
                </a:lnTo>
                <a:lnTo>
                  <a:pt x="5448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144625" y="5781675"/>
            <a:ext cx="2409825" cy="3438525"/>
          </a:xfrm>
          <a:custGeom>
            <a:avLst/>
            <a:gdLst/>
            <a:ahLst/>
            <a:cxnLst/>
            <a:rect r="r" b="b" t="t" l="l"/>
            <a:pathLst>
              <a:path h="3438525" w="2409825">
                <a:moveTo>
                  <a:pt x="0" y="0"/>
                </a:moveTo>
                <a:lnTo>
                  <a:pt x="2409825" y="0"/>
                </a:lnTo>
                <a:lnTo>
                  <a:pt x="24098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6106775" y="6429375"/>
            <a:ext cx="1533525" cy="2790825"/>
          </a:xfrm>
          <a:custGeom>
            <a:avLst/>
            <a:gdLst/>
            <a:ahLst/>
            <a:cxnLst/>
            <a:rect r="r" b="b" t="t" l="l"/>
            <a:pathLst>
              <a:path h="2790825" w="1533525">
                <a:moveTo>
                  <a:pt x="0" y="0"/>
                </a:moveTo>
                <a:lnTo>
                  <a:pt x="1533525" y="0"/>
                </a:lnTo>
                <a:lnTo>
                  <a:pt x="1533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47700" y="8782050"/>
            <a:ext cx="16992600" cy="1504950"/>
          </a:xfrm>
          <a:custGeom>
            <a:avLst/>
            <a:gdLst/>
            <a:ahLst/>
            <a:cxnLst/>
            <a:rect r="r" b="b" t="t" l="l"/>
            <a:pathLst>
              <a:path h="1504950" w="16992600">
                <a:moveTo>
                  <a:pt x="0" y="0"/>
                </a:moveTo>
                <a:lnTo>
                  <a:pt x="16992600" y="0"/>
                </a:lnTo>
                <a:lnTo>
                  <a:pt x="1699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66775" y="87820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491383" y="9064377"/>
            <a:ext cx="10983516" cy="76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54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 personalización puede mejorar la imagen de marca y la facilidad de uso, factores relacionados con la confianza y la decisión de compra.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9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64000" y="0"/>
            <a:ext cx="1524000" cy="1285875"/>
          </a:xfrm>
          <a:custGeom>
            <a:avLst/>
            <a:gdLst/>
            <a:ahLst/>
            <a:cxnLst/>
            <a:rect r="r" b="b" t="t" l="l"/>
            <a:pathLst>
              <a:path h="1285875" w="1524000">
                <a:moveTo>
                  <a:pt x="0" y="0"/>
                </a:moveTo>
                <a:lnTo>
                  <a:pt x="1524000" y="0"/>
                </a:lnTo>
                <a:lnTo>
                  <a:pt x="15240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31661" y="424866"/>
            <a:ext cx="13379321" cy="70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 spc="-249">
                <a:solidFill>
                  <a:srgbClr val="08163C"/>
                </a:solidFill>
                <a:latin typeface="Poppins Bold"/>
                <a:ea typeface="Poppins Bold"/>
                <a:cs typeface="Poppins Bold"/>
                <a:sym typeface="Poppins Bold"/>
              </a:rPr>
              <a:t>PAGOS, APLICACIONES E INTEGRACIONES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1714500"/>
            <a:ext cx="2838450" cy="3000375"/>
          </a:xfrm>
          <a:custGeom>
            <a:avLst/>
            <a:gdLst/>
            <a:ahLst/>
            <a:cxnLst/>
            <a:rect r="r" b="b" t="t" l="l"/>
            <a:pathLst>
              <a:path h="3000375" w="2838450">
                <a:moveTo>
                  <a:pt x="0" y="0"/>
                </a:moveTo>
                <a:lnTo>
                  <a:pt x="2838450" y="0"/>
                </a:lnTo>
                <a:lnTo>
                  <a:pt x="2838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4000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4925" y="192405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397" y="3549880"/>
            <a:ext cx="1336197" cy="72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b="true" sz="1125" spc="-45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 Pago fácil</a:t>
            </a:r>
          </a:p>
          <a:p>
            <a:pPr algn="ctr">
              <a:lnSpc>
                <a:spcPts val="1462"/>
              </a:lnSpc>
            </a:pPr>
          </a:p>
          <a:p>
            <a:pPr algn="ctr">
              <a:lnSpc>
                <a:spcPts val="1462"/>
              </a:lnSpc>
            </a:pPr>
            <a:r>
              <a:rPr lang="en-US" b="true" sz="1125" spc="-45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Métodos conocidos</a:t>
            </a:r>
          </a:p>
          <a:p>
            <a:pPr algn="ctr">
              <a:lnSpc>
                <a:spcPts val="1462"/>
              </a:lnSpc>
            </a:pPr>
            <a:r>
              <a:rPr lang="en-US" b="true" sz="1125" spc="-45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 proceso sencillo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76625" y="2571750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81550" y="1714500"/>
            <a:ext cx="3276600" cy="3000375"/>
          </a:xfrm>
          <a:custGeom>
            <a:avLst/>
            <a:gdLst/>
            <a:ahLst/>
            <a:cxnLst/>
            <a:rect r="r" b="b" t="t" l="l"/>
            <a:pathLst>
              <a:path h="3000375" w="3276600">
                <a:moveTo>
                  <a:pt x="0" y="0"/>
                </a:moveTo>
                <a:lnTo>
                  <a:pt x="3276600" y="0"/>
                </a:lnTo>
                <a:lnTo>
                  <a:pt x="3276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76925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57850" y="2143125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75055" y="3524688"/>
            <a:ext cx="2331679" cy="78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b="true" sz="1283" spc="-51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 Checkout sin fricciones</a:t>
            </a:r>
          </a:p>
          <a:p>
            <a:pPr algn="ctr">
              <a:lnSpc>
                <a:spcPts val="1667"/>
              </a:lnSpc>
            </a:pPr>
          </a:p>
          <a:p>
            <a:pPr algn="ctr">
              <a:lnSpc>
                <a:spcPts val="1667"/>
              </a:lnSpc>
            </a:pPr>
            <a:r>
              <a:rPr lang="en-US" b="true" sz="1283" spc="-5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Menos pasos,</a:t>
            </a:r>
          </a:p>
          <a:p>
            <a:pPr algn="ctr">
              <a:lnSpc>
                <a:spcPts val="1667"/>
              </a:lnSpc>
            </a:pPr>
            <a:r>
              <a:rPr lang="en-US" b="true" sz="1283" spc="-5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 confianza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48625" y="257175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1714500"/>
            <a:ext cx="3267075" cy="3000375"/>
          </a:xfrm>
          <a:custGeom>
            <a:avLst/>
            <a:gdLst/>
            <a:ahLst/>
            <a:cxnLst/>
            <a:rect r="r" b="b" t="t" l="l"/>
            <a:pathLst>
              <a:path h="3000375" w="3267075">
                <a:moveTo>
                  <a:pt x="0" y="0"/>
                </a:moveTo>
                <a:lnTo>
                  <a:pt x="3267075" y="0"/>
                </a:lnTo>
                <a:lnTo>
                  <a:pt x="3267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10775" y="1285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10775" y="2143125"/>
            <a:ext cx="1752600" cy="1285875"/>
          </a:xfrm>
          <a:custGeom>
            <a:avLst/>
            <a:gdLst/>
            <a:ahLst/>
            <a:cxnLst/>
            <a:rect r="r" b="b" t="t" l="l"/>
            <a:pathLst>
              <a:path h="1285875" w="1752600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01379" y="3563406"/>
            <a:ext cx="2603539" cy="7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b="true" sz="1177" spc="-47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 Aplicaciones útiles</a:t>
            </a:r>
          </a:p>
          <a:p>
            <a:pPr algn="ctr">
              <a:lnSpc>
                <a:spcPts val="1530"/>
              </a:lnSpc>
            </a:pPr>
          </a:p>
          <a:p>
            <a:pPr algn="ctr">
              <a:lnSpc>
                <a:spcPts val="1530"/>
              </a:lnSpc>
            </a:pPr>
            <a:r>
              <a:rPr lang="en-US" b="true" sz="1177" spc="-47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Opciones, recomendaciones y atención al consumidor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401550" y="2571750"/>
            <a:ext cx="1104900" cy="428625"/>
          </a:xfrm>
          <a:custGeom>
            <a:avLst/>
            <a:gdLst/>
            <a:ahLst/>
            <a:cxnLst/>
            <a:rect r="r" b="b" t="t" l="l"/>
            <a:pathLst>
              <a:path h="428625" w="1104900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96925" y="1714500"/>
            <a:ext cx="3267075" cy="3000375"/>
          </a:xfrm>
          <a:custGeom>
            <a:avLst/>
            <a:gdLst/>
            <a:ahLst/>
            <a:cxnLst/>
            <a:rect r="r" b="b" t="t" l="l"/>
            <a:pathLst>
              <a:path h="3000375" w="3267075">
                <a:moveTo>
                  <a:pt x="0" y="0"/>
                </a:moveTo>
                <a:lnTo>
                  <a:pt x="3267075" y="0"/>
                </a:lnTo>
                <a:lnTo>
                  <a:pt x="3267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63700" y="12858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63700" y="21431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932308" y="3563406"/>
            <a:ext cx="2381844" cy="7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b="true" sz="1177" spc="-47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4. Elegir con criterio</a:t>
            </a:r>
          </a:p>
          <a:p>
            <a:pPr algn="ctr">
              <a:lnSpc>
                <a:spcPts val="1530"/>
              </a:lnSpc>
            </a:pPr>
          </a:p>
          <a:p>
            <a:pPr algn="ctr">
              <a:lnSpc>
                <a:spcPts val="1530"/>
              </a:lnSpc>
            </a:pPr>
            <a:r>
              <a:rPr lang="en-US" b="true" sz="1177" spc="-47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 funciones no siempre significan mejor experiencia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09550" y="4924425"/>
            <a:ext cx="5019675" cy="3219450"/>
          </a:xfrm>
          <a:custGeom>
            <a:avLst/>
            <a:gdLst/>
            <a:ahLst/>
            <a:cxnLst/>
            <a:rect r="r" b="b" t="t" l="l"/>
            <a:pathLst>
              <a:path h="3219450" w="5019675">
                <a:moveTo>
                  <a:pt x="0" y="0"/>
                </a:moveTo>
                <a:lnTo>
                  <a:pt x="5019675" y="0"/>
                </a:lnTo>
                <a:lnTo>
                  <a:pt x="5019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47700" y="5143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51904" y="5245296"/>
            <a:ext cx="2865096" cy="57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 spc="-70" b="true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Checkout complicado</a:t>
            </a:r>
          </a:p>
          <a:p>
            <a:pPr algn="l">
              <a:lnSpc>
                <a:spcPts val="2284"/>
              </a:lnSpc>
            </a:pPr>
            <a:r>
              <a:rPr lang="en-US" sz="1757" spc="-70" b="true">
                <a:solidFill>
                  <a:srgbClr val="B8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→ abandono de la compra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47700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171700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695700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537873" y="7309507"/>
            <a:ext cx="1333340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 tiempo,</a:t>
            </a:r>
          </a:p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 abandono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5000625" y="4495800"/>
            <a:ext cx="6105525" cy="3867150"/>
          </a:xfrm>
          <a:custGeom>
            <a:avLst/>
            <a:gdLst/>
            <a:ahLst/>
            <a:cxnLst/>
            <a:rect r="r" b="b" t="t" l="l"/>
            <a:pathLst>
              <a:path h="3867150" w="6105525">
                <a:moveTo>
                  <a:pt x="0" y="0"/>
                </a:moveTo>
                <a:lnTo>
                  <a:pt x="6105525" y="0"/>
                </a:lnTo>
                <a:lnTo>
                  <a:pt x="6105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668000" y="5353050"/>
            <a:ext cx="1743075" cy="3009900"/>
          </a:xfrm>
          <a:custGeom>
            <a:avLst/>
            <a:gdLst/>
            <a:ahLst/>
            <a:cxnLst/>
            <a:rect r="r" b="b" t="t" l="l"/>
            <a:pathLst>
              <a:path h="3009900" w="1743075">
                <a:moveTo>
                  <a:pt x="0" y="0"/>
                </a:moveTo>
                <a:lnTo>
                  <a:pt x="1743075" y="0"/>
                </a:lnTo>
                <a:lnTo>
                  <a:pt x="17430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401550" y="4924425"/>
            <a:ext cx="5457825" cy="3219450"/>
          </a:xfrm>
          <a:custGeom>
            <a:avLst/>
            <a:gdLst/>
            <a:ahLst/>
            <a:cxnLst/>
            <a:rect r="r" b="b" t="t" l="l"/>
            <a:pathLst>
              <a:path h="3219450" w="5457825">
                <a:moveTo>
                  <a:pt x="0" y="0"/>
                </a:moveTo>
                <a:lnTo>
                  <a:pt x="5457825" y="0"/>
                </a:lnTo>
                <a:lnTo>
                  <a:pt x="5457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839700" y="5143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963233" y="5245294"/>
            <a:ext cx="2065716" cy="57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 spc="-70" b="true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Proceso simple</a:t>
            </a:r>
          </a:p>
          <a:p>
            <a:pPr algn="l">
              <a:lnSpc>
                <a:spcPts val="2284"/>
              </a:lnSpc>
            </a:pPr>
            <a:r>
              <a:rPr lang="en-US" sz="1757" spc="-70" b="true">
                <a:solidFill>
                  <a:srgbClr val="43A36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→ mayor confianza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058775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918419" y="7309507"/>
            <a:ext cx="1163858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Menos pasos,</a:t>
            </a:r>
          </a:p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 fácil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801850" y="64293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325850" y="6429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950663" y="7309507"/>
            <a:ext cx="1561836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spc="-53" b="true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Mejor experiencia, más conversiones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4352925" y="8353425"/>
            <a:ext cx="9153525" cy="866775"/>
          </a:xfrm>
          <a:custGeom>
            <a:avLst/>
            <a:gdLst/>
            <a:ahLst/>
            <a:cxnLst/>
            <a:rect r="r" b="b" t="t" l="l"/>
            <a:pathLst>
              <a:path h="866775" w="9153525">
                <a:moveTo>
                  <a:pt x="0" y="0"/>
                </a:moveTo>
                <a:lnTo>
                  <a:pt x="9153525" y="0"/>
                </a:lnTo>
                <a:lnTo>
                  <a:pt x="9153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572000" y="8353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119534" y="8526338"/>
            <a:ext cx="8031072" cy="2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696" spc="-67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Shopify Payments y Shop Pay, según la disponibilidad de cada país y tienda.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209550" y="9001125"/>
            <a:ext cx="17649825" cy="1285875"/>
          </a:xfrm>
          <a:custGeom>
            <a:avLst/>
            <a:gdLst/>
            <a:ahLst/>
            <a:cxnLst/>
            <a:rect r="r" b="b" t="t" l="l"/>
            <a:pathLst>
              <a:path h="1285875" w="17649825">
                <a:moveTo>
                  <a:pt x="0" y="0"/>
                </a:moveTo>
                <a:lnTo>
                  <a:pt x="17649825" y="0"/>
                </a:lnTo>
                <a:lnTo>
                  <a:pt x="1764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733550" y="92106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4365301" y="9204641"/>
            <a:ext cx="10847232" cy="8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4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Las aplicaciones e integraciones deben responder a las necesidades del consumidor </a:t>
            </a:r>
            <a:r>
              <a:rPr lang="en-US" sz="2487" spc="-49" b="true">
                <a:solidFill>
                  <a:srgbClr val="39C9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sin dificultar la navegación ni ralentizar </a:t>
            </a:r>
            <a:r>
              <a:rPr lang="en-US" sz="2487" spc="-4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 </a:t>
            </a:r>
            <a:r>
              <a:rPr lang="en-US" sz="2487" spc="-49" b="true">
                <a:solidFill>
                  <a:srgbClr val="39C9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página.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3695700" y="9210675"/>
            <a:ext cx="228600" cy="866775"/>
          </a:xfrm>
          <a:custGeom>
            <a:avLst/>
            <a:gdLst/>
            <a:ahLst/>
            <a:cxnLst/>
            <a:rect r="r" b="b" t="t" l="l"/>
            <a:pathLst>
              <a:path h="866775" w="228600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564103" y="7309507"/>
            <a:ext cx="1008418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Confianza y seguridad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175512" y="7309507"/>
            <a:ext cx="1007324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Confusión y dudas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5595" y="7309507"/>
            <a:ext cx="676420" cy="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Muchos</a:t>
            </a:r>
          </a:p>
          <a:p>
            <a:pPr algn="ctr">
              <a:lnSpc>
                <a:spcPts val="1736"/>
              </a:lnSpc>
            </a:pPr>
            <a:r>
              <a:rPr lang="en-US" b="true" sz="1335" spc="-53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pasos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144284" y="1353406"/>
            <a:ext cx="209601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b="true" sz="2970" spc="-1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565763" y="1353406"/>
            <a:ext cx="24375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b="true" sz="2970" spc="-1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819277" y="1353406"/>
            <a:ext cx="12638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b="true" sz="2970" spc="-1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98838" y="1353406"/>
            <a:ext cx="219414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b="true" sz="2970" spc="-1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9349" y="249873"/>
            <a:ext cx="11226466" cy="137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b="true" sz="5139">
                <a:solidFill>
                  <a:srgbClr val="0A1E3D"/>
                </a:solidFill>
                <a:latin typeface="Poppins Bold"/>
                <a:ea typeface="Poppins Bold"/>
                <a:cs typeface="Poppins Bold"/>
                <a:sym typeface="Poppins Bold"/>
              </a:rPr>
              <a:t>INFLUENCIA DEL DISEÑO WEB Y</a:t>
            </a:r>
          </a:p>
          <a:p>
            <a:pPr algn="ctr">
              <a:lnSpc>
                <a:spcPts val="5139"/>
              </a:lnSpc>
            </a:pPr>
            <a:r>
              <a:rPr lang="en-US" b="true" sz="5139">
                <a:solidFill>
                  <a:srgbClr val="0A1E3D"/>
                </a:solidFill>
                <a:latin typeface="Poppins Bold"/>
                <a:ea typeface="Poppins Bold"/>
                <a:cs typeface="Poppins Bold"/>
                <a:sym typeface="Poppins Bold"/>
              </a:rPr>
              <a:t>LA EXPERIENCIA DE USUARIO (UX)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95700" y="1714500"/>
            <a:ext cx="11334750" cy="219075"/>
          </a:xfrm>
          <a:custGeom>
            <a:avLst/>
            <a:gdLst/>
            <a:ahLst/>
            <a:cxnLst/>
            <a:rect r="r" b="b" t="t" l="l"/>
            <a:pathLst>
              <a:path h="219075" w="11334750">
                <a:moveTo>
                  <a:pt x="0" y="0"/>
                </a:moveTo>
                <a:lnTo>
                  <a:pt x="11334750" y="0"/>
                </a:lnTo>
                <a:lnTo>
                  <a:pt x="1133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2143125"/>
            <a:ext cx="4800600" cy="5572125"/>
          </a:xfrm>
          <a:custGeom>
            <a:avLst/>
            <a:gdLst/>
            <a:ahLst/>
            <a:cxnLst/>
            <a:rect r="r" b="b" t="t" l="l"/>
            <a:pathLst>
              <a:path h="5572125" w="4800600">
                <a:moveTo>
                  <a:pt x="0" y="0"/>
                </a:moveTo>
                <a:lnTo>
                  <a:pt x="4800600" y="0"/>
                </a:lnTo>
                <a:lnTo>
                  <a:pt x="480060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2625" y="2143125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8096" y="3928988"/>
            <a:ext cx="2137166" cy="44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 spc="-57">
                <a:solidFill>
                  <a:srgbClr val="0A1E3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Diseño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6757" y="4713713"/>
            <a:ext cx="2919844" cy="92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b="true" sz="1784" spc="-53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Apariencia visual: colores, imágenes, tipografías</a:t>
            </a:r>
          </a:p>
          <a:p>
            <a:pPr algn="ctr">
              <a:lnSpc>
                <a:spcPts val="2407"/>
              </a:lnSpc>
            </a:pPr>
            <a:r>
              <a:rPr lang="en-US" b="true" sz="1784" spc="-53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 distribución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33550" y="6000750"/>
            <a:ext cx="1104900" cy="857250"/>
          </a:xfrm>
          <a:custGeom>
            <a:avLst/>
            <a:gdLst/>
            <a:ahLst/>
            <a:cxnLst/>
            <a:rect r="r" b="b" t="t" l="l"/>
            <a:pathLst>
              <a:path h="857250" w="1104900">
                <a:moveTo>
                  <a:pt x="0" y="0"/>
                </a:moveTo>
                <a:lnTo>
                  <a:pt x="1104900" y="0"/>
                </a:lnTo>
                <a:lnTo>
                  <a:pt x="1104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28925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14775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9850" y="7496175"/>
            <a:ext cx="3486150" cy="866775"/>
          </a:xfrm>
          <a:custGeom>
            <a:avLst/>
            <a:gdLst/>
            <a:ahLst/>
            <a:cxnLst/>
            <a:rect r="r" b="b" t="t" l="l"/>
            <a:pathLst>
              <a:path h="866775" w="3486150">
                <a:moveTo>
                  <a:pt x="0" y="0"/>
                </a:moveTo>
                <a:lnTo>
                  <a:pt x="3486150" y="0"/>
                </a:lnTo>
                <a:lnTo>
                  <a:pt x="3486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00625" y="1924050"/>
            <a:ext cx="7629525" cy="4295775"/>
          </a:xfrm>
          <a:custGeom>
            <a:avLst/>
            <a:gdLst/>
            <a:ahLst/>
            <a:cxnLst/>
            <a:rect r="r" b="b" t="t" l="l"/>
            <a:pathLst>
              <a:path h="4295775" w="7629525">
                <a:moveTo>
                  <a:pt x="0" y="0"/>
                </a:moveTo>
                <a:lnTo>
                  <a:pt x="7629525" y="0"/>
                </a:lnTo>
                <a:lnTo>
                  <a:pt x="762952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20625" y="2143125"/>
            <a:ext cx="5019675" cy="5572125"/>
          </a:xfrm>
          <a:custGeom>
            <a:avLst/>
            <a:gdLst/>
            <a:ahLst/>
            <a:cxnLst/>
            <a:rect r="r" b="b" t="t" l="l"/>
            <a:pathLst>
              <a:path h="5572125" w="5019675">
                <a:moveTo>
                  <a:pt x="0" y="0"/>
                </a:moveTo>
                <a:lnTo>
                  <a:pt x="5019675" y="0"/>
                </a:lnTo>
                <a:lnTo>
                  <a:pt x="5019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63700" y="214312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83792" y="3597473"/>
            <a:ext cx="2747990" cy="87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 spc="-57">
                <a:solidFill>
                  <a:srgbClr val="113B26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Experiencia de usuario (UX)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7815" y="4714131"/>
            <a:ext cx="3159946" cy="92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4"/>
              </a:lnSpc>
            </a:pPr>
            <a:r>
              <a:rPr lang="en-US" b="true" sz="1863" spc="-55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Interacción y facilidad para realizar acciones dentro</a:t>
            </a:r>
          </a:p>
          <a:p>
            <a:pPr algn="ctr">
              <a:lnSpc>
                <a:spcPts val="2514"/>
              </a:lnSpc>
            </a:pPr>
            <a:r>
              <a:rPr lang="en-US" b="true" sz="1863" spc="-55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la tienda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39700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967472" y="6917999"/>
            <a:ext cx="1096291" cy="46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Navegación intuitiva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144625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155504" y="6917999"/>
            <a:ext cx="921216" cy="46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Búsqueda fácil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240000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206850" y="6917999"/>
            <a:ext cx="1225254" cy="46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Proceso de compra claro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6325850" y="6000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491466" y="6917999"/>
            <a:ext cx="1067038" cy="46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Confianza y seguridad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753850" y="7496175"/>
            <a:ext cx="3486150" cy="866775"/>
          </a:xfrm>
          <a:custGeom>
            <a:avLst/>
            <a:gdLst/>
            <a:ahLst/>
            <a:cxnLst/>
            <a:rect r="r" b="b" t="t" l="l"/>
            <a:pathLst>
              <a:path h="866775" w="3486150">
                <a:moveTo>
                  <a:pt x="0" y="0"/>
                </a:moveTo>
                <a:lnTo>
                  <a:pt x="3486150" y="0"/>
                </a:lnTo>
                <a:lnTo>
                  <a:pt x="3486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96000" y="6638925"/>
            <a:ext cx="5886450" cy="2152650"/>
          </a:xfrm>
          <a:custGeom>
            <a:avLst/>
            <a:gdLst/>
            <a:ahLst/>
            <a:cxnLst/>
            <a:rect r="r" b="b" t="t" l="l"/>
            <a:pathLst>
              <a:path h="2152650" w="5886450">
                <a:moveTo>
                  <a:pt x="0" y="0"/>
                </a:moveTo>
                <a:lnTo>
                  <a:pt x="5886450" y="0"/>
                </a:lnTo>
                <a:lnTo>
                  <a:pt x="5886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489083" y="7080064"/>
            <a:ext cx="4899248" cy="136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3"/>
              </a:lnSpc>
            </a:pPr>
            <a:r>
              <a:rPr lang="en-US" b="true" sz="2047" spc="-60">
                <a:solidFill>
                  <a:srgbClr val="000000">
                    <a:alpha val="89804"/>
                  </a:srgbClr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Una tienda puede ofrecer productos atractivos, pero si resulta difícil de usar, el usuario puede perder el interés</a:t>
            </a:r>
          </a:p>
          <a:p>
            <a:pPr algn="ctr">
              <a:lnSpc>
                <a:spcPts val="2763"/>
              </a:lnSpc>
            </a:pPr>
            <a:r>
              <a:rPr lang="en-US" b="true" sz="2047" spc="-60">
                <a:solidFill>
                  <a:srgbClr val="000000">
                    <a:alpha val="89804"/>
                  </a:srgbClr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antes de comprar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267700" y="5781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828925" y="8782050"/>
            <a:ext cx="11763375" cy="1504950"/>
          </a:xfrm>
          <a:custGeom>
            <a:avLst/>
            <a:gdLst/>
            <a:ahLst/>
            <a:cxnLst/>
            <a:rect r="r" b="b" t="t" l="l"/>
            <a:pathLst>
              <a:path h="1504950" w="11763375">
                <a:moveTo>
                  <a:pt x="0" y="0"/>
                </a:moveTo>
                <a:lnTo>
                  <a:pt x="11763375" y="0"/>
                </a:lnTo>
                <a:lnTo>
                  <a:pt x="11763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48000" y="878205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595114" y="9031784"/>
            <a:ext cx="9453351" cy="75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9804"/>
                  </a:srgbClr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 e-commerce, el diseño y la UX influyen en la confianza,</a:t>
            </a:r>
          </a:p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9804"/>
                  </a:srgbClr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 navegación y la decisión de compra.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80860" y="6917999"/>
            <a:ext cx="1067265" cy="23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Distribución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57298" y="6917999"/>
            <a:ext cx="1013744" cy="23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Tipografías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82454" y="6917999"/>
            <a:ext cx="914224" cy="23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Imágenes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7857" y="6917999"/>
            <a:ext cx="687786" cy="23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441" spc="-42">
                <a:solidFill>
                  <a:srgbClr val="0A1E3D">
                    <a:alpha val="89804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Colores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870" y="422128"/>
            <a:ext cx="8833344" cy="220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1"/>
              </a:lnSpc>
            </a:pPr>
            <a:r>
              <a:rPr lang="en-US" b="true" sz="5211" spc="-208">
                <a:solidFill>
                  <a:srgbClr val="102314"/>
                </a:solidFill>
                <a:latin typeface="Poppins Bold"/>
                <a:ea typeface="Poppins Bold"/>
                <a:cs typeface="Poppins Bold"/>
                <a:sym typeface="Poppins Bold"/>
              </a:rPr>
              <a:t>DISEÑO VISUAL, NAVEGACIÓN Y USABILIDAD EN E-COMMERCE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2781300"/>
            <a:ext cx="2190750" cy="3219450"/>
          </a:xfrm>
          <a:custGeom>
            <a:avLst/>
            <a:gdLst/>
            <a:ahLst/>
            <a:cxnLst/>
            <a:rect r="r" b="b" t="t" l="l"/>
            <a:pathLst>
              <a:path h="3219450" w="2190750">
                <a:moveTo>
                  <a:pt x="0" y="0"/>
                </a:moveTo>
                <a:lnTo>
                  <a:pt x="2190750" y="0"/>
                </a:lnTo>
                <a:lnTo>
                  <a:pt x="21907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3000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6254" y="4019401"/>
            <a:ext cx="2079655" cy="55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-111">
                <a:solidFill>
                  <a:srgbClr val="1C2118"/>
                </a:solidFill>
                <a:latin typeface="Poppins Bold"/>
                <a:ea typeface="Poppins Bold"/>
                <a:cs typeface="Poppins Bold"/>
                <a:sym typeface="Poppins Bold"/>
              </a:rPr>
              <a:t>Primera impresión y confianza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6872" y="4970648"/>
            <a:ext cx="1927685" cy="58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71" b="true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Identidad visual coherente e imágenes de calidad transmiten profesionalidad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9850" y="2781300"/>
            <a:ext cx="2400300" cy="3219450"/>
          </a:xfrm>
          <a:custGeom>
            <a:avLst/>
            <a:gdLst/>
            <a:ahLst/>
            <a:cxnLst/>
            <a:rect r="r" b="b" t="t" l="l"/>
            <a:pathLst>
              <a:path h="3219450" w="240030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6625" y="300037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94648" y="4019401"/>
            <a:ext cx="1370423" cy="55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-111">
                <a:solidFill>
                  <a:srgbClr val="1C2118"/>
                </a:solidFill>
                <a:latin typeface="Poppins Bold"/>
                <a:ea typeface="Poppins Bold"/>
                <a:cs typeface="Poppins Bold"/>
                <a:sym typeface="Poppins Bold"/>
              </a:rPr>
              <a:t>Navegación intuitiva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4377" y="4943635"/>
            <a:ext cx="1570966" cy="6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1"/>
              </a:lnSpc>
            </a:pPr>
            <a:r>
              <a:rPr lang="en-US" b="true" sz="1265" spc="-76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Categorías, menús y buscador ayudan a encontrar productos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00625" y="2781300"/>
            <a:ext cx="2409825" cy="3219450"/>
          </a:xfrm>
          <a:custGeom>
            <a:avLst/>
            <a:gdLst/>
            <a:ahLst/>
            <a:cxnLst/>
            <a:rect r="r" b="b" t="t" l="l"/>
            <a:pathLst>
              <a:path h="3219450" w="2409825">
                <a:moveTo>
                  <a:pt x="0" y="0"/>
                </a:moveTo>
                <a:lnTo>
                  <a:pt x="2409825" y="0"/>
                </a:lnTo>
                <a:lnTo>
                  <a:pt x="2409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76925" y="30003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04101" y="4943635"/>
            <a:ext cx="1444633" cy="6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265" spc="-76" b="true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Botones claros y acciones fáciles de realizar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00925" y="2781300"/>
            <a:ext cx="2181225" cy="3219450"/>
          </a:xfrm>
          <a:custGeom>
            <a:avLst/>
            <a:gdLst/>
            <a:ahLst/>
            <a:cxnLst/>
            <a:rect r="r" b="b" t="t" l="l"/>
            <a:pathLst>
              <a:path h="3219450" w="2181225">
                <a:moveTo>
                  <a:pt x="0" y="0"/>
                </a:moveTo>
                <a:lnTo>
                  <a:pt x="2181225" y="0"/>
                </a:lnTo>
                <a:lnTo>
                  <a:pt x="2181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48625" y="300037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82246" y="4019401"/>
            <a:ext cx="1927619" cy="5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b="true" sz="1784" spc="-107">
                <a:solidFill>
                  <a:srgbClr val="1C2118"/>
                </a:solidFill>
                <a:latin typeface="Poppins Bold"/>
                <a:ea typeface="Poppins Bold"/>
                <a:cs typeface="Poppins Bold"/>
                <a:sym typeface="Poppins Bold"/>
              </a:rPr>
              <a:t>Velocidad y experiencia móvil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3405" y="4943634"/>
            <a:ext cx="1789921" cy="6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265" spc="-76" b="true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Carga rápida y adaptación a pantallas pequeñas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924925" y="209550"/>
            <a:ext cx="7629525" cy="5362575"/>
          </a:xfrm>
          <a:custGeom>
            <a:avLst/>
            <a:gdLst/>
            <a:ahLst/>
            <a:cxnLst/>
            <a:rect r="r" b="b" t="t" l="l"/>
            <a:pathLst>
              <a:path h="5362575" w="7629525">
                <a:moveTo>
                  <a:pt x="0" y="0"/>
                </a:moveTo>
                <a:lnTo>
                  <a:pt x="7629525" y="0"/>
                </a:lnTo>
                <a:lnTo>
                  <a:pt x="762952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40000" y="1066800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49550" y="106680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668625" y="106680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8925" y="1495425"/>
            <a:ext cx="2400300" cy="3009900"/>
          </a:xfrm>
          <a:custGeom>
            <a:avLst/>
            <a:gdLst/>
            <a:ahLst/>
            <a:cxnLst/>
            <a:rect r="r" b="b" t="t" l="l"/>
            <a:pathLst>
              <a:path h="3009900" w="2400300">
                <a:moveTo>
                  <a:pt x="0" y="0"/>
                </a:moveTo>
                <a:lnTo>
                  <a:pt x="2400300" y="0"/>
                </a:lnTo>
                <a:lnTo>
                  <a:pt x="2400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374363" y="1964494"/>
            <a:ext cx="2016821" cy="75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b="true" sz="2575" spc="-103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HECHO PARA DESTACAR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77691" y="2824822"/>
            <a:ext cx="1683983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94" spc="-59">
                <a:solidFill>
                  <a:srgbClr val="1C2118"/>
                </a:solidFill>
                <a:latin typeface="Poppins Light"/>
                <a:ea typeface="Poppins Light"/>
                <a:cs typeface="Poppins Light"/>
                <a:sym typeface="Poppins Light"/>
              </a:rPr>
              <a:t>Ropa que refleja tu actitud y estilo.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277850" y="3429000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668000" y="449580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137574" y="4363694"/>
            <a:ext cx="878639" cy="59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Envío gratis</a:t>
            </a:r>
          </a:p>
          <a:p>
            <a:pPr algn="ctr">
              <a:lnSpc>
                <a:spcPts val="1574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pasivos +25%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401550" y="44958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907405" y="4265467"/>
            <a:ext cx="767976" cy="79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Pago seguro</a:t>
            </a:r>
          </a:p>
          <a:p>
            <a:pPr algn="ctr">
              <a:lnSpc>
                <a:spcPts val="1575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100% confiable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144625" y="44958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68625" y="1714500"/>
            <a:ext cx="2190750" cy="4286250"/>
          </a:xfrm>
          <a:custGeom>
            <a:avLst/>
            <a:gdLst/>
            <a:ahLst/>
            <a:cxnLst/>
            <a:rect r="r" b="b" t="t" l="l"/>
            <a:pathLst>
              <a:path h="4286250" w="2190750">
                <a:moveTo>
                  <a:pt x="0" y="0"/>
                </a:moveTo>
                <a:lnTo>
                  <a:pt x="2190750" y="0"/>
                </a:lnTo>
                <a:lnTo>
                  <a:pt x="21907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887700" y="2143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192625" y="2143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085642" y="2753618"/>
            <a:ext cx="1282898" cy="48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b="true" sz="1617" spc="-64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HECHO PARA DESTACAR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96156" y="3159701"/>
            <a:ext cx="1122655" cy="59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-45">
                <a:solidFill>
                  <a:srgbClr val="1C2118"/>
                </a:solidFill>
                <a:latin typeface="Poppins Light"/>
                <a:ea typeface="Poppins Light"/>
                <a:cs typeface="Poppins Light"/>
                <a:sym typeface="Poppins Light"/>
              </a:rPr>
              <a:t>Ropa que refleja tu actitud y estilo.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6106775" y="3638550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887700" y="4714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6764000" y="4714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47700" y="6210300"/>
            <a:ext cx="8496300" cy="2581275"/>
          </a:xfrm>
          <a:custGeom>
            <a:avLst/>
            <a:gdLst/>
            <a:ahLst/>
            <a:cxnLst/>
            <a:rect r="r" b="b" t="t" l="l"/>
            <a:pathLst>
              <a:path h="2581275" w="8496300">
                <a:moveTo>
                  <a:pt x="0" y="0"/>
                </a:moveTo>
                <a:lnTo>
                  <a:pt x="8496300" y="0"/>
                </a:lnTo>
                <a:lnTo>
                  <a:pt x="8496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47700" y="6210300"/>
            <a:ext cx="8496300" cy="647700"/>
          </a:xfrm>
          <a:custGeom>
            <a:avLst/>
            <a:gdLst/>
            <a:ahLst/>
            <a:cxnLst/>
            <a:rect r="r" b="b" t="t" l="l"/>
            <a:pathLst>
              <a:path h="647700" w="8496300">
                <a:moveTo>
                  <a:pt x="0" y="0"/>
                </a:moveTo>
                <a:lnTo>
                  <a:pt x="8496300" y="0"/>
                </a:lnTo>
                <a:lnTo>
                  <a:pt x="849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85850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390775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512866" y="8057851"/>
            <a:ext cx="782137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Menú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complejo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3695700" y="7067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781550" y="7067550"/>
            <a:ext cx="1104900" cy="866775"/>
          </a:xfrm>
          <a:custGeom>
            <a:avLst/>
            <a:gdLst/>
            <a:ahLst/>
            <a:cxnLst/>
            <a:rect r="r" b="b" t="t" l="l"/>
            <a:pathLst>
              <a:path h="866775" w="1104900">
                <a:moveTo>
                  <a:pt x="0" y="0"/>
                </a:moveTo>
                <a:lnTo>
                  <a:pt x="1104900" y="0"/>
                </a:lnTo>
                <a:lnTo>
                  <a:pt x="110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876925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5864524" y="8057851"/>
            <a:ext cx="1067016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Demasiadas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opciones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7400925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705850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144000" y="6210300"/>
            <a:ext cx="8496300" cy="2581275"/>
          </a:xfrm>
          <a:custGeom>
            <a:avLst/>
            <a:gdLst/>
            <a:ahLst/>
            <a:cxnLst/>
            <a:rect r="r" b="b" t="t" l="l"/>
            <a:pathLst>
              <a:path h="2581275" w="8496300">
                <a:moveTo>
                  <a:pt x="0" y="0"/>
                </a:moveTo>
                <a:lnTo>
                  <a:pt x="8496300" y="0"/>
                </a:lnTo>
                <a:lnTo>
                  <a:pt x="8496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144000" y="6210300"/>
            <a:ext cx="8496300" cy="647700"/>
          </a:xfrm>
          <a:custGeom>
            <a:avLst/>
            <a:gdLst/>
            <a:ahLst/>
            <a:cxnLst/>
            <a:rect r="r" b="b" t="t" l="l"/>
            <a:pathLst>
              <a:path h="647700" w="8496300">
                <a:moveTo>
                  <a:pt x="0" y="0"/>
                </a:moveTo>
                <a:lnTo>
                  <a:pt x="8496300" y="0"/>
                </a:lnTo>
                <a:lnTo>
                  <a:pt x="849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0010775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1534775" y="7067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1549527" y="8057851"/>
            <a:ext cx="925376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Categorías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claras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3058775" y="7067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582775" y="7067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106775" y="7067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6209877" y="8057851"/>
            <a:ext cx="1034428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Compra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completada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647700" y="8782050"/>
            <a:ext cx="16992600" cy="1295400"/>
          </a:xfrm>
          <a:custGeom>
            <a:avLst/>
            <a:gdLst/>
            <a:ahLst/>
            <a:cxnLst/>
            <a:rect r="r" b="b" t="t" l="l"/>
            <a:pathLst>
              <a:path h="1295400" w="16992600">
                <a:moveTo>
                  <a:pt x="0" y="0"/>
                </a:moveTo>
                <a:lnTo>
                  <a:pt x="16992600" y="0"/>
                </a:lnTo>
                <a:lnTo>
                  <a:pt x="1699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733550" y="9001125"/>
            <a:ext cx="1104900" cy="857250"/>
          </a:xfrm>
          <a:custGeom>
            <a:avLst/>
            <a:gdLst/>
            <a:ahLst/>
            <a:cxnLst/>
            <a:rect r="r" b="b" t="t" l="l"/>
            <a:pathLst>
              <a:path h="857250" w="1104900">
                <a:moveTo>
                  <a:pt x="0" y="0"/>
                </a:moveTo>
                <a:lnTo>
                  <a:pt x="1104900" y="0"/>
                </a:lnTo>
                <a:lnTo>
                  <a:pt x="1104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2616640" y="9132039"/>
            <a:ext cx="13161698" cy="62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b="true" sz="4170" spc="-207">
                <a:solidFill>
                  <a:srgbClr val="F8F8F8"/>
                </a:solidFill>
                <a:latin typeface="Poppins Bold"/>
                <a:ea typeface="Poppins Bold"/>
                <a:cs typeface="Poppins Bold"/>
                <a:sym typeface="Poppins Bold"/>
              </a:rPr>
              <a:t>Una tienda atractiva también debe ser fácil de usar.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6106775" y="9001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3502853" y="6415348"/>
            <a:ext cx="2696756" cy="28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-74">
                <a:solidFill>
                  <a:srgbClr val="F8F8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NAVEGACIÓN CONFUSA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059048" y="6415348"/>
            <a:ext cx="2679002" cy="28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-74">
                <a:solidFill>
                  <a:srgbClr val="F8F8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NAVEGACIÓN INTUITIVA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803638" y="8057851"/>
            <a:ext cx="879498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Buscar sin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resultados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08838" y="8057851"/>
            <a:ext cx="821442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Buscar y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encontrar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823610" y="8057851"/>
            <a:ext cx="753009" cy="41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Producto</a:t>
            </a:r>
          </a:p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deseado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49284" y="1100025"/>
            <a:ext cx="1092702" cy="19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1C2118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BUILT DIFFERENT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594487" y="4028926"/>
            <a:ext cx="1124886" cy="2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1740" spc="-104">
                <a:solidFill>
                  <a:srgbClr val="1C2118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Usabilidad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684245" y="4363694"/>
            <a:ext cx="696874" cy="59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Revoluciones</a:t>
            </a:r>
          </a:p>
          <a:p>
            <a:pPr algn="ctr">
              <a:lnSpc>
                <a:spcPts val="1574"/>
              </a:lnSpc>
            </a:pPr>
            <a:r>
              <a:rPr lang="en-US" b="true" sz="1125" spc="-67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lácteo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613154" y="3544456"/>
            <a:ext cx="901671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F8F8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 COLECCIÓN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470443" y="8057851"/>
            <a:ext cx="886092" cy="21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Abandono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251850" y="2250802"/>
            <a:ext cx="911132" cy="17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1C2118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BUILT DIFFERENT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938812" y="7355160"/>
            <a:ext cx="395196" cy="38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b="true" sz="2443" spc="-97">
                <a:solidFill>
                  <a:srgbClr val="F8F8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6294740" y="3695144"/>
            <a:ext cx="901671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F8F8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 COLECCIÓN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412225" y="1003961"/>
            <a:ext cx="320300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TENDA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75138" y="8057851"/>
            <a:ext cx="432265" cy="21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Inicio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42317" y="8057851"/>
            <a:ext cx="432265" cy="21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b="true" sz="1335" spc="-80">
                <a:solidFill>
                  <a:srgbClr val="1C21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Inicio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273034" y="1003961"/>
            <a:ext cx="562392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668171" y="1003961"/>
            <a:ext cx="486243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HORÓTOS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940852" y="5358858"/>
            <a:ext cx="477412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Cantistas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158458" y="5358858"/>
            <a:ext cx="381278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4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Heades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412225" y="1003961"/>
            <a:ext cx="320300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TENDA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844057" y="1003961"/>
            <a:ext cx="276845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-45">
                <a:solidFill>
                  <a:srgbClr val="1C21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9369" y="373036"/>
            <a:ext cx="14596745" cy="77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6"/>
              </a:lnSpc>
            </a:pPr>
            <a:r>
              <a:rPr lang="en-US" b="true" sz="5416" spc="-269">
                <a:solidFill>
                  <a:srgbClr val="132818"/>
                </a:solidFill>
                <a:latin typeface="Poppins Bold"/>
                <a:ea typeface="Poppins Bold"/>
                <a:cs typeface="Poppins Bold"/>
                <a:sym typeface="Poppins Bold"/>
              </a:rPr>
              <a:t>FICHA DE PRODUCTO Y DECISIÓN DE COMPRA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497682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1497682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354" y="1705390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0828" y="2764860"/>
            <a:ext cx="2223492" cy="6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b="true" sz="2254" spc="-112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INFORMACIÓN ESENCIAL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42" y="3699686"/>
            <a:ext cx="1497595" cy="76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617" spc="-8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Nombre, precio, disponibilidad y variantes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138034"/>
            <a:ext cx="2843828" cy="3224936"/>
          </a:xfrm>
          <a:custGeom>
            <a:avLst/>
            <a:gdLst/>
            <a:ahLst/>
            <a:cxnLst/>
            <a:rect r="r" b="b" t="t" l="l"/>
            <a:pathLst>
              <a:path h="3224936" w="2843828">
                <a:moveTo>
                  <a:pt x="0" y="0"/>
                </a:moveTo>
                <a:lnTo>
                  <a:pt x="2843828" y="0"/>
                </a:lnTo>
                <a:lnTo>
                  <a:pt x="2843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513803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0354" y="535667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0828" y="6243914"/>
            <a:ext cx="2223492" cy="6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b="true" sz="2254" spc="-112" u="sng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IMÁGENES Y DESCRIPCIÓN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775" y="7224030"/>
            <a:ext cx="2223129" cy="76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617" spc="-8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Fotografías claras, detalles relevantes y beneficios del producto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59464" y="3214004"/>
            <a:ext cx="1312536" cy="218640"/>
          </a:xfrm>
          <a:custGeom>
            <a:avLst/>
            <a:gdLst/>
            <a:ahLst/>
            <a:cxnLst/>
            <a:rect r="r" b="b" t="t" l="l"/>
            <a:pathLst>
              <a:path h="218640" w="1312536">
                <a:moveTo>
                  <a:pt x="0" y="0"/>
                </a:moveTo>
                <a:lnTo>
                  <a:pt x="1312536" y="0"/>
                </a:lnTo>
                <a:lnTo>
                  <a:pt x="131253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259464" y="6428009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96976" y="1497682"/>
            <a:ext cx="10675292" cy="7083928"/>
          </a:xfrm>
          <a:custGeom>
            <a:avLst/>
            <a:gdLst/>
            <a:ahLst/>
            <a:cxnLst/>
            <a:rect r="r" b="b" t="t" l="l"/>
            <a:pathLst>
              <a:path h="7083928" w="10675292">
                <a:moveTo>
                  <a:pt x="0" y="0"/>
                </a:moveTo>
                <a:lnTo>
                  <a:pt x="10675292" y="0"/>
                </a:lnTo>
                <a:lnTo>
                  <a:pt x="10675292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89863" y="2160711"/>
            <a:ext cx="1253590" cy="21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b="true" sz="1617" spc="-80">
                <a:solidFill>
                  <a:srgbClr val="2B2B2B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BUILT  DIFFERENT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2920" y="2150982"/>
            <a:ext cx="1599501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b="true" sz="1265" spc="-63">
                <a:solidFill>
                  <a:srgbClr val="A6A6A6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INICIO     CATEGORÍAS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29205" y="2141498"/>
            <a:ext cx="615556" cy="17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4"/>
              </a:lnSpc>
            </a:pPr>
            <a:r>
              <a:rPr lang="en-US" b="true" sz="1195" spc="-59">
                <a:solidFill>
                  <a:srgbClr val="A6A6A6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44189V3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88757" y="2150982"/>
            <a:ext cx="1071936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A6A6A6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COLECCIONES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184708" y="1924030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779818" y="256901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779818" y="342171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779818" y="4285339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779818" y="5138034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54842" y="2569017"/>
            <a:ext cx="3707914" cy="4077631"/>
          </a:xfrm>
          <a:custGeom>
            <a:avLst/>
            <a:gdLst/>
            <a:ahLst/>
            <a:cxnLst/>
            <a:rect r="r" b="b" t="t" l="l"/>
            <a:pathLst>
              <a:path h="4077631" w="3707914">
                <a:moveTo>
                  <a:pt x="0" y="0"/>
                </a:moveTo>
                <a:lnTo>
                  <a:pt x="3707914" y="0"/>
                </a:lnTo>
                <a:lnTo>
                  <a:pt x="370791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702202" y="2798267"/>
            <a:ext cx="2222751" cy="27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spc="-95" b="true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Hoodie Skull Flame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70574" y="3848060"/>
            <a:ext cx="1323474" cy="448211"/>
          </a:xfrm>
          <a:custGeom>
            <a:avLst/>
            <a:gdLst/>
            <a:ahLst/>
            <a:cxnLst/>
            <a:rect r="r" b="b" t="t" l="l"/>
            <a:pathLst>
              <a:path h="448211" w="1323474">
                <a:moveTo>
                  <a:pt x="0" y="0"/>
                </a:moveTo>
                <a:lnTo>
                  <a:pt x="1323474" y="0"/>
                </a:lnTo>
                <a:lnTo>
                  <a:pt x="132347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70574" y="4493047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714974" y="5576379"/>
            <a:ext cx="945588" cy="1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56">
                <a:solidFill>
                  <a:srgbClr val="132818"/>
                </a:solidFill>
                <a:latin typeface="Poppins"/>
                <a:ea typeface="Poppins"/>
                <a:cs typeface="Poppins"/>
                <a:sym typeface="Poppins"/>
              </a:rPr>
              <a:t>💸 Disponible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570574" y="5783021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883110" y="5783021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356009" y="6036679"/>
            <a:ext cx="1471004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b="true" sz="1265" spc="-6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AÑADIR AL CARRITO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998574" y="706206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78326" y="7121059"/>
            <a:ext cx="811138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OPINIONES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5654842" y="7280704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612708" y="706206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319786" y="7121059"/>
            <a:ext cx="1161252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DEVOLUCIONES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17474" y="7336393"/>
            <a:ext cx="1392418" cy="37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4" spc="-5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Devoluciones fáciles y sin complicaciones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0445598" y="706206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240475" y="7121059"/>
            <a:ext cx="1093140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PAGO SEGURO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39728" y="7247144"/>
            <a:ext cx="1167790" cy="5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5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Múltiples métodos</a:t>
            </a:r>
          </a:p>
          <a:p>
            <a:pPr algn="l">
              <a:lnSpc>
                <a:spcPts val="1462"/>
              </a:lnSpc>
            </a:pPr>
            <a:r>
              <a:rPr lang="en-US" sz="1125" spc="-5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de pago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3716000" y="3421712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716000" y="642800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798842" y="1497682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798842" y="1497682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5892622" y="1705390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5162609" y="2909053"/>
            <a:ext cx="2116336" cy="33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b="true" sz="2254" spc="-112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CONFIANZA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27827" y="3699686"/>
            <a:ext cx="2311964" cy="76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617" spc="-8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Opiniones, devoluciones y métodos de pago visibles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4798842" y="5138034"/>
            <a:ext cx="2843828" cy="3224936"/>
          </a:xfrm>
          <a:custGeom>
            <a:avLst/>
            <a:gdLst/>
            <a:ahLst/>
            <a:cxnLst/>
            <a:rect r="r" b="b" t="t" l="l"/>
            <a:pathLst>
              <a:path h="3224936" w="2843828">
                <a:moveTo>
                  <a:pt x="0" y="0"/>
                </a:moveTo>
                <a:lnTo>
                  <a:pt x="2843828" y="0"/>
                </a:lnTo>
                <a:lnTo>
                  <a:pt x="2843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4798842" y="513803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673866" y="535667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5162609" y="6274036"/>
            <a:ext cx="2116336" cy="6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b="true" sz="2254" spc="-112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DECISIÓN DE COMPRA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181148" y="7223922"/>
            <a:ext cx="2036933" cy="76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617" spc="-8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Botón de compra destacado y proceso fácil de entender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645330" y="8778386"/>
            <a:ext cx="16997340" cy="1300906"/>
          </a:xfrm>
          <a:custGeom>
            <a:avLst/>
            <a:gdLst/>
            <a:ahLst/>
            <a:cxnLst/>
            <a:rect r="r" b="b" t="t" l="l"/>
            <a:pathLst>
              <a:path h="1300906" w="16997340">
                <a:moveTo>
                  <a:pt x="0" y="0"/>
                </a:moveTo>
                <a:lnTo>
                  <a:pt x="16997340" y="0"/>
                </a:lnTo>
                <a:lnTo>
                  <a:pt x="16997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986220" y="8997026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910282" y="9242594"/>
            <a:ext cx="14046134" cy="43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5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Una ficha completa y clara reduce dudas y ayuda al consumidor a decidir.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6100440" y="8778386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9702209" y="3151710"/>
            <a:ext cx="2222073" cy="37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5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Hoodie oversize con estampado gráfico en la espalda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9147" y="3747431"/>
            <a:ext cx="528251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2B2B2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COLOR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19994" y="4470351"/>
            <a:ext cx="443601" cy="1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b="true" sz="1265" spc="-63">
                <a:solidFill>
                  <a:srgbClr val="2B2B2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TALLA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22828" y="5199104"/>
            <a:ext cx="160206" cy="29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b="true" sz="1986" spc="-98">
                <a:solidFill>
                  <a:srgbClr val="13281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6000750"/>
          </a:xfrm>
          <a:custGeom>
            <a:avLst/>
            <a:gdLst/>
            <a:ahLst/>
            <a:cxnLst/>
            <a:rect r="r" b="b" t="t" l="l"/>
            <a:pathLst>
              <a:path h="6000750" w="18288000">
                <a:moveTo>
                  <a:pt x="0" y="0"/>
                </a:moveTo>
                <a:lnTo>
                  <a:pt x="18288000" y="0"/>
                </a:lnTo>
                <a:lnTo>
                  <a:pt x="18288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8625" y="857250"/>
            <a:ext cx="2619375" cy="5572125"/>
          </a:xfrm>
          <a:custGeom>
            <a:avLst/>
            <a:gdLst/>
            <a:ahLst/>
            <a:cxnLst/>
            <a:rect r="r" b="b" t="t" l="l"/>
            <a:pathLst>
              <a:path h="5572125" w="2619375">
                <a:moveTo>
                  <a:pt x="0" y="0"/>
                </a:moveTo>
                <a:lnTo>
                  <a:pt x="2619375" y="0"/>
                </a:lnTo>
                <a:lnTo>
                  <a:pt x="26193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4925" y="1495425"/>
            <a:ext cx="6972300" cy="4933950"/>
          </a:xfrm>
          <a:custGeom>
            <a:avLst/>
            <a:gdLst/>
            <a:ahLst/>
            <a:cxnLst/>
            <a:rect r="r" b="b" t="t" l="l"/>
            <a:pathLst>
              <a:path h="4933950" w="6972300">
                <a:moveTo>
                  <a:pt x="0" y="0"/>
                </a:moveTo>
                <a:lnTo>
                  <a:pt x="6972300" y="0"/>
                </a:lnTo>
                <a:lnTo>
                  <a:pt x="6972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2775" y="3429000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9652" y="1085850"/>
            <a:ext cx="9472697" cy="97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spc="-340" b="true">
                <a:solidFill>
                  <a:srgbClr val="F8F8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Del interés a la compra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8112" y="2848161"/>
            <a:ext cx="3528632" cy="54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b="true" sz="2970" spc="-73">
                <a:solidFill>
                  <a:srgbClr val="7FBD4A"/>
                </a:solidFill>
                <a:latin typeface="Poppins Bold"/>
                <a:ea typeface="Poppins Bold"/>
                <a:cs typeface="Poppins Bold"/>
                <a:sym typeface="Poppins Bold"/>
              </a:rPr>
              <a:t>Carrito y checkout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297" y="3445092"/>
            <a:ext cx="4294499" cy="46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763" indent="-268381" lvl="1">
              <a:lnSpc>
                <a:spcPts val="3730"/>
              </a:lnSpc>
              <a:buFont typeface="Arial"/>
              <a:buChar char="•"/>
            </a:pPr>
            <a:r>
              <a:rPr lang="en-US" sz="2487" spc="-61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Proceso simple y rapido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028" y="3972502"/>
            <a:ext cx="5021446" cy="46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763" indent="-268381" lvl="1">
              <a:lnSpc>
                <a:spcPts val="3730"/>
              </a:lnSpc>
              <a:buFont typeface="Arial"/>
              <a:buChar char="•"/>
            </a:pPr>
            <a:r>
              <a:rPr lang="en-US" sz="2487" spc="-61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Menos pasos y costes claros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" y="4484843"/>
            <a:ext cx="7133031" cy="46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763" indent="-268381" lvl="1">
              <a:lnSpc>
                <a:spcPts val="3730"/>
              </a:lnSpc>
              <a:buFont typeface="Arial"/>
              <a:buChar char="•"/>
            </a:pPr>
            <a:r>
              <a:rPr lang="en-US" sz="2487" spc="-61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Checkout optimizado = menos abandono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90775" y="7496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81550" y="7496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19700" y="6638925"/>
            <a:ext cx="4581525" cy="2581275"/>
          </a:xfrm>
          <a:custGeom>
            <a:avLst/>
            <a:gdLst/>
            <a:ahLst/>
            <a:cxnLst/>
            <a:rect r="r" b="b" t="t" l="l"/>
            <a:pathLst>
              <a:path h="2581275" w="4581525">
                <a:moveTo>
                  <a:pt x="0" y="0"/>
                </a:moveTo>
                <a:lnTo>
                  <a:pt x="4581525" y="0"/>
                </a:lnTo>
                <a:lnTo>
                  <a:pt x="45815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38775" y="706755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62775" y="7067550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46457" y="7125277"/>
            <a:ext cx="2053498" cy="73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spc="-262" b="true">
                <a:solidFill>
                  <a:srgbClr val="0F2C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70,19%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5123" y="7964240"/>
            <a:ext cx="1971494" cy="64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-43">
                <a:solidFill>
                  <a:srgbClr val="0F2C1B"/>
                </a:solidFill>
                <a:latin typeface="Poppins Bold"/>
                <a:ea typeface="Poppins Bold"/>
                <a:cs typeface="Poppins Bold"/>
                <a:sym typeface="Poppins Bold"/>
              </a:rPr>
              <a:t>Abandono medio del carrito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010775" y="6638925"/>
            <a:ext cx="5019675" cy="2581275"/>
          </a:xfrm>
          <a:custGeom>
            <a:avLst/>
            <a:gdLst/>
            <a:ahLst/>
            <a:cxnLst/>
            <a:rect r="r" b="b" t="t" l="l"/>
            <a:pathLst>
              <a:path h="2581275" w="5019675">
                <a:moveTo>
                  <a:pt x="0" y="0"/>
                </a:moveTo>
                <a:lnTo>
                  <a:pt x="5019675" y="0"/>
                </a:lnTo>
                <a:lnTo>
                  <a:pt x="50196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8925" y="72866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34775" y="7067550"/>
            <a:ext cx="447675" cy="1724025"/>
          </a:xfrm>
          <a:custGeom>
            <a:avLst/>
            <a:gdLst/>
            <a:ahLst/>
            <a:cxnLst/>
            <a:rect r="r" b="b" t="t" l="l"/>
            <a:pathLst>
              <a:path h="1724025" w="447675">
                <a:moveTo>
                  <a:pt x="0" y="0"/>
                </a:moveTo>
                <a:lnTo>
                  <a:pt x="447675" y="0"/>
                </a:lnTo>
                <a:lnTo>
                  <a:pt x="44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17387" y="7084561"/>
            <a:ext cx="3053489" cy="59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4308" spc="-214" b="true">
                <a:solidFill>
                  <a:srgbClr val="0F2C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Hasta +35%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37523" y="7783679"/>
            <a:ext cx="2490978" cy="101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1784" spc="-44">
                <a:solidFill>
                  <a:srgbClr val="0F2C1B"/>
                </a:solidFill>
                <a:latin typeface="Poppins Bold"/>
                <a:ea typeface="Poppins Bold"/>
                <a:cs typeface="Poppins Bold"/>
                <a:sym typeface="Poppins Bold"/>
              </a:rPr>
              <a:t>de mejora potencial en conversion al optimizar el checkout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020925" y="72866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28625" y="6638925"/>
            <a:ext cx="1971675" cy="2152650"/>
          </a:xfrm>
          <a:custGeom>
            <a:avLst/>
            <a:gdLst/>
            <a:ahLst/>
            <a:cxnLst/>
            <a:rect r="r" b="b" t="t" l="l"/>
            <a:pathLst>
              <a:path h="2152650" w="1971675">
                <a:moveTo>
                  <a:pt x="0" y="0"/>
                </a:moveTo>
                <a:lnTo>
                  <a:pt x="1971675" y="0"/>
                </a:lnTo>
                <a:lnTo>
                  <a:pt x="19716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048000" y="6858000"/>
            <a:ext cx="1743075" cy="1714500"/>
          </a:xfrm>
          <a:custGeom>
            <a:avLst/>
            <a:gdLst/>
            <a:ahLst/>
            <a:cxnLst/>
            <a:rect r="r" b="b" t="t" l="l"/>
            <a:pathLst>
              <a:path h="1714500" w="1743075">
                <a:moveTo>
                  <a:pt x="0" y="0"/>
                </a:moveTo>
                <a:lnTo>
                  <a:pt x="1743075" y="0"/>
                </a:lnTo>
                <a:lnTo>
                  <a:pt x="1743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106775" y="68580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1066800"/>
            <a:ext cx="7839075" cy="9220200"/>
          </a:xfrm>
          <a:custGeom>
            <a:avLst/>
            <a:gdLst/>
            <a:ahLst/>
            <a:cxnLst/>
            <a:rect r="r" b="b" t="t" l="l"/>
            <a:pathLst>
              <a:path h="9220200" w="7839075">
                <a:moveTo>
                  <a:pt x="0" y="0"/>
                </a:moveTo>
                <a:lnTo>
                  <a:pt x="7839075" y="0"/>
                </a:lnTo>
                <a:lnTo>
                  <a:pt x="783907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6158" y="813810"/>
            <a:ext cx="5749833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272" b="true">
                <a:solidFill>
                  <a:srgbClr val="09141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Conversión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6825" y="2272996"/>
            <a:ext cx="7922651" cy="39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996" spc="-59" b="true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Experiencia móvil, confianza y persuasión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71700" y="3000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6062" y="3007902"/>
            <a:ext cx="7313414" cy="34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Diseño responsive y carga rápida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1700" y="34290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86062" y="3640793"/>
            <a:ext cx="7313414" cy="34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Opiniones, devoluciones y pagos visibles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71700" y="40671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6062" y="4273685"/>
            <a:ext cx="7313414" cy="34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Personalización y recomendaciones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71700" y="4714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86062" y="4876439"/>
            <a:ext cx="7313414" cy="34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Menos dudas, mayor probabilidad de compra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8625" y="5572125"/>
            <a:ext cx="3495675" cy="2571750"/>
          </a:xfrm>
          <a:custGeom>
            <a:avLst/>
            <a:gdLst/>
            <a:ahLst/>
            <a:cxnLst/>
            <a:rect r="r" b="b" t="t" l="l"/>
            <a:pathLst>
              <a:path h="2571750" w="3495675">
                <a:moveTo>
                  <a:pt x="0" y="0"/>
                </a:moveTo>
                <a:lnTo>
                  <a:pt x="3495675" y="0"/>
                </a:lnTo>
                <a:lnTo>
                  <a:pt x="3495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24000" y="5781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914775" y="5572125"/>
            <a:ext cx="3276600" cy="2571750"/>
          </a:xfrm>
          <a:custGeom>
            <a:avLst/>
            <a:gdLst/>
            <a:ahLst/>
            <a:cxnLst/>
            <a:rect r="r" b="b" t="t" l="l"/>
            <a:pathLst>
              <a:path h="2571750" w="3276600">
                <a:moveTo>
                  <a:pt x="0" y="0"/>
                </a:moveTo>
                <a:lnTo>
                  <a:pt x="3276600" y="0"/>
                </a:lnTo>
                <a:lnTo>
                  <a:pt x="3276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81550" y="5781675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39828" y="7228052"/>
            <a:ext cx="2464594" cy="74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2399" spc="-23">
                <a:solidFill>
                  <a:srgbClr val="15382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Devoluciones</a:t>
            </a:r>
          </a:p>
          <a:p>
            <a:pPr algn="ctr">
              <a:lnSpc>
                <a:spcPts val="2880"/>
              </a:lnSpc>
            </a:pPr>
            <a:r>
              <a:rPr lang="en-US" b="true" sz="2399" spc="-23">
                <a:solidFill>
                  <a:srgbClr val="15382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fáciles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181850" y="5572125"/>
            <a:ext cx="3486150" cy="2571750"/>
          </a:xfrm>
          <a:custGeom>
            <a:avLst/>
            <a:gdLst/>
            <a:ahLst/>
            <a:cxnLst/>
            <a:rect r="r" b="b" t="t" l="l"/>
            <a:pathLst>
              <a:path h="2571750" w="3486150">
                <a:moveTo>
                  <a:pt x="0" y="0"/>
                </a:moveTo>
                <a:lnTo>
                  <a:pt x="3486150" y="0"/>
                </a:lnTo>
                <a:lnTo>
                  <a:pt x="3486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67700" y="5781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634883" y="7228052"/>
            <a:ext cx="2625328" cy="74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2399" spc="-23">
                <a:solidFill>
                  <a:srgbClr val="15382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Buenas opiniones de clientes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28625" y="8143875"/>
            <a:ext cx="11115675" cy="1714500"/>
          </a:xfrm>
          <a:custGeom>
            <a:avLst/>
            <a:gdLst/>
            <a:ahLst/>
            <a:cxnLst/>
            <a:rect r="r" b="b" t="t" l="l"/>
            <a:pathLst>
              <a:path h="1714500" w="11115675">
                <a:moveTo>
                  <a:pt x="0" y="0"/>
                </a:moveTo>
                <a:lnTo>
                  <a:pt x="11115675" y="0"/>
                </a:lnTo>
                <a:lnTo>
                  <a:pt x="11115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6775" y="835342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51631" y="8788282"/>
            <a:ext cx="8085301" cy="38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28" b="true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Menos dudas, mayor probabilidad de compra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972925" y="638175"/>
            <a:ext cx="4581525" cy="8153400"/>
          </a:xfrm>
          <a:custGeom>
            <a:avLst/>
            <a:gdLst/>
            <a:ahLst/>
            <a:cxnLst/>
            <a:rect r="r" b="b" t="t" l="l"/>
            <a:pathLst>
              <a:path h="8153400" w="4581525">
                <a:moveTo>
                  <a:pt x="0" y="0"/>
                </a:moveTo>
                <a:lnTo>
                  <a:pt x="4581525" y="0"/>
                </a:lnTo>
                <a:lnTo>
                  <a:pt x="4581525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617648" y="1597602"/>
            <a:ext cx="2303859" cy="28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989" spc="-79" b="true">
                <a:solidFill>
                  <a:srgbClr val="19191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 carrito (2)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68625" y="14954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401550" y="2143125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68625" y="235267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716000" y="3000375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01550" y="38576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68625" y="38576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716000" y="449580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032592" y="4716549"/>
            <a:ext cx="632331" cy="26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810" spc="-72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–  1   +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83910" y="5575473"/>
            <a:ext cx="694910" cy="2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59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Subtotal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365101" y="5575473"/>
            <a:ext cx="696549" cy="2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494" spc="-59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$148,00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63213" y="6539879"/>
            <a:ext cx="895065" cy="26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73"/>
              </a:lnSpc>
            </a:pPr>
            <a:r>
              <a:rPr lang="en-US" b="true" sz="1810" spc="-72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$148,00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401550" y="7067550"/>
            <a:ext cx="3714750" cy="866775"/>
          </a:xfrm>
          <a:custGeom>
            <a:avLst/>
            <a:gdLst/>
            <a:ahLst/>
            <a:cxnLst/>
            <a:rect r="r" b="b" t="t" l="l"/>
            <a:pathLst>
              <a:path h="866775" w="3714750">
                <a:moveTo>
                  <a:pt x="0" y="0"/>
                </a:moveTo>
                <a:lnTo>
                  <a:pt x="3714750" y="0"/>
                </a:lnTo>
                <a:lnTo>
                  <a:pt x="3714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349124" y="7323460"/>
            <a:ext cx="1861834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69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Finalizar compra →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1562" y="7223826"/>
            <a:ext cx="2303859" cy="39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499" spc="-24">
                <a:solidFill>
                  <a:srgbClr val="15382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Pago seguro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33852" y="2326145"/>
            <a:ext cx="1609347" cy="2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441" spc="-57" b="true">
                <a:solidFill>
                  <a:srgbClr val="19191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Zapatillas Urbanas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33271" y="3938512"/>
            <a:ext cx="1667460" cy="2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441" spc="-57" b="true">
                <a:solidFill>
                  <a:srgbClr val="19191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Sudadera Premium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38209" y="2627523"/>
            <a:ext cx="1173666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5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Blanco · Talla 42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39276" y="4239890"/>
            <a:ext cx="1066978" cy="1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spc="-5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Verde · Talla 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32592" y="3074044"/>
            <a:ext cx="632331" cy="26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810" spc="-72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–  1   +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413375" y="3124794"/>
            <a:ext cx="647788" cy="2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9"/>
              </a:lnSpc>
            </a:pPr>
            <a:r>
              <a:rPr lang="en-US" b="true" sz="1441" spc="-57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$89,00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418146" y="4707023"/>
            <a:ext cx="642969" cy="2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9"/>
              </a:lnSpc>
            </a:pPr>
            <a:r>
              <a:rPr lang="en-US" b="true" sz="1441" spc="-57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$59,00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85449" y="6530355"/>
            <a:ext cx="541000" cy="277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74" b="true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Total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548755" y="5937126"/>
            <a:ext cx="511041" cy="2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494" spc="-59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$0,00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86220" y="5937126"/>
            <a:ext cx="463916" cy="2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59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Envío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"/>
            <a:ext cx="18288000" cy="6000750"/>
          </a:xfrm>
          <a:custGeom>
            <a:avLst/>
            <a:gdLst/>
            <a:ahLst/>
            <a:cxnLst/>
            <a:rect r="r" b="b" t="t" l="l"/>
            <a:pathLst>
              <a:path h="6000750" w="18288000">
                <a:moveTo>
                  <a:pt x="0" y="0"/>
                </a:moveTo>
                <a:lnTo>
                  <a:pt x="18288000" y="0"/>
                </a:lnTo>
                <a:lnTo>
                  <a:pt x="18288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82225" y="5844398"/>
            <a:ext cx="6916738" cy="4061744"/>
            <a:chOff x="0" y="0"/>
            <a:chExt cx="9218425" cy="54133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8425" cy="5413373"/>
            </a:xfrm>
            <a:custGeom>
              <a:avLst/>
              <a:gdLst/>
              <a:ahLst/>
              <a:cxnLst/>
              <a:rect r="r" b="b" t="t" l="l"/>
              <a:pathLst>
                <a:path h="5413373" w="9218425">
                  <a:moveTo>
                    <a:pt x="0" y="0"/>
                  </a:moveTo>
                  <a:lnTo>
                    <a:pt x="9218425" y="0"/>
                  </a:lnTo>
                  <a:lnTo>
                    <a:pt x="9218425" y="5413373"/>
                  </a:lnTo>
                  <a:lnTo>
                    <a:pt x="0" y="5413373"/>
                  </a:lnTo>
                  <a:close/>
                </a:path>
              </a:pathLst>
            </a:custGeom>
            <a:blipFill>
              <a:blip r:embed="rId3"/>
              <a:stretch>
                <a:fillRect l="-36680" t="-29995" r="-43666" b="-3072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00150" y="630598"/>
            <a:ext cx="14763750" cy="103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56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Shopify frente a otras plataformas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" y="1781175"/>
            <a:ext cx="53340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Comparación UX y diseño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2333625"/>
            <a:ext cx="4953000" cy="5905500"/>
            <a:chOff x="0" y="0"/>
            <a:chExt cx="6604000" cy="787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7645400"/>
                  </a:lnTo>
                  <a:cubicBezTo>
                    <a:pt x="6604000" y="7771652"/>
                    <a:pt x="6501652" y="7874000"/>
                    <a:pt x="6375400" y="7874000"/>
                  </a:cubicBezTo>
                  <a:lnTo>
                    <a:pt x="228600" y="7874000"/>
                  </a:lnTo>
                  <a:cubicBezTo>
                    <a:pt x="102348" y="7874000"/>
                    <a:pt x="0" y="7771652"/>
                    <a:pt x="0" y="7645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9C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2333625"/>
            <a:ext cx="4953000" cy="638175"/>
            <a:chOff x="0" y="0"/>
            <a:chExt cx="6604000" cy="850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850900"/>
            </a:xfrm>
            <a:custGeom>
              <a:avLst/>
              <a:gdLst/>
              <a:ahLst/>
              <a:cxnLst/>
              <a:rect r="r" b="b" t="t" l="l"/>
              <a:pathLst>
                <a:path h="8509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622300"/>
                  </a:lnTo>
                  <a:cubicBezTo>
                    <a:pt x="6604000" y="748552"/>
                    <a:pt x="6501652" y="850900"/>
                    <a:pt x="6375400" y="850900"/>
                  </a:cubicBezTo>
                  <a:lnTo>
                    <a:pt x="228600" y="850900"/>
                  </a:lnTo>
                  <a:cubicBezTo>
                    <a:pt x="102348" y="850900"/>
                    <a:pt x="0" y="748552"/>
                    <a:pt x="0" y="622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8F2E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040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2695575"/>
            <a:ext cx="4953000" cy="152400"/>
            <a:chOff x="0" y="0"/>
            <a:chExt cx="6604000" cy="20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E8F2E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0625" y="2436495"/>
            <a:ext cx="40005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23D2A"/>
                </a:solidFill>
                <a:latin typeface="Poppins Bold"/>
                <a:ea typeface="Poppins Bold"/>
                <a:cs typeface="Poppins Bold"/>
                <a:sym typeface="Poppins Bold"/>
              </a:rPr>
              <a:t>Ventajas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3500" y="3113246"/>
            <a:ext cx="4095750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Themes y editor fáciles de usar.</a:t>
            </a:r>
          </a:p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Diseño responsive y adaptado a móviles.</a:t>
            </a:r>
          </a:p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Checkout optimizado.</a:t>
            </a:r>
          </a:p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Menor complejidad técnica.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0625" y="5086350"/>
            <a:ext cx="4286250" cy="19050"/>
            <a:chOff x="0" y="0"/>
            <a:chExt cx="5715000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00" cy="25400"/>
            </a:xfrm>
            <a:custGeom>
              <a:avLst/>
              <a:gdLst/>
              <a:ahLst/>
              <a:cxnLst/>
              <a:rect r="r" b="b" t="t" l="l"/>
              <a:pathLst>
                <a:path h="254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8D9C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715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90625" y="5372100"/>
            <a:ext cx="40005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D99028"/>
                </a:solidFill>
                <a:latin typeface="Poppins Bold"/>
                <a:ea typeface="Poppins Bold"/>
                <a:cs typeface="Poppins Bold"/>
                <a:sym typeface="Poppins Bold"/>
              </a:rPr>
              <a:t>limitaciones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500" y="5922645"/>
            <a:ext cx="40957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Menor libertad para modificaciones avanzadas.</a:t>
            </a:r>
          </a:p>
          <a:p>
            <a:pPr algn="l" marL="388622" indent="-194311" lvl="1">
              <a:lnSpc>
                <a:spcPts val="2610"/>
              </a:lnSpc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Algunas funciones dependen de aplicaciones externas.</a:t>
            </a:r>
          </a:p>
          <a:p>
            <a:pPr algn="l" marL="388622" indent="-194311" lvl="1">
              <a:lnSpc>
                <a:spcPts val="261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Personalización avanzada del checkout en planes superiores.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86500" y="2333625"/>
            <a:ext cx="3476625" cy="4000500"/>
            <a:chOff x="0" y="0"/>
            <a:chExt cx="4635500" cy="533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55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5105400"/>
                  </a:lnTo>
                  <a:cubicBezTo>
                    <a:pt x="4635500" y="5231652"/>
                    <a:pt x="4533152" y="5334000"/>
                    <a:pt x="4406900" y="5334000"/>
                  </a:cubicBezTo>
                  <a:lnTo>
                    <a:pt x="228600" y="5334000"/>
                  </a:lnTo>
                  <a:cubicBezTo>
                    <a:pt x="102348" y="5334000"/>
                    <a:pt x="0" y="5231652"/>
                    <a:pt x="0" y="5105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9C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355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86500" y="2333625"/>
            <a:ext cx="3476625" cy="723900"/>
            <a:chOff x="0" y="0"/>
            <a:chExt cx="4635500" cy="965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5500" cy="965200"/>
            </a:xfrm>
            <a:custGeom>
              <a:avLst/>
              <a:gdLst/>
              <a:ahLst/>
              <a:cxnLst/>
              <a:rect r="r" b="b" t="t" l="l"/>
              <a:pathLst>
                <a:path h="96520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736600"/>
                  </a:lnTo>
                  <a:cubicBezTo>
                    <a:pt x="4635500" y="862852"/>
                    <a:pt x="4533152" y="965200"/>
                    <a:pt x="4406900" y="965200"/>
                  </a:cubicBezTo>
                  <a:lnTo>
                    <a:pt x="228600" y="965200"/>
                  </a:lnTo>
                  <a:cubicBezTo>
                    <a:pt x="102348" y="965200"/>
                    <a:pt x="0" y="862852"/>
                    <a:pt x="0" y="736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F6B4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35500" cy="1003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86500" y="2886075"/>
            <a:ext cx="3476625" cy="171450"/>
            <a:chOff x="0" y="0"/>
            <a:chExt cx="4635500" cy="228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5500" cy="228600"/>
            </a:xfrm>
            <a:custGeom>
              <a:avLst/>
              <a:gdLst/>
              <a:ahLst/>
              <a:cxnLst/>
              <a:rect r="r" b="b" t="t" l="l"/>
              <a:pathLst>
                <a:path h="2286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F6B4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6355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496050" y="2505075"/>
            <a:ext cx="305752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Shopify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72250" y="3362325"/>
            <a:ext cx="95250" cy="95250"/>
            <a:chOff x="0" y="0"/>
            <a:chExt cx="127000" cy="12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838950" y="3228975"/>
            <a:ext cx="2638425" cy="275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Rápido de implementar.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Experiencia de diseño guiada.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Menor complejidad técnica.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72675" y="2333625"/>
            <a:ext cx="3476625" cy="3254693"/>
            <a:chOff x="0" y="0"/>
            <a:chExt cx="4635500" cy="43395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35500" cy="4339590"/>
            </a:xfrm>
            <a:custGeom>
              <a:avLst/>
              <a:gdLst/>
              <a:ahLst/>
              <a:cxnLst/>
              <a:rect r="r" b="b" t="t" l="l"/>
              <a:pathLst>
                <a:path h="433959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4110990"/>
                  </a:lnTo>
                  <a:cubicBezTo>
                    <a:pt x="4635500" y="4171619"/>
                    <a:pt x="4611415" y="4229764"/>
                    <a:pt x="4568545" y="4272635"/>
                  </a:cubicBezTo>
                  <a:cubicBezTo>
                    <a:pt x="4525674" y="4315506"/>
                    <a:pt x="4467528" y="4339590"/>
                    <a:pt x="4406900" y="4339590"/>
                  </a:cubicBezTo>
                  <a:lnTo>
                    <a:pt x="228600" y="4339590"/>
                  </a:lnTo>
                  <a:cubicBezTo>
                    <a:pt x="102348" y="4339590"/>
                    <a:pt x="0" y="4237243"/>
                    <a:pt x="0" y="411099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9CE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635500" cy="437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72675" y="2333625"/>
            <a:ext cx="3476625" cy="723900"/>
            <a:chOff x="0" y="0"/>
            <a:chExt cx="4635500" cy="965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35500" cy="965200"/>
            </a:xfrm>
            <a:custGeom>
              <a:avLst/>
              <a:gdLst/>
              <a:ahLst/>
              <a:cxnLst/>
              <a:rect r="r" b="b" t="t" l="l"/>
              <a:pathLst>
                <a:path h="96520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736600"/>
                  </a:lnTo>
                  <a:cubicBezTo>
                    <a:pt x="4635500" y="862852"/>
                    <a:pt x="4533152" y="965200"/>
                    <a:pt x="4406900" y="965200"/>
                  </a:cubicBezTo>
                  <a:lnTo>
                    <a:pt x="228600" y="965200"/>
                  </a:lnTo>
                  <a:cubicBezTo>
                    <a:pt x="102348" y="965200"/>
                    <a:pt x="0" y="862852"/>
                    <a:pt x="0" y="736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23D2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35500" cy="1003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972675" y="2886075"/>
            <a:ext cx="3476625" cy="171450"/>
            <a:chOff x="0" y="0"/>
            <a:chExt cx="4635500" cy="228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635500" cy="228600"/>
            </a:xfrm>
            <a:custGeom>
              <a:avLst/>
              <a:gdLst/>
              <a:ahLst/>
              <a:cxnLst/>
              <a:rect r="r" b="b" t="t" l="l"/>
              <a:pathLst>
                <a:path h="2286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23D2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6355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182225" y="2505075"/>
            <a:ext cx="305752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WooCommerce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258425" y="3362325"/>
            <a:ext cx="95250" cy="95250"/>
            <a:chOff x="0" y="0"/>
            <a:chExt cx="127000" cy="127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525125" y="3228975"/>
            <a:ext cx="2638425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Alta personalización.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Depende de plugins.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Mayor mantenimiento.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658850" y="2333625"/>
            <a:ext cx="3476625" cy="3254693"/>
            <a:chOff x="0" y="0"/>
            <a:chExt cx="4635500" cy="43395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35500" cy="4339590"/>
            </a:xfrm>
            <a:custGeom>
              <a:avLst/>
              <a:gdLst/>
              <a:ahLst/>
              <a:cxnLst/>
              <a:rect r="r" b="b" t="t" l="l"/>
              <a:pathLst>
                <a:path h="433959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4110990"/>
                  </a:lnTo>
                  <a:cubicBezTo>
                    <a:pt x="4635500" y="4171619"/>
                    <a:pt x="4611415" y="4229764"/>
                    <a:pt x="4568545" y="4272635"/>
                  </a:cubicBezTo>
                  <a:cubicBezTo>
                    <a:pt x="4525674" y="4315506"/>
                    <a:pt x="4467528" y="4339590"/>
                    <a:pt x="4406900" y="4339590"/>
                  </a:cubicBezTo>
                  <a:lnTo>
                    <a:pt x="228600" y="4339590"/>
                  </a:lnTo>
                  <a:cubicBezTo>
                    <a:pt x="102348" y="4339590"/>
                    <a:pt x="0" y="4237243"/>
                    <a:pt x="0" y="411099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9CE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635500" cy="437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658850" y="2333625"/>
            <a:ext cx="3476625" cy="723900"/>
            <a:chOff x="0" y="0"/>
            <a:chExt cx="4635500" cy="965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35500" cy="965200"/>
            </a:xfrm>
            <a:custGeom>
              <a:avLst/>
              <a:gdLst/>
              <a:ahLst/>
              <a:cxnLst/>
              <a:rect r="r" b="b" t="t" l="l"/>
              <a:pathLst>
                <a:path h="965200" w="4635500">
                  <a:moveTo>
                    <a:pt x="228600" y="0"/>
                  </a:moveTo>
                  <a:lnTo>
                    <a:pt x="4406900" y="0"/>
                  </a:lnTo>
                  <a:cubicBezTo>
                    <a:pt x="4533152" y="0"/>
                    <a:pt x="4635500" y="102348"/>
                    <a:pt x="4635500" y="228600"/>
                  </a:cubicBezTo>
                  <a:lnTo>
                    <a:pt x="4635500" y="736600"/>
                  </a:lnTo>
                  <a:cubicBezTo>
                    <a:pt x="4635500" y="862852"/>
                    <a:pt x="4533152" y="965200"/>
                    <a:pt x="4406900" y="965200"/>
                  </a:cubicBezTo>
                  <a:lnTo>
                    <a:pt x="228600" y="965200"/>
                  </a:lnTo>
                  <a:cubicBezTo>
                    <a:pt x="102348" y="965200"/>
                    <a:pt x="0" y="862852"/>
                    <a:pt x="0" y="736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245B44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635500" cy="1003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58850" y="2886075"/>
            <a:ext cx="3476625" cy="171450"/>
            <a:chOff x="0" y="0"/>
            <a:chExt cx="4635500" cy="228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35500" cy="228600"/>
            </a:xfrm>
            <a:custGeom>
              <a:avLst/>
              <a:gdLst/>
              <a:ahLst/>
              <a:cxnLst/>
              <a:rect r="r" b="b" t="t" l="l"/>
              <a:pathLst>
                <a:path h="2286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5B4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6355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868400" y="2505075"/>
            <a:ext cx="305752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PrestaShop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944600" y="3362325"/>
            <a:ext cx="95250" cy="95250"/>
            <a:chOff x="0" y="0"/>
            <a:chExt cx="127000" cy="127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4211300" y="3228975"/>
            <a:ext cx="2638425" cy="20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Flexible.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Mayor control técnico.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63326"/>
                </a:solidFill>
                <a:latin typeface="Poppins"/>
                <a:ea typeface="Poppins"/>
                <a:cs typeface="Poppins"/>
                <a:sym typeface="Poppins"/>
              </a:rPr>
              <a:t>Requiere más gestión técnica.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666875" y="8439150"/>
            <a:ext cx="7620000" cy="1419366"/>
            <a:chOff x="0" y="0"/>
            <a:chExt cx="10160000" cy="1892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60000" cy="1892488"/>
            </a:xfrm>
            <a:custGeom>
              <a:avLst/>
              <a:gdLst/>
              <a:ahLst/>
              <a:cxnLst/>
              <a:rect r="r" b="b" t="t" l="l"/>
              <a:pathLst>
                <a:path h="1892488" w="10160000">
                  <a:moveTo>
                    <a:pt x="337185" y="0"/>
                  </a:moveTo>
                  <a:lnTo>
                    <a:pt x="9822815" y="0"/>
                  </a:lnTo>
                  <a:cubicBezTo>
                    <a:pt x="10009037" y="0"/>
                    <a:pt x="10160000" y="150963"/>
                    <a:pt x="10160000" y="337185"/>
                  </a:cubicBezTo>
                  <a:lnTo>
                    <a:pt x="10160000" y="1555303"/>
                  </a:lnTo>
                  <a:cubicBezTo>
                    <a:pt x="10160000" y="1741525"/>
                    <a:pt x="10009037" y="1892488"/>
                    <a:pt x="9822815" y="1892488"/>
                  </a:cubicBezTo>
                  <a:lnTo>
                    <a:pt x="337185" y="1892488"/>
                  </a:lnTo>
                  <a:cubicBezTo>
                    <a:pt x="247758" y="1892488"/>
                    <a:pt x="161994" y="1856964"/>
                    <a:pt x="98759" y="1793729"/>
                  </a:cubicBezTo>
                  <a:cubicBezTo>
                    <a:pt x="35525" y="1730495"/>
                    <a:pt x="0" y="1644730"/>
                    <a:pt x="0" y="1555303"/>
                  </a:cubicBezTo>
                  <a:lnTo>
                    <a:pt x="0" y="337185"/>
                  </a:lnTo>
                  <a:cubicBezTo>
                    <a:pt x="0" y="150963"/>
                    <a:pt x="150963" y="0"/>
                    <a:pt x="3371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160000" cy="1930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973612" y="8524875"/>
            <a:ext cx="7006525" cy="112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Shopify facilita buenas prácticas de diseño y UX, aunque ofrece menos libertad técnica que una solución open source.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591300" y="4381500"/>
            <a:ext cx="95250" cy="95250"/>
            <a:chOff x="0" y="0"/>
            <a:chExt cx="127000" cy="127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591300" y="5429250"/>
            <a:ext cx="95250" cy="95250"/>
            <a:chOff x="0" y="0"/>
            <a:chExt cx="127000" cy="127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267950" y="4080510"/>
            <a:ext cx="95250" cy="95250"/>
            <a:chOff x="0" y="0"/>
            <a:chExt cx="127000" cy="127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258425" y="4756785"/>
            <a:ext cx="95250" cy="95250"/>
            <a:chOff x="0" y="0"/>
            <a:chExt cx="127000" cy="127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954125" y="4118610"/>
            <a:ext cx="95250" cy="95250"/>
            <a:chOff x="0" y="0"/>
            <a:chExt cx="127000" cy="127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944600" y="4794885"/>
            <a:ext cx="95250" cy="95250"/>
            <a:chOff x="0" y="0"/>
            <a:chExt cx="127000" cy="127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D99028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6700" y="620813"/>
            <a:ext cx="12779953" cy="150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spc="-166" b="true">
                <a:solidFill>
                  <a:srgbClr val="1D3428"/>
                </a:solidFill>
                <a:latin typeface="Poppins Bold"/>
                <a:ea typeface="Poppins Bold"/>
                <a:cs typeface="Poppins Bold"/>
                <a:sym typeface="Poppins Bold"/>
              </a:rPr>
              <a:t>Buenas prácticas para una tienda Shopify orientada a la conversión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0318" y="2659047"/>
            <a:ext cx="11418191" cy="46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spc="-34">
                <a:solidFill>
                  <a:srgbClr val="1D3428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Diseño web y UX para mejorar la experiencia de compra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20925" y="1285875"/>
            <a:ext cx="3057525" cy="2790825"/>
          </a:xfrm>
          <a:custGeom>
            <a:avLst/>
            <a:gdLst/>
            <a:ahLst/>
            <a:cxnLst/>
            <a:rect r="r" b="b" t="t" l="l"/>
            <a:pathLst>
              <a:path h="2790825" w="3057525">
                <a:moveTo>
                  <a:pt x="0" y="0"/>
                </a:moveTo>
                <a:lnTo>
                  <a:pt x="3057525" y="0"/>
                </a:lnTo>
                <a:lnTo>
                  <a:pt x="3057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3429000"/>
            <a:ext cx="5448300" cy="2571750"/>
          </a:xfrm>
          <a:custGeom>
            <a:avLst/>
            <a:gdLst/>
            <a:ahLst/>
            <a:cxnLst/>
            <a:rect r="r" b="b" t="t" l="l"/>
            <a:pathLst>
              <a:path h="2571750" w="5448300">
                <a:moveTo>
                  <a:pt x="0" y="0"/>
                </a:moveTo>
                <a:lnTo>
                  <a:pt x="5448300" y="0"/>
                </a:lnTo>
                <a:lnTo>
                  <a:pt x="5448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9537" y="4076700"/>
            <a:ext cx="1346550" cy="1329816"/>
          </a:xfrm>
          <a:custGeom>
            <a:avLst/>
            <a:gdLst/>
            <a:ahLst/>
            <a:cxnLst/>
            <a:rect r="r" b="b" t="t" l="l"/>
            <a:pathLst>
              <a:path h="1329816" w="1346550">
                <a:moveTo>
                  <a:pt x="0" y="0"/>
                </a:moveTo>
                <a:lnTo>
                  <a:pt x="1346550" y="0"/>
                </a:lnTo>
                <a:lnTo>
                  <a:pt x="1346550" y="1329816"/>
                </a:lnTo>
                <a:lnTo>
                  <a:pt x="0" y="1329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604" r="0" b="-660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1902" y="4409154"/>
            <a:ext cx="961821" cy="834829"/>
          </a:xfrm>
          <a:custGeom>
            <a:avLst/>
            <a:gdLst/>
            <a:ahLst/>
            <a:cxnLst/>
            <a:rect r="r" b="b" t="t" l="l"/>
            <a:pathLst>
              <a:path h="834829" w="961821">
                <a:moveTo>
                  <a:pt x="0" y="0"/>
                </a:moveTo>
                <a:lnTo>
                  <a:pt x="961821" y="0"/>
                </a:lnTo>
                <a:lnTo>
                  <a:pt x="961821" y="834829"/>
                </a:lnTo>
                <a:lnTo>
                  <a:pt x="0" y="834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604" r="0" b="-660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89354" y="3987895"/>
            <a:ext cx="2349805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Navegación clara</a:t>
            </a:r>
          </a:p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y sencilla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6343" y="4822031"/>
            <a:ext cx="2650832" cy="5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Menús, categorías y filtros fáciles de usar.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05550" y="3429000"/>
            <a:ext cx="5676900" cy="2571750"/>
          </a:xfrm>
          <a:custGeom>
            <a:avLst/>
            <a:gdLst/>
            <a:ahLst/>
            <a:cxnLst/>
            <a:rect r="r" b="b" t="t" l="l"/>
            <a:pathLst>
              <a:path h="2571750" w="5676900">
                <a:moveTo>
                  <a:pt x="0" y="0"/>
                </a:moveTo>
                <a:lnTo>
                  <a:pt x="5676900" y="0"/>
                </a:lnTo>
                <a:lnTo>
                  <a:pt x="56769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15125" y="4076700"/>
            <a:ext cx="1346550" cy="1354718"/>
          </a:xfrm>
          <a:custGeom>
            <a:avLst/>
            <a:gdLst/>
            <a:ahLst/>
            <a:cxnLst/>
            <a:rect r="r" b="b" t="t" l="l"/>
            <a:pathLst>
              <a:path h="1354718" w="1346550">
                <a:moveTo>
                  <a:pt x="0" y="0"/>
                </a:moveTo>
                <a:lnTo>
                  <a:pt x="1346550" y="0"/>
                </a:lnTo>
                <a:lnTo>
                  <a:pt x="1346550" y="1354718"/>
                </a:lnTo>
                <a:lnTo>
                  <a:pt x="0" y="13547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563" r="0" b="-55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07489" y="4242277"/>
            <a:ext cx="961821" cy="850462"/>
          </a:xfrm>
          <a:custGeom>
            <a:avLst/>
            <a:gdLst/>
            <a:ahLst/>
            <a:cxnLst/>
            <a:rect r="r" b="b" t="t" l="l"/>
            <a:pathLst>
              <a:path h="850462" w="961821">
                <a:moveTo>
                  <a:pt x="0" y="0"/>
                </a:moveTo>
                <a:lnTo>
                  <a:pt x="961821" y="0"/>
                </a:lnTo>
                <a:lnTo>
                  <a:pt x="961821" y="850461"/>
                </a:lnTo>
                <a:lnTo>
                  <a:pt x="0" y="8504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563" r="0" b="-55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313649" y="3987895"/>
            <a:ext cx="1774927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Diseño visual</a:t>
            </a:r>
          </a:p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coherente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05513" y="4822031"/>
            <a:ext cx="2588587" cy="8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Jerarquía clara, identidad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 marca y buena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legibilidad.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972925" y="3429000"/>
            <a:ext cx="5229225" cy="2571750"/>
          </a:xfrm>
          <a:custGeom>
            <a:avLst/>
            <a:gdLst/>
            <a:ahLst/>
            <a:cxnLst/>
            <a:rect r="r" b="b" t="t" l="l"/>
            <a:pathLst>
              <a:path h="2571750" w="5229225">
                <a:moveTo>
                  <a:pt x="0" y="0"/>
                </a:moveTo>
                <a:lnTo>
                  <a:pt x="5229225" y="0"/>
                </a:lnTo>
                <a:lnTo>
                  <a:pt x="5229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349416" y="4165839"/>
            <a:ext cx="1338186" cy="1321459"/>
          </a:xfrm>
          <a:custGeom>
            <a:avLst/>
            <a:gdLst/>
            <a:ahLst/>
            <a:cxnLst/>
            <a:rect r="r" b="b" t="t" l="l"/>
            <a:pathLst>
              <a:path h="1321459" w="1338186">
                <a:moveTo>
                  <a:pt x="0" y="0"/>
                </a:moveTo>
                <a:lnTo>
                  <a:pt x="1338186" y="0"/>
                </a:lnTo>
                <a:lnTo>
                  <a:pt x="1338186" y="1321459"/>
                </a:lnTo>
                <a:lnTo>
                  <a:pt x="0" y="1321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962" r="0" b="-69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33417" y="4327351"/>
            <a:ext cx="970185" cy="998435"/>
          </a:xfrm>
          <a:custGeom>
            <a:avLst/>
            <a:gdLst/>
            <a:ahLst/>
            <a:cxnLst/>
            <a:rect r="r" b="b" t="t" l="l"/>
            <a:pathLst>
              <a:path h="998435" w="970185">
                <a:moveTo>
                  <a:pt x="0" y="0"/>
                </a:moveTo>
                <a:lnTo>
                  <a:pt x="970185" y="0"/>
                </a:lnTo>
                <a:lnTo>
                  <a:pt x="970185" y="998435"/>
                </a:lnTo>
                <a:lnTo>
                  <a:pt x="0" y="998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962" r="0" b="-696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823538" y="3987895"/>
            <a:ext cx="2640738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Fichas de producto completas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24058" y="4822031"/>
            <a:ext cx="2588739" cy="8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Imágenes, descripciones, precios y condiciones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visibles.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66775" y="6210300"/>
            <a:ext cx="5448300" cy="2581275"/>
          </a:xfrm>
          <a:custGeom>
            <a:avLst/>
            <a:gdLst/>
            <a:ahLst/>
            <a:cxnLst/>
            <a:rect r="r" b="b" t="t" l="l"/>
            <a:pathLst>
              <a:path h="2581275" w="5448300">
                <a:moveTo>
                  <a:pt x="0" y="0"/>
                </a:moveTo>
                <a:lnTo>
                  <a:pt x="5448300" y="0"/>
                </a:lnTo>
                <a:lnTo>
                  <a:pt x="5448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39537" y="6573282"/>
            <a:ext cx="1346550" cy="1351040"/>
          </a:xfrm>
          <a:custGeom>
            <a:avLst/>
            <a:gdLst/>
            <a:ahLst/>
            <a:cxnLst/>
            <a:rect r="r" b="b" t="t" l="l"/>
            <a:pathLst>
              <a:path h="1351040" w="1346550">
                <a:moveTo>
                  <a:pt x="0" y="0"/>
                </a:moveTo>
                <a:lnTo>
                  <a:pt x="1346550" y="0"/>
                </a:lnTo>
                <a:lnTo>
                  <a:pt x="1346550" y="1351039"/>
                </a:lnTo>
                <a:lnTo>
                  <a:pt x="0" y="13510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5714" r="0" b="-571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24266" y="6738409"/>
            <a:ext cx="577093" cy="1020786"/>
          </a:xfrm>
          <a:custGeom>
            <a:avLst/>
            <a:gdLst/>
            <a:ahLst/>
            <a:cxnLst/>
            <a:rect r="r" b="b" t="t" l="l"/>
            <a:pathLst>
              <a:path h="1020786" w="577093">
                <a:moveTo>
                  <a:pt x="0" y="0"/>
                </a:moveTo>
                <a:lnTo>
                  <a:pt x="577093" y="0"/>
                </a:lnTo>
                <a:lnTo>
                  <a:pt x="577093" y="1020785"/>
                </a:lnTo>
                <a:lnTo>
                  <a:pt x="0" y="10207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5714" r="0" b="-5714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783440" y="6579736"/>
            <a:ext cx="2941112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Experiencia adaptada a móviles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84187" y="7413873"/>
            <a:ext cx="2866410" cy="5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Botones cómodos, textos legibles y navegación fluida.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305550" y="6210300"/>
            <a:ext cx="5676900" cy="2581275"/>
          </a:xfrm>
          <a:custGeom>
            <a:avLst/>
            <a:gdLst/>
            <a:ahLst/>
            <a:cxnLst/>
            <a:rect r="r" b="b" t="t" l="l"/>
            <a:pathLst>
              <a:path h="2581275" w="5676900">
                <a:moveTo>
                  <a:pt x="0" y="0"/>
                </a:moveTo>
                <a:lnTo>
                  <a:pt x="5676900" y="0"/>
                </a:lnTo>
                <a:lnTo>
                  <a:pt x="56769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36139" y="6638416"/>
            <a:ext cx="1346550" cy="1285906"/>
          </a:xfrm>
          <a:custGeom>
            <a:avLst/>
            <a:gdLst/>
            <a:ahLst/>
            <a:cxnLst/>
            <a:rect r="r" b="b" t="t" l="l"/>
            <a:pathLst>
              <a:path h="1285906" w="1346550">
                <a:moveTo>
                  <a:pt x="0" y="0"/>
                </a:moveTo>
                <a:lnTo>
                  <a:pt x="1346549" y="0"/>
                </a:lnTo>
                <a:lnTo>
                  <a:pt x="1346549" y="1285905"/>
                </a:lnTo>
                <a:lnTo>
                  <a:pt x="0" y="12859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8536" r="0" b="-8536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828503" y="6795582"/>
            <a:ext cx="1040807" cy="963612"/>
          </a:xfrm>
          <a:custGeom>
            <a:avLst/>
            <a:gdLst/>
            <a:ahLst/>
            <a:cxnLst/>
            <a:rect r="r" b="b" t="t" l="l"/>
            <a:pathLst>
              <a:path h="963612" w="1040807">
                <a:moveTo>
                  <a:pt x="0" y="0"/>
                </a:moveTo>
                <a:lnTo>
                  <a:pt x="1040807" y="0"/>
                </a:lnTo>
                <a:lnTo>
                  <a:pt x="1040807" y="963612"/>
                </a:lnTo>
                <a:lnTo>
                  <a:pt x="0" y="963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4752" t="-9641" r="0" b="-1534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308348" y="6579737"/>
            <a:ext cx="2305051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Checkout simple</a:t>
            </a:r>
          </a:p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y transparente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01626" y="7413873"/>
            <a:ext cx="2977265" cy="5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Menos pasos, menos fricción y costes claros.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972925" y="6210300"/>
            <a:ext cx="5229225" cy="2581275"/>
          </a:xfrm>
          <a:custGeom>
            <a:avLst/>
            <a:gdLst/>
            <a:ahLst/>
            <a:cxnLst/>
            <a:rect r="r" b="b" t="t" l="l"/>
            <a:pathLst>
              <a:path h="2581275" w="5229225">
                <a:moveTo>
                  <a:pt x="0" y="0"/>
                </a:moveTo>
                <a:lnTo>
                  <a:pt x="5229225" y="0"/>
                </a:lnTo>
                <a:lnTo>
                  <a:pt x="5229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349416" y="6638416"/>
            <a:ext cx="1338186" cy="1346907"/>
          </a:xfrm>
          <a:custGeom>
            <a:avLst/>
            <a:gdLst/>
            <a:ahLst/>
            <a:cxnLst/>
            <a:rect r="r" b="b" t="t" l="l"/>
            <a:pathLst>
              <a:path h="1346907" w="1338186">
                <a:moveTo>
                  <a:pt x="0" y="0"/>
                </a:moveTo>
                <a:lnTo>
                  <a:pt x="1338186" y="0"/>
                </a:lnTo>
                <a:lnTo>
                  <a:pt x="1338186" y="1346907"/>
                </a:lnTo>
                <a:lnTo>
                  <a:pt x="0" y="1346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5885" r="0" b="-588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533417" y="6803038"/>
            <a:ext cx="777821" cy="845558"/>
          </a:xfrm>
          <a:custGeom>
            <a:avLst/>
            <a:gdLst/>
            <a:ahLst/>
            <a:cxnLst/>
            <a:rect r="r" b="b" t="t" l="l"/>
            <a:pathLst>
              <a:path h="845558" w="777821">
                <a:moveTo>
                  <a:pt x="0" y="0"/>
                </a:moveTo>
                <a:lnTo>
                  <a:pt x="777820" y="0"/>
                </a:lnTo>
                <a:lnTo>
                  <a:pt x="777820" y="845558"/>
                </a:lnTo>
                <a:lnTo>
                  <a:pt x="0" y="845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-5885" r="0" b="-588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824070" y="6579736"/>
            <a:ext cx="2587549" cy="66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7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Confianza y mejora continua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20214" y="7413873"/>
            <a:ext cx="2973082" cy="8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Opiniones, métodos de pago reconocibles y análisis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545454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 datos.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17170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048000" y="900112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536156" y="9173840"/>
            <a:ext cx="12912328" cy="28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21" b="true">
                <a:solidFill>
                  <a:srgbClr val="1D342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Aplicar estas prácticas reduce las dificultades del recorrido de compra y puede mejorar la conversión.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81850" y="1066800"/>
            <a:ext cx="9372600" cy="8153400"/>
          </a:xfrm>
          <a:custGeom>
            <a:avLst/>
            <a:gdLst/>
            <a:ahLst/>
            <a:cxnLst/>
            <a:rect r="r" b="b" t="t" l="l"/>
            <a:pathLst>
              <a:path h="8153400" w="9372600">
                <a:moveTo>
                  <a:pt x="0" y="0"/>
                </a:moveTo>
                <a:lnTo>
                  <a:pt x="9372600" y="0"/>
                </a:lnTo>
                <a:lnTo>
                  <a:pt x="9372600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137109">
            <a:off x="10350560" y="3186018"/>
            <a:ext cx="1607198" cy="124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3032" i="true" b="true">
                <a:solidFill>
                  <a:srgbClr val="10251D"/>
                </a:solidFill>
                <a:latin typeface="Agrandir Tight Medium Italics"/>
                <a:ea typeface="Agrandir Tight Medium Italics"/>
                <a:cs typeface="Agrandir Tight Medium Italics"/>
                <a:sym typeface="Agrandir Tight Medium Italics"/>
              </a:rPr>
              <a:t>  Descubre lo que te encanta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29850" y="449580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95700" y="1285875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6148" y="3709427"/>
            <a:ext cx="4954717" cy="17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9F9F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GRACIAS!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4820" y="5532224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51867" y="5939991"/>
            <a:ext cx="4954717" cy="134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F9F9F9"/>
                </a:solidFill>
                <a:latin typeface="Aileron Bold"/>
                <a:ea typeface="Aileron Bold"/>
                <a:cs typeface="Aileron Bold"/>
                <a:sym typeface="Aileron Bold"/>
              </a:rPr>
              <a:t>El diseño y la experiencia de usuario convierten una visita en una </a:t>
            </a:r>
            <a:r>
              <a:rPr lang="en-US" sz="2575" b="true">
                <a:solidFill>
                  <a:srgbClr val="8CB540"/>
                </a:solidFill>
                <a:latin typeface="Aileron Bold"/>
                <a:ea typeface="Aileron Bold"/>
                <a:cs typeface="Aileron Bold"/>
                <a:sym typeface="Aileron Bold"/>
              </a:rPr>
              <a:t>oportunidad de compra.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62775" y="8353425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20625" y="8353425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5550" y="3857625"/>
            <a:ext cx="2838450" cy="5572125"/>
          </a:xfrm>
          <a:custGeom>
            <a:avLst/>
            <a:gdLst/>
            <a:ahLst/>
            <a:cxnLst/>
            <a:rect r="r" b="b" t="t" l="l"/>
            <a:pathLst>
              <a:path h="5572125" w="2838450">
                <a:moveTo>
                  <a:pt x="0" y="0"/>
                </a:moveTo>
                <a:lnTo>
                  <a:pt x="2838450" y="0"/>
                </a:lnTo>
                <a:lnTo>
                  <a:pt x="28384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06775" y="621030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64880" y="4818800"/>
            <a:ext cx="964342" cy="19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i="true">
                <a:solidFill>
                  <a:srgbClr val="F9F9F9"/>
                </a:solidFill>
                <a:latin typeface="Agrandir Tight Italics"/>
                <a:ea typeface="Agrandir Tight Italics"/>
                <a:cs typeface="Agrandir Tight Italics"/>
                <a:sym typeface="Agrandir Tight Italics"/>
              </a:rPr>
              <a:t>Comprar ahora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DAHXKOOIZrE</dc:identifier>
  <dcterms:modified xsi:type="dcterms:W3CDTF">2011-08-01T06:04:30Z</dcterms:modified>
  <cp:revision>1</cp:revision>
  <dc:title>Grupo 3_Shopify</dc:title>
</cp:coreProperties>
</file>