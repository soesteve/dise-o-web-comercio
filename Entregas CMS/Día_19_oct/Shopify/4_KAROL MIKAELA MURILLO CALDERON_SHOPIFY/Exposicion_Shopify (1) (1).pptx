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95360" y="594360"/>
            <a:ext cx="2880360" cy="5440680"/>
          </a:xfrm>
          <a:prstGeom prst="round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15400" y="914400"/>
            <a:ext cx="2240280" cy="4800600"/>
          </a:xfrm>
          <a:prstGeom prst="roundRect">
            <a:avLst/>
          </a:prstGeom>
          <a:solidFill>
            <a:srgbClr val="F5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17152" y="1261872"/>
            <a:ext cx="1627632" cy="658368"/>
          </a:xfrm>
          <a:prstGeom prst="round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08592" y="1417320"/>
            <a:ext cx="144475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SHOPIFY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2212848"/>
            <a:ext cx="17830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08592" y="2386584"/>
            <a:ext cx="144475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5BF47"/>
                </a:solidFill>
                <a:latin typeface="Aptos"/>
              </a:rPr>
              <a:t>TIENDA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08592" y="2660904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2638"/>
                </a:solidFill>
                <a:latin typeface="Aptos"/>
              </a:rPr>
              <a:t>Productos · Pedidos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364992"/>
            <a:ext cx="1783080" cy="960120"/>
          </a:xfrm>
          <a:prstGeom prst="roundRect">
            <a:avLst/>
          </a:prstGeom>
          <a:solidFill>
            <a:srgbClr val="E7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3547872"/>
            <a:ext cx="144475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5BF47"/>
                </a:solidFill>
                <a:latin typeface="Aptos"/>
              </a:rPr>
              <a:t>EXPERIENCIA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8592" y="3822191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2638"/>
                </a:solidFill>
                <a:latin typeface="Aptos"/>
              </a:rPr>
              <a:t>Compra sencilla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517136"/>
            <a:ext cx="1783080" cy="960120"/>
          </a:xfrm>
          <a:prstGeom prst="roundRect">
            <a:avLst/>
          </a:prstGeom>
          <a:solidFill>
            <a:srgbClr val="E2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4700016"/>
            <a:ext cx="144475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5BF47"/>
                </a:solidFill>
                <a:latin typeface="Aptos"/>
              </a:rPr>
              <a:t>INTELIGENCIA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4974336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62638"/>
                </a:solidFill>
                <a:latin typeface="Aptos"/>
              </a:rPr>
              <a:t>Más eficiencia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005840"/>
            <a:ext cx="7132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5BF47"/>
                </a:solidFill>
                <a:latin typeface="Aptos"/>
              </a:rPr>
              <a:t>COMERCIO ELECTRÓNICO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691640"/>
            <a:ext cx="713232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 Display"/>
              </a:rPr>
              <a:t>Shopify como plataforma
de comercio electrónico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681228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CE5EB"/>
                </a:solidFill>
                <a:latin typeface="Aptos"/>
              </a:rPr>
              <a:t>Funcionalidades · Experiencia de usuario · Inteligencia artificial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09160"/>
            <a:ext cx="960120" cy="73152"/>
          </a:xfrm>
          <a:prstGeom prst="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61264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CE5EB"/>
                </a:solidFill>
                <a:latin typeface="Aptos"/>
              </a:rPr>
              <a:t>Máster Universitario en Comercio Electrónico
Universidad Complutense de Madrid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CE5EB"/>
                </a:solidFill>
                <a:latin typeface="Aptos"/>
              </a:rPr>
              <a:t>Nombre: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01 · 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¿Qué es Shopify?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Una plataforma para crear, gestionar y hacer crecer una tienda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657600" cy="3566160"/>
          </a:xfrm>
          <a:prstGeom prst="round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UNA SOLUCIÓN INTEGRADA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3063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Vender online
sin crear todo desde cero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2971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CE5EB"/>
                </a:solidFill>
                <a:latin typeface="Aptos"/>
              </a:rPr>
              <a:t>Web + productos + pedidos + pagos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965960"/>
            <a:ext cx="20574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965960"/>
            <a:ext cx="73152" cy="1508760"/>
          </a:xfrm>
          <a:prstGeom prst="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8616" y="2148840"/>
            <a:ext cx="16184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5BF47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2478024"/>
            <a:ext cx="16184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Crear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990088"/>
            <a:ext cx="1618488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Diseño y catálogo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1965960"/>
            <a:ext cx="20574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1965960"/>
            <a:ext cx="73152" cy="1508760"/>
          </a:xfrm>
          <a:prstGeom prst="rect">
            <a:avLst/>
          </a:prstGeom>
          <a:solidFill>
            <a:srgbClr val="E2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4616" y="2148840"/>
            <a:ext cx="16184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2ECF5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2478024"/>
            <a:ext cx="16184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Vender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2990088"/>
            <a:ext cx="1618488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Carrito y pagos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965960"/>
            <a:ext cx="20574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965960"/>
            <a:ext cx="73152" cy="1508760"/>
          </a:xfrm>
          <a:prstGeom prst="rect">
            <a:avLst/>
          </a:prstGeom>
          <a:solidFill>
            <a:srgbClr val="F1B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0616" y="2148840"/>
            <a:ext cx="16184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1BB53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2478024"/>
            <a:ext cx="16184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Gestionar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990088"/>
            <a:ext cx="1618488" cy="3383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Pedidos e inventario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77639"/>
            <a:ext cx="63550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2638"/>
                </a:solidFill>
                <a:latin typeface="Aptos"/>
              </a:rPr>
              <a:t>¿Para quién?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480560"/>
            <a:ext cx="61264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7313B"/>
                </a:solidFill>
                <a:latin typeface="Aptos"/>
              </a:rPr>
              <a:t>Emprendedores y empresas que quieren lanzar o ampliar su negocio digital con herramientas centralizadas.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623560"/>
            <a:ext cx="6126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7747E"/>
                </a:solidFill>
                <a:latin typeface="Aptos"/>
              </a:rPr>
              <a:t>Idea clave: Shopify no garantiza ventas; facilita la gestión.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02 · 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Todo el negocio, desde un mismo lugar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Herramientas principales para operar una tienda digital.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0632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41448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DISEÑO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98648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Plantillas y personalización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74519"/>
            <a:ext cx="30632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2057400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441448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CATÁLOGO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898648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Productos, tallas y stock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874519"/>
            <a:ext cx="30632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057400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2441448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VENTAS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898648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Carrito, pagos y pedidos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86200"/>
            <a:ext cx="30632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069080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453128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910328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Descuentos, SEO y campañas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886200"/>
            <a:ext cx="30632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4069080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453128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ANÁLISIS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910328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Ventas e informes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886200"/>
            <a:ext cx="30632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4069080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4453128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INTEGRACIONES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910328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Apps y otros canales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7747E"/>
                </a:solidFill>
                <a:latin typeface="Aptos"/>
              </a:rPr>
              <a:t>La disponibilidad de algunas funciones depende del plan, el país y las aplicaciones.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03 · EXPERIENCIA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Una buena tienda debe ser fácil de comprar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La UX influye en la confianza, la conversión y la fidelización.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25146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2514600"/>
            <a:ext cx="438912" cy="438912"/>
          </a:xfrm>
          <a:prstGeom prst="round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587752"/>
            <a:ext cx="4389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5468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ENCONTRAR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11880"/>
            <a:ext cx="2084831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Menús y categorías claras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71800"/>
            <a:ext cx="31089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95BF47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2286000"/>
            <a:ext cx="25146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9896" y="2514600"/>
            <a:ext cx="438912" cy="438912"/>
          </a:xfrm>
          <a:prstGeom prst="round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587752"/>
            <a:ext cx="4389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15468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ELEGIR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611880"/>
            <a:ext cx="2084831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Fotos e información útil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971800"/>
            <a:ext cx="31089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95BF47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2286000"/>
            <a:ext cx="25146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0255" y="2514600"/>
            <a:ext cx="438912" cy="438912"/>
          </a:xfrm>
          <a:prstGeom prst="round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5" y="2587752"/>
            <a:ext cx="4389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5" y="315468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COMPRAR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5" y="3611880"/>
            <a:ext cx="2084831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Pago sencillo y transparente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971800"/>
            <a:ext cx="31089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95BF47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9448" y="2286000"/>
            <a:ext cx="25146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00616" y="2514600"/>
            <a:ext cx="438912" cy="438912"/>
          </a:xfrm>
          <a:prstGeom prst="round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0616" y="2587752"/>
            <a:ext cx="43891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315468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CONFIAR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3611880"/>
            <a:ext cx="2084831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747E"/>
                </a:solidFill>
                <a:latin typeface="Aptos"/>
              </a:rPr>
              <a:t>Envíos, devoluciones y soporte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92040"/>
            <a:ext cx="10698480" cy="777240"/>
          </a:xfrm>
          <a:prstGeom prst="roundRect">
            <a:avLst/>
          </a:prstGeom>
          <a:solidFill>
            <a:srgbClr val="E7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093208"/>
            <a:ext cx="10149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62638"/>
                </a:solidFill>
                <a:latin typeface="Aptos"/>
              </a:rPr>
              <a:t>Diseño adaptable a móviles  ·  Menos fricción  ·  Información transparente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89320"/>
            <a:ext cx="10332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7747E"/>
                </a:solidFill>
                <a:latin typeface="Aptos"/>
              </a:rPr>
              <a:t>Una buena UX ayuda, pero también importan el precio, el producto y la logística.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04 · INTELIGENCIA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La IA como apoyo al vendedor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Shopify incorpora herramientas de IA y permite ampliar funciones con aplicaciones.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73152" cy="3154680"/>
          </a:xfrm>
          <a:prstGeom prst="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148840"/>
            <a:ext cx="29900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5BF47"/>
                </a:solidFill>
                <a:latin typeface="Aptos"/>
              </a:rPr>
              <a:t>SHOPIFY MAGIC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478024"/>
            <a:ext cx="29900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Crear contenido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990088"/>
            <a:ext cx="2990088" cy="1984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Ayuda a redactar descripciones de productos, textos comerciales y otros contenidos.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73152" cy="3154680"/>
          </a:xfrm>
          <a:prstGeom prst="rect">
            <a:avLst/>
          </a:prstGeom>
          <a:solidFill>
            <a:srgbClr val="F1B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148840"/>
            <a:ext cx="29900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1BB53"/>
                </a:solidFill>
                <a:latin typeface="Aptos"/>
              </a:rPr>
              <a:t>SIDEKICK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78024"/>
            <a:ext cx="29900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Asistente del negocio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990088"/>
            <a:ext cx="2990088" cy="1984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Permite consultar información, recibir orientación y ayudar con tareas compatibles.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65960"/>
            <a:ext cx="34290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965960"/>
            <a:ext cx="73152" cy="3154680"/>
          </a:xfrm>
          <a:prstGeom prst="rect">
            <a:avLst/>
          </a:prstGeom>
          <a:solidFill>
            <a:srgbClr val="578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148840"/>
            <a:ext cx="299008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78CAE"/>
                </a:solidFill>
                <a:latin typeface="Aptos"/>
              </a:rPr>
              <a:t>APPS CON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478024"/>
            <a:ext cx="299008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Ampliar funciones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990088"/>
            <a:ext cx="2990088" cy="1984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Atención automatizada, recomendaciones o herramientas de análisis, según la app.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638"/>
                </a:solidFill>
                <a:latin typeface="Aptos"/>
              </a:rPr>
              <a:t>La IA acelera tareas; la persona debe revisar la información y las decisiones.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04 · INTELIGENCIA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¿Qué puede aportar la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Ejemplos prácticos de uso en una tienda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530352"/>
          </a:xfrm>
          <a:prstGeom prst="round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75104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956816"/>
            <a:ext cx="7589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13B"/>
                </a:solidFill>
                <a:latin typeface="Aptos"/>
              </a:rPr>
              <a:t>Preparar una descripción de un bolso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441448"/>
            <a:ext cx="7680960" cy="13716"/>
          </a:xfrm>
          <a:prstGeom prst="rect">
            <a:avLst/>
          </a:prstGeom>
          <a:solidFill>
            <a:srgbClr val="DC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615184"/>
            <a:ext cx="2331720" cy="530352"/>
          </a:xfrm>
          <a:prstGeom prst="round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61488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ATENCIÓN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7589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13B"/>
                </a:solidFill>
                <a:latin typeface="Aptos"/>
              </a:rPr>
              <a:t>Ayudar a responder preguntas frecuentes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27832"/>
            <a:ext cx="7680960" cy="13716"/>
          </a:xfrm>
          <a:prstGeom prst="rect">
            <a:avLst/>
          </a:prstGeom>
          <a:solidFill>
            <a:srgbClr val="DC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401568"/>
            <a:ext cx="2331720" cy="530352"/>
          </a:xfrm>
          <a:prstGeom prst="round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547872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RECOMENDACIÓN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29584"/>
            <a:ext cx="7589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13B"/>
                </a:solidFill>
                <a:latin typeface="Aptos"/>
              </a:rPr>
              <a:t>Mostrar artículos relacionados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014215"/>
            <a:ext cx="7680960" cy="13716"/>
          </a:xfrm>
          <a:prstGeom prst="rect">
            <a:avLst/>
          </a:prstGeom>
          <a:solidFill>
            <a:srgbClr val="DC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187952"/>
            <a:ext cx="2331720" cy="530352"/>
          </a:xfrm>
          <a:prstGeom prst="round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34256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ANÁLISIS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315968"/>
            <a:ext cx="7589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13B"/>
                </a:solidFill>
                <a:latin typeface="Aptos"/>
              </a:rPr>
              <a:t>Resumir tendencias de ventas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4800600"/>
            <a:ext cx="7680960" cy="13716"/>
          </a:xfrm>
          <a:prstGeom prst="rect">
            <a:avLst/>
          </a:prstGeom>
          <a:solidFill>
            <a:srgbClr val="DC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974336"/>
            <a:ext cx="2331720" cy="530352"/>
          </a:xfrm>
          <a:prstGeom prst="round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12064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AUTOMATIZACIÓN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102351"/>
            <a:ext cx="7589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13B"/>
                </a:solidFill>
                <a:latin typeface="Aptos"/>
              </a:rPr>
              <a:t>Enviar avisos o etiquetar pedidos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7747E"/>
                </a:solidFill>
                <a:latin typeface="Aptos"/>
              </a:rPr>
              <a:t>Importante: automatización y IA no son lo mismo; no todas las funciones usan 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05 · CASO PRÁCTICO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Moda Urbana: de la web a la venta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Ejemplo ficticio de una tienda de ropa y accesorios.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0574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638"/>
                </a:solidFill>
                <a:latin typeface="Aptos"/>
              </a:rPr>
              <a:t>CREA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93008"/>
            <a:ext cx="1691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Diseña la web y organiza categorías.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3090672"/>
            <a:ext cx="228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5BF47"/>
                </a:solidFill>
                <a:latin typeface="Aptos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240280"/>
            <a:ext cx="20574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48716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97180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638"/>
                </a:solidFill>
                <a:latin typeface="Aptos"/>
              </a:rPr>
              <a:t>PUBLICA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493008"/>
            <a:ext cx="1691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Carga fotos, tallas, precios y textos.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3090672"/>
            <a:ext cx="228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5BF47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2240280"/>
            <a:ext cx="20574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248716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297180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638"/>
                </a:solidFill>
                <a:latin typeface="Aptos"/>
              </a:rPr>
              <a:t>VENDE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3493008"/>
            <a:ext cx="1691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La clienta compra desde el móvil.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7" y="3090672"/>
            <a:ext cx="228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5BF47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240280"/>
            <a:ext cx="20574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248716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97180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638"/>
                </a:solidFill>
                <a:latin typeface="Aptos"/>
              </a:rPr>
              <a:t>GESTIONA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493008"/>
            <a:ext cx="1691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Prepara el pedido y coordina el envío.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3090672"/>
            <a:ext cx="228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5BF47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19" y="2240280"/>
            <a:ext cx="20574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399" y="2487168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5BF47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399" y="297180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62638"/>
                </a:solidFill>
                <a:latin typeface="Aptos"/>
              </a:rPr>
              <a:t>MEJORA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399" y="3493008"/>
            <a:ext cx="1691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Revisa ventas y prepara campañas.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10698480" cy="594360"/>
          </a:xfrm>
          <a:prstGeom prst="roundRect">
            <a:avLst/>
          </a:prstGeom>
          <a:solidFill>
            <a:srgbClr val="E7F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13248"/>
            <a:ext cx="10241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638"/>
                </a:solidFill>
                <a:latin typeface="Aptos"/>
              </a:rPr>
              <a:t>Resultado esperado: gestión más organizada, no ventas garantizadas.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06 ·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Ventajas y retos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Elegir una plataforma también exige valorar sus limitaciones.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21208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480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95BF47"/>
                </a:solidFill>
                <a:latin typeface="Aptos"/>
              </a:rPr>
              <a:t>✓  VENTAJAS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526280" cy="2697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7313B"/>
                </a:solidFill>
                <a:latin typeface="Aptos Display"/>
              </a:rPr>
              <a:t>Fácil de usar. </a:t>
            </a:r>
            <a:r>
              <a:rPr sz="1400">
                <a:solidFill>
                  <a:srgbClr val="27313B"/>
                </a:solidFill>
                <a:latin typeface="Aptos"/>
              </a:rPr>
              <a:t>Menos desarrollo técnico inicial.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7313B"/>
                </a:solidFill>
                <a:latin typeface="Aptos Display"/>
              </a:rPr>
              <a:t>Gestión centralizada. </a:t>
            </a:r>
            <a:r>
              <a:rPr sz="1400">
                <a:solidFill>
                  <a:srgbClr val="27313B"/>
                </a:solidFill>
                <a:latin typeface="Aptos"/>
              </a:rPr>
              <a:t>Productos, pedidos y ventas.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7313B"/>
                </a:solidFill>
                <a:latin typeface="Aptos Display"/>
              </a:rPr>
              <a:t>Escalable. </a:t>
            </a:r>
            <a:r>
              <a:rPr sz="1400">
                <a:solidFill>
                  <a:srgbClr val="27313B"/>
                </a:solidFill>
                <a:latin typeface="Aptos"/>
              </a:rPr>
              <a:t>Apps y canales adicionales.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7313B"/>
                </a:solidFill>
                <a:latin typeface="Aptos Display"/>
              </a:rPr>
              <a:t>Herramientas de IA. </a:t>
            </a:r>
            <a:r>
              <a:rPr sz="1400">
                <a:solidFill>
                  <a:srgbClr val="27313B"/>
                </a:solidFill>
                <a:latin typeface="Aptos"/>
              </a:rPr>
              <a:t>Apoyo en tareas y contenido.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480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58023"/>
                </a:solidFill>
                <a:latin typeface="Aptos"/>
              </a:rPr>
              <a:t>!  RETOS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526280" cy="2697480"/>
          </a:xfrm>
          <a:prstGeom prst="rect">
            <a:avLst/>
          </a:prstGeom>
          <a:noFill/>
        </p:spPr>
        <p:txBody>
          <a:bodyPr wrap="square" lIns="27432" rIns="27432" tIns="27432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7313B"/>
                </a:solidFill>
                <a:latin typeface="Aptos Display"/>
              </a:rPr>
              <a:t>Costes recurrentes. </a:t>
            </a:r>
            <a:r>
              <a:rPr sz="1400">
                <a:solidFill>
                  <a:srgbClr val="27313B"/>
                </a:solidFill>
                <a:latin typeface="Aptos"/>
              </a:rPr>
              <a:t>Plan, apps y posibles comisiones.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7313B"/>
                </a:solidFill>
                <a:latin typeface="Aptos Display"/>
              </a:rPr>
              <a:t>Dependencia. </a:t>
            </a:r>
            <a:r>
              <a:rPr sz="1400">
                <a:solidFill>
                  <a:srgbClr val="27313B"/>
                </a:solidFill>
                <a:latin typeface="Aptos"/>
              </a:rPr>
              <a:t>Condiciones de un proveedor externo.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7313B"/>
                </a:solidFill>
                <a:latin typeface="Aptos Display"/>
              </a:rPr>
              <a:t>Marketing necesario. </a:t>
            </a:r>
            <a:r>
              <a:rPr sz="1400">
                <a:solidFill>
                  <a:srgbClr val="27313B"/>
                </a:solidFill>
                <a:latin typeface="Aptos"/>
              </a:rPr>
              <a:t>La tienda debe atraer clientes.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7313B"/>
                </a:solidFill>
                <a:latin typeface="Aptos Display"/>
              </a:rPr>
              <a:t>Supervisión. </a:t>
            </a:r>
            <a:r>
              <a:rPr sz="1400">
                <a:solidFill>
                  <a:srgbClr val="27313B"/>
                </a:solidFill>
                <a:latin typeface="Aptos"/>
              </a:rPr>
              <a:t>La IA puede equivocarse.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07 · 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Shopify y otras 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La mejor opción depende de los recursos y necesidades de cada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011680" cy="594360"/>
          </a:xfrm>
          <a:prstGeom prst="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84832"/>
            <a:ext cx="17922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PLATAFORMA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920240"/>
            <a:ext cx="2743200" cy="594360"/>
          </a:xfrm>
          <a:prstGeom prst="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084832"/>
            <a:ext cx="25237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PUNTO FUERTE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920240"/>
            <a:ext cx="2743200" cy="594360"/>
          </a:xfrm>
          <a:prstGeom prst="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2084832"/>
            <a:ext cx="25237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 TENER EN CUENTA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20240"/>
            <a:ext cx="2743200" cy="594360"/>
          </a:xfrm>
          <a:prstGeom prst="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2084832"/>
            <a:ext cx="25237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IDEAL SI…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78608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779776"/>
            <a:ext cx="179222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638"/>
                </a:solidFill>
                <a:latin typeface="Aptos"/>
              </a:rPr>
              <a:t>Shopify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578608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27797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Solución integrada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578608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27797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Suscripción y dependencia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578608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27797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Buscas empezar fácil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93008"/>
            <a:ext cx="2011680" cy="804672"/>
          </a:xfrm>
          <a:prstGeom prst="rect">
            <a:avLst/>
          </a:prstGeom>
          <a:solidFill>
            <a:srgbClr val="EF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694176"/>
            <a:ext cx="179222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638"/>
                </a:solidFill>
                <a:latin typeface="Aptos"/>
              </a:rPr>
              <a:t>WooCommerce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3493008"/>
            <a:ext cx="2743200" cy="804672"/>
          </a:xfrm>
          <a:prstGeom prst="rect">
            <a:avLst/>
          </a:prstGeom>
          <a:solidFill>
            <a:srgbClr val="EF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2928" y="36941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Flexibilidad en WordPress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3493008"/>
            <a:ext cx="2743200" cy="804672"/>
          </a:xfrm>
          <a:prstGeom prst="rect">
            <a:avLst/>
          </a:prstGeom>
          <a:solidFill>
            <a:srgbClr val="EF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6128" y="36941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Más gestión técnica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493008"/>
            <a:ext cx="2743200" cy="804672"/>
          </a:xfrm>
          <a:prstGeom prst="rect">
            <a:avLst/>
          </a:prstGeom>
          <a:solidFill>
            <a:srgbClr val="EF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36941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Quieres control de la web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07408"/>
            <a:ext cx="20116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608576"/>
            <a:ext cx="179222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62638"/>
                </a:solidFill>
                <a:latin typeface="Aptos"/>
              </a:rPr>
              <a:t>PrestaShop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407408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52928" y="46085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Personalización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4407408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96128" y="46085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Mantenimiento y módulos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407408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4608576"/>
            <a:ext cx="25237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13B"/>
                </a:solidFill>
                <a:latin typeface="Aptos"/>
              </a:rPr>
              <a:t>Tienes recursos técnicos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486400"/>
            <a:ext cx="10424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7747E"/>
                </a:solidFill>
                <a:latin typeface="Aptos"/>
              </a:rPr>
              <a:t>No hay una plataforma universalmente mejor: compara presupuesto, control y conocimientos técnicos.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08 ·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Hacia un comercio más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Tres tendencias que pueden transformar la experiencia de compra.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375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73152" cy="2743200"/>
          </a:xfrm>
          <a:prstGeom prst="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40280"/>
            <a:ext cx="28986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5BF4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569464"/>
            <a:ext cx="289864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Personalización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81528"/>
            <a:ext cx="2898648" cy="1572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Productos y contenidos más relevantes para cada cliente.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3375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057400"/>
            <a:ext cx="73152" cy="2743200"/>
          </a:xfrm>
          <a:prstGeom prst="rect">
            <a:avLst/>
          </a:prstGeom>
          <a:solidFill>
            <a:srgbClr val="F1B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240280"/>
            <a:ext cx="28986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1BB5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569464"/>
            <a:ext cx="289864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Automatización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081528"/>
            <a:ext cx="2898648" cy="1572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Menos tareas repetitivas y procesos más ágiles.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57400"/>
            <a:ext cx="33375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057400"/>
            <a:ext cx="73152" cy="2743200"/>
          </a:xfrm>
          <a:prstGeom prst="rect">
            <a:avLst/>
          </a:prstGeom>
          <a:solidFill>
            <a:srgbClr val="578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240280"/>
            <a:ext cx="28986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78CA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569464"/>
            <a:ext cx="289864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Compra asistida por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081528"/>
            <a:ext cx="2898648" cy="1572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Nuevas formas de descubrir y comparar productos.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2638"/>
                </a:solidFill>
                <a:latin typeface="Aptos"/>
              </a:rPr>
              <a:t>Reto clave: proteger los datos, revisar la información y mantener la confianza.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7315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5BF47"/>
                </a:solidFill>
                <a:latin typeface="Aptos"/>
              </a:rPr>
              <a:t>09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2638"/>
                </a:solidFill>
                <a:latin typeface="Aptos Display"/>
              </a:rPr>
              <a:t>La clave: integrar tecnología y experiencia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7747E"/>
                </a:solidFill>
                <a:latin typeface="Aptos"/>
              </a:rPr>
              <a:t>Shopify conecta tres dimensiones del comercio electrónico.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774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73152" cy="2240280"/>
          </a:xfrm>
          <a:prstGeom prst="rect">
            <a:avLst/>
          </a:prstGeom>
          <a:solidFill>
            <a:srgbClr val="95B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148840"/>
            <a:ext cx="280720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95BF4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478024"/>
            <a:ext cx="28072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Funcionalidades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990088"/>
            <a:ext cx="2807208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Permiten gestionar la tienda y sus operaciones.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65960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965960"/>
            <a:ext cx="73152" cy="2240280"/>
          </a:xfrm>
          <a:prstGeom prst="rect">
            <a:avLst/>
          </a:prstGeom>
          <a:solidFill>
            <a:srgbClr val="F1B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148840"/>
            <a:ext cx="280720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1BB5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478024"/>
            <a:ext cx="28072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Experiencia (UX)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990088"/>
            <a:ext cx="2807208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Facilita una compra clara, cómoda y confiable.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65960"/>
            <a:ext cx="32461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965960"/>
            <a:ext cx="73152" cy="2240280"/>
          </a:xfrm>
          <a:prstGeom prst="rect">
            <a:avLst/>
          </a:prstGeom>
          <a:solidFill>
            <a:srgbClr val="578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148840"/>
            <a:ext cx="280720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78CA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478024"/>
            <a:ext cx="28072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62638"/>
                </a:solidFill>
                <a:latin typeface="Aptos Display"/>
              </a:rPr>
              <a:t>Inteligencia artificial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990088"/>
            <a:ext cx="2807208" cy="10698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13B"/>
                </a:solidFill>
                <a:latin typeface="Aptos"/>
              </a:rPr>
              <a:t>Ayuda a crear, analizar y automatizar.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526280"/>
            <a:ext cx="10332720" cy="731520"/>
          </a:xfrm>
          <a:prstGeom prst="roundRect">
            <a:avLst/>
          </a:prstGeom>
          <a:solidFill>
            <a:srgbClr val="16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727448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La tecnología ayuda; la estrategia y el cliente siguen siendo esenciales.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7747E"/>
                </a:solidFill>
                <a:latin typeface="Aptos"/>
              </a:rPr>
              <a:t>Fuentes: Centro de ayuda de Shopify · Shopify Magic · Sidekick · Shopify App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747E"/>
                </a:solidFill>
                <a:latin typeface="Aptos"/>
              </a:rPr>
              <a:t>help.shopify.com/es/manual/ai-powered-tools  |  apps.shopify.com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