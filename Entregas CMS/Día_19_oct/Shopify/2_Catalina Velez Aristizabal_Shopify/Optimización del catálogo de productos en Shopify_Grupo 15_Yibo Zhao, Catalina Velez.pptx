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y Grotesk V3 Wide" panose="020B0604020202020204" charset="0"/>
      <p:regular r:id="rId14"/>
    </p:embeddedFont>
    <p:embeddedFont>
      <p:font typeface="Cy Grotesk V3 Wide Bold" panose="020B0604020202020204" charset="0"/>
      <p:regular r:id="rId15"/>
    </p:embeddedFont>
    <p:embeddedFont>
      <p:font typeface="TT Backwards" panose="020B0604020202020204" charset="0"/>
      <p:regular r:id="rId16"/>
    </p:embeddedFont>
    <p:embeddedFont>
      <p:font typeface="TT Hazelnuts" panose="020B0604020202020204" charset="0"/>
      <p:regular r:id="rId17"/>
    </p:embeddedFont>
    <p:embeddedFont>
      <p:font typeface="TT Hazelnuts Bold" panose="020B0604020202020204" charset="0"/>
      <p:regular r:id="rId18"/>
    </p:embeddedFont>
    <p:embeddedFont>
      <p:font typeface="TT Hazelnuts Italic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tostadero-aurora.myshopify.com" TargetMode="External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2.sv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24.svg"/><Relationship Id="rId5" Type="http://schemas.openxmlformats.org/officeDocument/2006/relationships/image" Target="../media/image31.jpeg"/><Relationship Id="rId4" Type="http://schemas.openxmlformats.org/officeDocument/2006/relationships/image" Target="../media/image3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1196" y="-124854"/>
            <a:ext cx="18690391" cy="10536708"/>
          </a:xfrm>
          <a:custGeom>
            <a:avLst/>
            <a:gdLst/>
            <a:ahLst/>
            <a:cxnLst/>
            <a:rect l="l" t="t" r="r" b="b"/>
            <a:pathLst>
              <a:path w="18690391" h="10536708">
                <a:moveTo>
                  <a:pt x="0" y="0"/>
                </a:moveTo>
                <a:lnTo>
                  <a:pt x="18690392" y="0"/>
                </a:lnTo>
                <a:lnTo>
                  <a:pt x="18690392" y="10536708"/>
                </a:lnTo>
                <a:lnTo>
                  <a:pt x="0" y="10536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999"/>
            </a:blip>
            <a:stretch>
              <a:fillRect l="-30843" r="-11877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4776453" y="5417393"/>
            <a:ext cx="3265835" cy="1027377"/>
          </a:xfrm>
          <a:custGeom>
            <a:avLst/>
            <a:gdLst/>
            <a:ahLst/>
            <a:cxnLst/>
            <a:rect l="l" t="t" r="r" b="b"/>
            <a:pathLst>
              <a:path w="3265835" h="1027377">
                <a:moveTo>
                  <a:pt x="0" y="0"/>
                </a:moveTo>
                <a:lnTo>
                  <a:pt x="3265835" y="0"/>
                </a:lnTo>
                <a:lnTo>
                  <a:pt x="3265835" y="1027378"/>
                </a:lnTo>
                <a:lnTo>
                  <a:pt x="0" y="1027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358609" y="4659098"/>
            <a:ext cx="5087935" cy="2543968"/>
          </a:xfrm>
          <a:custGeom>
            <a:avLst/>
            <a:gdLst/>
            <a:ahLst/>
            <a:cxnLst/>
            <a:rect l="l" t="t" r="r" b="b"/>
            <a:pathLst>
              <a:path w="5087935" h="2543968">
                <a:moveTo>
                  <a:pt x="0" y="0"/>
                </a:moveTo>
                <a:lnTo>
                  <a:pt x="5087935" y="0"/>
                </a:lnTo>
                <a:lnTo>
                  <a:pt x="5087935" y="2543968"/>
                </a:lnTo>
                <a:lnTo>
                  <a:pt x="0" y="2543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/>
          <p:cNvSpPr txBox="1"/>
          <p:nvPr/>
        </p:nvSpPr>
        <p:spPr>
          <a:xfrm>
            <a:off x="1028700" y="2011862"/>
            <a:ext cx="10958955" cy="391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979"/>
              </a:lnSpc>
            </a:pPr>
            <a:r>
              <a:rPr lang="en-US" sz="5699" b="1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OPTIMIZACIÓN DEL</a:t>
            </a:r>
          </a:p>
          <a:p>
            <a:pPr algn="just">
              <a:lnSpc>
                <a:spcPts val="7979"/>
              </a:lnSpc>
            </a:pPr>
            <a:r>
              <a:rPr lang="en-US" sz="5699" b="1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CATÁLOGO DE PRODUCTOS</a:t>
            </a:r>
          </a:p>
          <a:p>
            <a:pPr algn="just">
              <a:lnSpc>
                <a:spcPts val="7979"/>
              </a:lnSpc>
            </a:pPr>
            <a:r>
              <a:rPr lang="en-US" sz="5699" b="1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EN SHOPIFY</a:t>
            </a:r>
          </a:p>
          <a:p>
            <a:pPr algn="just">
              <a:lnSpc>
                <a:spcPts val="7280"/>
              </a:lnSpc>
            </a:pPr>
            <a:endParaRPr lang="en-US" sz="5699" b="1">
              <a:solidFill>
                <a:srgbClr val="624725"/>
              </a:solidFill>
              <a:latin typeface="TT Hazelnuts Bold"/>
              <a:ea typeface="TT Hazelnuts Bold"/>
              <a:cs typeface="TT Hazelnuts Bold"/>
              <a:sym typeface="TT Hazelnut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7357114"/>
            <a:ext cx="5588105" cy="188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spc="36">
                <a:solidFill>
                  <a:srgbClr val="291506"/>
                </a:solidFill>
                <a:latin typeface="TT Hazelnuts"/>
                <a:ea typeface="TT Hazelnuts"/>
                <a:cs typeface="TT Hazelnuts"/>
                <a:sym typeface="TT Hazelnuts"/>
              </a:rPr>
              <a:t>Grupo 15</a:t>
            </a:r>
          </a:p>
          <a:p>
            <a:pPr algn="just">
              <a:lnSpc>
                <a:spcPts val="5040"/>
              </a:lnSpc>
            </a:pPr>
            <a:r>
              <a:rPr lang="en-US" sz="3600" spc="36">
                <a:solidFill>
                  <a:srgbClr val="291506"/>
                </a:solidFill>
                <a:latin typeface="TT Hazelnuts"/>
                <a:ea typeface="TT Hazelnuts"/>
                <a:cs typeface="TT Hazelnuts"/>
                <a:sym typeface="TT Hazelnuts"/>
              </a:rPr>
              <a:t>Yibo Zhao</a:t>
            </a:r>
          </a:p>
          <a:p>
            <a:pPr algn="just">
              <a:lnSpc>
                <a:spcPts val="5040"/>
              </a:lnSpc>
            </a:pPr>
            <a:r>
              <a:rPr lang="en-US" sz="3600" spc="36">
                <a:solidFill>
                  <a:srgbClr val="291506"/>
                </a:solidFill>
                <a:latin typeface="TT Hazelnuts"/>
                <a:ea typeface="TT Hazelnuts"/>
                <a:cs typeface="TT Hazelnuts"/>
                <a:sym typeface="TT Hazelnuts"/>
              </a:rPr>
              <a:t>Catalina Vélez Aristizábal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52500"/>
            <a:ext cx="3747753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sz="3599" spc="35">
                <a:solidFill>
                  <a:srgbClr val="291506"/>
                </a:solidFill>
                <a:latin typeface="TT Hazelnuts"/>
                <a:ea typeface="TT Hazelnuts"/>
                <a:cs typeface="TT Hazelnuts"/>
                <a:sym typeface="TT Hazelnuts"/>
              </a:rPr>
              <a:t>MUCE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5009" y="-714132"/>
            <a:ext cx="6944375" cy="11001132"/>
          </a:xfrm>
          <a:custGeom>
            <a:avLst/>
            <a:gdLst/>
            <a:ahLst/>
            <a:cxnLst/>
            <a:rect l="l" t="t" r="r" b="b"/>
            <a:pathLst>
              <a:path w="6944375" h="11001132">
                <a:moveTo>
                  <a:pt x="0" y="0"/>
                </a:moveTo>
                <a:lnTo>
                  <a:pt x="6944375" y="0"/>
                </a:lnTo>
                <a:lnTo>
                  <a:pt x="6944375" y="11001132"/>
                </a:lnTo>
                <a:lnTo>
                  <a:pt x="0" y="110011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0101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0" y="6172200"/>
            <a:ext cx="2921508" cy="4114800"/>
          </a:xfrm>
          <a:custGeom>
            <a:avLst/>
            <a:gdLst/>
            <a:ahLst/>
            <a:cxnLst/>
            <a:rect l="l" t="t" r="r" b="b"/>
            <a:pathLst>
              <a:path w="2921508" h="4114800">
                <a:moveTo>
                  <a:pt x="0" y="0"/>
                </a:moveTo>
                <a:lnTo>
                  <a:pt x="2921508" y="0"/>
                </a:lnTo>
                <a:lnTo>
                  <a:pt x="2921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 rot="-1183212">
            <a:off x="14223797" y="-1523296"/>
            <a:ext cx="6396100" cy="5756490"/>
          </a:xfrm>
          <a:custGeom>
            <a:avLst/>
            <a:gdLst/>
            <a:ahLst/>
            <a:cxnLst/>
            <a:rect l="l" t="t" r="r" b="b"/>
            <a:pathLst>
              <a:path w="6396100" h="5756490">
                <a:moveTo>
                  <a:pt x="0" y="0"/>
                </a:moveTo>
                <a:lnTo>
                  <a:pt x="6396101" y="0"/>
                </a:lnTo>
                <a:lnTo>
                  <a:pt x="6396101" y="5756491"/>
                </a:lnTo>
                <a:lnTo>
                  <a:pt x="0" y="5756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Freeform 5"/>
          <p:cNvSpPr/>
          <p:nvPr/>
        </p:nvSpPr>
        <p:spPr>
          <a:xfrm>
            <a:off x="13440158" y="6378811"/>
            <a:ext cx="7315200" cy="3913632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TextBox 6"/>
          <p:cNvSpPr txBox="1"/>
          <p:nvPr/>
        </p:nvSpPr>
        <p:spPr>
          <a:xfrm>
            <a:off x="10339175" y="295740"/>
            <a:ext cx="6201967" cy="105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79"/>
              </a:lnSpc>
            </a:pPr>
            <a:r>
              <a:rPr lang="en-US" sz="6199" b="1" dirty="0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ÍNDICE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81629" y="1181100"/>
            <a:ext cx="7117058" cy="8407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9392" lvl="1" indent="-354696" algn="l">
              <a:lnSpc>
                <a:spcPts val="7360"/>
              </a:lnSpc>
              <a:buAutoNum type="arabicPeriod"/>
            </a:pPr>
            <a:r>
              <a:rPr lang="en-US" sz="3285" spc="32" dirty="0" err="1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Objetivo</a:t>
            </a:r>
            <a:r>
              <a:rPr lang="en-US" sz="3285" spc="32" dirty="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 y </a:t>
            </a:r>
            <a:r>
              <a:rPr lang="en-US" sz="3285" spc="32" dirty="0" err="1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situación</a:t>
            </a:r>
            <a:r>
              <a:rPr lang="en-US" sz="3285" spc="32" dirty="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 </a:t>
            </a:r>
            <a:r>
              <a:rPr lang="en-US" sz="3285" spc="32" dirty="0" err="1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inicial</a:t>
            </a:r>
            <a:endParaRPr lang="en-US" sz="3285" spc="32" dirty="0">
              <a:solidFill>
                <a:srgbClr val="624725"/>
              </a:solidFill>
              <a:latin typeface="TT Hazelnuts"/>
              <a:ea typeface="TT Hazelnuts"/>
              <a:cs typeface="TT Hazelnuts"/>
              <a:sym typeface="TT Hazelnuts"/>
            </a:endParaRPr>
          </a:p>
          <a:p>
            <a:pPr marL="709392" lvl="1" indent="-354696" algn="l">
              <a:lnSpc>
                <a:spcPts val="7360"/>
              </a:lnSpc>
              <a:buAutoNum type="arabicPeriod"/>
            </a:pPr>
            <a:r>
              <a:rPr lang="en-US" sz="3285" spc="32" dirty="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Organización del </a:t>
            </a:r>
            <a:r>
              <a:rPr lang="en-US" sz="3285" spc="32" dirty="0" err="1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catálogo</a:t>
            </a:r>
            <a:endParaRPr lang="en-US" sz="3285" spc="32" dirty="0">
              <a:solidFill>
                <a:srgbClr val="624725"/>
              </a:solidFill>
              <a:latin typeface="TT Hazelnuts"/>
              <a:ea typeface="TT Hazelnuts"/>
              <a:cs typeface="TT Hazelnuts"/>
              <a:sym typeface="TT Hazelnuts"/>
            </a:endParaRPr>
          </a:p>
          <a:p>
            <a:pPr marL="709392" lvl="1" indent="-354696" algn="l">
              <a:lnSpc>
                <a:spcPts val="7360"/>
              </a:lnSpc>
              <a:buAutoNum type="arabicPeriod"/>
            </a:pPr>
            <a:r>
              <a:rPr lang="en-US" sz="3285" spc="32" dirty="0" err="1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Variantes</a:t>
            </a:r>
            <a:r>
              <a:rPr lang="en-US" sz="3285" spc="32" dirty="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 y </a:t>
            </a:r>
            <a:r>
              <a:rPr lang="en-US" sz="3285" spc="32" dirty="0" err="1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metacampos</a:t>
            </a:r>
            <a:endParaRPr lang="en-US" sz="3285" spc="32" dirty="0">
              <a:solidFill>
                <a:srgbClr val="624725"/>
              </a:solidFill>
              <a:latin typeface="TT Hazelnuts"/>
              <a:ea typeface="TT Hazelnuts"/>
              <a:cs typeface="TT Hazelnuts"/>
              <a:sym typeface="TT Hazelnuts"/>
            </a:endParaRPr>
          </a:p>
          <a:p>
            <a:pPr marL="709392" lvl="1" indent="-354696" algn="l">
              <a:lnSpc>
                <a:spcPts val="7360"/>
              </a:lnSpc>
              <a:buAutoNum type="arabicPeriod"/>
            </a:pPr>
            <a:r>
              <a:rPr lang="en-US" sz="3285" spc="32" dirty="0" err="1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Mejora</a:t>
            </a:r>
            <a:r>
              <a:rPr lang="en-US" sz="3285" spc="32" dirty="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 de las </a:t>
            </a:r>
            <a:r>
              <a:rPr lang="en-US" sz="3285" spc="32" dirty="0" err="1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fichas</a:t>
            </a:r>
            <a:r>
              <a:rPr lang="en-US" sz="3285" spc="32" dirty="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 de </a:t>
            </a:r>
            <a:r>
              <a:rPr lang="en-US" sz="3285" spc="32" dirty="0" err="1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producto</a:t>
            </a:r>
            <a:endParaRPr lang="en-US" sz="3285" spc="32" dirty="0">
              <a:solidFill>
                <a:srgbClr val="624725"/>
              </a:solidFill>
              <a:latin typeface="TT Hazelnuts"/>
              <a:ea typeface="TT Hazelnuts"/>
              <a:cs typeface="TT Hazelnuts"/>
              <a:sym typeface="TT Hazelnuts"/>
            </a:endParaRPr>
          </a:p>
          <a:p>
            <a:pPr marL="709392" lvl="1" indent="-354696" algn="l">
              <a:lnSpc>
                <a:spcPts val="7360"/>
              </a:lnSpc>
              <a:buAutoNum type="arabicPeriod"/>
            </a:pPr>
            <a:r>
              <a:rPr lang="en-US" sz="3285" spc="32" dirty="0" err="1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Navegación</a:t>
            </a:r>
            <a:r>
              <a:rPr lang="en-US" sz="3285" spc="32" dirty="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, SEO e </a:t>
            </a:r>
            <a:r>
              <a:rPr lang="en-US" sz="3285" spc="32" dirty="0" err="1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inteligencia</a:t>
            </a:r>
            <a:r>
              <a:rPr lang="en-US" sz="3285" spc="32" dirty="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 artificial</a:t>
            </a:r>
          </a:p>
          <a:p>
            <a:pPr marL="709392" lvl="1" indent="-354696" algn="l">
              <a:lnSpc>
                <a:spcPts val="7360"/>
              </a:lnSpc>
              <a:buAutoNum type="arabicPeriod"/>
            </a:pPr>
            <a:r>
              <a:rPr lang="en-US" sz="3285" spc="32" dirty="0" err="1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Demostración</a:t>
            </a:r>
            <a:r>
              <a:rPr lang="en-US" sz="3285" spc="32" dirty="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 y </a:t>
            </a:r>
            <a:r>
              <a:rPr lang="en-US" sz="3285" spc="32" dirty="0" err="1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resultados</a:t>
            </a:r>
            <a:endParaRPr lang="en-US" sz="3285" spc="32" dirty="0">
              <a:solidFill>
                <a:srgbClr val="624725"/>
              </a:solidFill>
              <a:latin typeface="TT Hazelnuts"/>
              <a:ea typeface="TT Hazelnuts"/>
              <a:cs typeface="TT Hazelnuts"/>
              <a:sym typeface="TT Hazelnuts"/>
            </a:endParaRPr>
          </a:p>
          <a:p>
            <a:pPr marL="709392" lvl="1" indent="-354696">
              <a:lnSpc>
                <a:spcPts val="7360"/>
              </a:lnSpc>
              <a:buFontTx/>
              <a:buAutoNum type="arabicPeriod"/>
            </a:pPr>
            <a:r>
              <a:rPr lang="en-US" sz="3285" spc="32" dirty="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Página web</a:t>
            </a:r>
          </a:p>
          <a:p>
            <a:pPr marL="709392" lvl="1" indent="-354696" algn="l">
              <a:lnSpc>
                <a:spcPts val="7360"/>
              </a:lnSpc>
              <a:buAutoNum type="arabicPeriod"/>
            </a:pPr>
            <a:r>
              <a:rPr lang="en-US" sz="3285" spc="32" dirty="0" err="1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Conclusiones</a:t>
            </a:r>
            <a:endParaRPr lang="en-US" sz="3285" spc="32" dirty="0">
              <a:solidFill>
                <a:srgbClr val="624725"/>
              </a:solidFill>
              <a:latin typeface="TT Hazelnuts"/>
              <a:ea typeface="TT Hazelnuts"/>
              <a:cs typeface="TT Hazelnuts"/>
              <a:sym typeface="TT Hazelnut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14958" y="2580148"/>
            <a:ext cx="1087238" cy="1271624"/>
          </a:xfrm>
          <a:custGeom>
            <a:avLst/>
            <a:gdLst/>
            <a:ahLst/>
            <a:cxnLst/>
            <a:rect l="l" t="t" r="r" b="b"/>
            <a:pathLst>
              <a:path w="1087238" h="1271624">
                <a:moveTo>
                  <a:pt x="0" y="0"/>
                </a:moveTo>
                <a:lnTo>
                  <a:pt x="1087238" y="0"/>
                </a:lnTo>
                <a:lnTo>
                  <a:pt x="1087238" y="1271624"/>
                </a:lnTo>
                <a:lnTo>
                  <a:pt x="0" y="1271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16171561" y="1552497"/>
            <a:ext cx="937720" cy="937720"/>
          </a:xfrm>
          <a:custGeom>
            <a:avLst/>
            <a:gdLst/>
            <a:ahLst/>
            <a:cxnLst/>
            <a:rect l="l" t="t" r="r" b="b"/>
            <a:pathLst>
              <a:path w="937720" h="937720">
                <a:moveTo>
                  <a:pt x="0" y="0"/>
                </a:moveTo>
                <a:lnTo>
                  <a:pt x="937719" y="0"/>
                </a:lnTo>
                <a:lnTo>
                  <a:pt x="937719" y="937719"/>
                </a:lnTo>
                <a:lnTo>
                  <a:pt x="0" y="9377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779162" y="2021356"/>
            <a:ext cx="7499475" cy="5824835"/>
            <a:chOff x="0" y="0"/>
            <a:chExt cx="13081000" cy="10160000"/>
          </a:xfrm>
        </p:grpSpPr>
        <p:sp>
          <p:nvSpPr>
            <p:cNvPr id="5" name="Freeform 5"/>
            <p:cNvSpPr/>
            <p:nvPr/>
          </p:nvSpPr>
          <p:spPr>
            <a:xfrm>
              <a:off x="480060" y="1689100"/>
              <a:ext cx="12105640" cy="5897880"/>
            </a:xfrm>
            <a:custGeom>
              <a:avLst/>
              <a:gdLst/>
              <a:ahLst/>
              <a:cxnLst/>
              <a:rect l="l" t="t" r="r" b="b"/>
              <a:pathLst>
                <a:path w="12105640" h="5897880">
                  <a:moveTo>
                    <a:pt x="0" y="0"/>
                  </a:moveTo>
                  <a:lnTo>
                    <a:pt x="12105640" y="0"/>
                  </a:lnTo>
                  <a:lnTo>
                    <a:pt x="12105640" y="5897880"/>
                  </a:lnTo>
                  <a:lnTo>
                    <a:pt x="0" y="5897880"/>
                  </a:lnTo>
                  <a:close/>
                </a:path>
              </a:pathLst>
            </a:custGeom>
            <a:blipFill>
              <a:blip r:embed="rId4"/>
              <a:stretch>
                <a:fillRect t="-864" b="-864"/>
              </a:stretch>
            </a:blipFill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13081000" cy="10160000"/>
            </a:xfrm>
            <a:custGeom>
              <a:avLst/>
              <a:gdLst/>
              <a:ahLst/>
              <a:cxnLst/>
              <a:rect l="l" t="t" r="r" b="b"/>
              <a:pathLst>
                <a:path w="13081000" h="10160000">
                  <a:moveTo>
                    <a:pt x="0" y="0"/>
                  </a:moveTo>
                  <a:lnTo>
                    <a:pt x="13081000" y="0"/>
                  </a:lnTo>
                  <a:lnTo>
                    <a:pt x="13081000" y="10160000"/>
                  </a:lnTo>
                  <a:lnTo>
                    <a:pt x="0" y="1016000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7" name="Freeform 7"/>
          <p:cNvSpPr/>
          <p:nvPr/>
        </p:nvSpPr>
        <p:spPr>
          <a:xfrm>
            <a:off x="11227667" y="0"/>
            <a:ext cx="7315200" cy="2450592"/>
          </a:xfrm>
          <a:custGeom>
            <a:avLst/>
            <a:gdLst/>
            <a:ahLst/>
            <a:cxnLst/>
            <a:rect l="l" t="t" r="r" b="b"/>
            <a:pathLst>
              <a:path w="7315200" h="2450592">
                <a:moveTo>
                  <a:pt x="0" y="0"/>
                </a:moveTo>
                <a:lnTo>
                  <a:pt x="7315200" y="0"/>
                </a:lnTo>
                <a:lnTo>
                  <a:pt x="7315200" y="2450592"/>
                </a:lnTo>
                <a:lnTo>
                  <a:pt x="0" y="24505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Freeform 8"/>
          <p:cNvSpPr/>
          <p:nvPr/>
        </p:nvSpPr>
        <p:spPr>
          <a:xfrm>
            <a:off x="-462038" y="6376331"/>
            <a:ext cx="5675586" cy="4114800"/>
          </a:xfrm>
          <a:custGeom>
            <a:avLst/>
            <a:gdLst/>
            <a:ahLst/>
            <a:cxnLst/>
            <a:rect l="l" t="t" r="r" b="b"/>
            <a:pathLst>
              <a:path w="5675586" h="4114800">
                <a:moveTo>
                  <a:pt x="0" y="0"/>
                </a:moveTo>
                <a:lnTo>
                  <a:pt x="5675587" y="0"/>
                </a:lnTo>
                <a:lnTo>
                  <a:pt x="56755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TextBox 9"/>
          <p:cNvSpPr txBox="1"/>
          <p:nvPr/>
        </p:nvSpPr>
        <p:spPr>
          <a:xfrm>
            <a:off x="7372274" y="1695196"/>
            <a:ext cx="10506759" cy="79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</a:pPr>
            <a:r>
              <a:rPr lang="en-US" sz="4699">
                <a:solidFill>
                  <a:srgbClr val="AD573D"/>
                </a:solidFill>
                <a:latin typeface="TT Backwards"/>
                <a:ea typeface="TT Backwards"/>
                <a:cs typeface="TT Backwards"/>
                <a:sym typeface="TT Backwards"/>
              </a:rPr>
              <a:t>EL RETO DE TOSTADERO AURORA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95838" y="4356597"/>
            <a:ext cx="8897665" cy="5622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00"/>
              </a:lnSpc>
            </a:pPr>
            <a:r>
              <a:rPr lang="en-US" sz="2500" b="1" spc="25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Objetivo:</a:t>
            </a:r>
          </a:p>
          <a:p>
            <a:pPr algn="just">
              <a:lnSpc>
                <a:spcPts val="4100"/>
              </a:lnSpc>
            </a:pPr>
            <a:r>
              <a:rPr lang="en-US" sz="2500" spc="25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Mejorar la organización del catálogo, completar la información de los productos y facilitar la navegación.</a:t>
            </a:r>
          </a:p>
          <a:p>
            <a:pPr algn="just">
              <a:lnSpc>
                <a:spcPts val="4100"/>
              </a:lnSpc>
            </a:pPr>
            <a:endParaRPr lang="en-US" sz="2500" spc="25">
              <a:solidFill>
                <a:srgbClr val="624725"/>
              </a:solidFill>
              <a:latin typeface="TT Hazelnuts"/>
              <a:ea typeface="TT Hazelnuts"/>
              <a:cs typeface="TT Hazelnuts"/>
              <a:sym typeface="TT Hazelnuts"/>
            </a:endParaRPr>
          </a:p>
          <a:p>
            <a:pPr algn="just">
              <a:lnSpc>
                <a:spcPts val="4100"/>
              </a:lnSpc>
            </a:pPr>
            <a:r>
              <a:rPr lang="en-US" sz="2500" b="1" spc="25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Situación inicial:</a:t>
            </a:r>
          </a:p>
          <a:p>
            <a:pPr marL="539756" lvl="1" indent="-269878" algn="just">
              <a:lnSpc>
                <a:spcPts val="4100"/>
              </a:lnSpc>
              <a:buFont typeface="Arial"/>
              <a:buChar char="•"/>
            </a:pPr>
            <a:r>
              <a:rPr lang="en-US" sz="2500" spc="25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12 productos (9 registros de café y 3 accesorios).</a:t>
            </a:r>
          </a:p>
          <a:p>
            <a:pPr marL="539756" lvl="1" indent="-269878" algn="just">
              <a:lnSpc>
                <a:spcPts val="4100"/>
              </a:lnSpc>
              <a:buFont typeface="Arial"/>
              <a:buChar char="•"/>
            </a:pPr>
            <a:r>
              <a:rPr lang="en-US" sz="2500" spc="25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7 valores distintos de tipo de producto.</a:t>
            </a:r>
          </a:p>
          <a:p>
            <a:pPr marL="539756" lvl="1" indent="-269878" algn="just">
              <a:lnSpc>
                <a:spcPts val="4100"/>
              </a:lnSpc>
              <a:buFont typeface="Arial"/>
              <a:buChar char="•"/>
            </a:pPr>
            <a:r>
              <a:rPr lang="en-US" sz="2500" spc="25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5 descripciones vacías y ninguna imagen.</a:t>
            </a:r>
          </a:p>
          <a:p>
            <a:pPr marL="539756" lvl="1" indent="-269878" algn="just">
              <a:lnSpc>
                <a:spcPts val="4100"/>
              </a:lnSpc>
              <a:buFont typeface="Arial"/>
              <a:buChar char="•"/>
            </a:pPr>
            <a:r>
              <a:rPr lang="en-US" sz="2500" spc="25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Formatos separados, etiquetas inconsistentes y sin colecciones propias.</a:t>
            </a:r>
          </a:p>
          <a:p>
            <a:pPr algn="just">
              <a:lnSpc>
                <a:spcPts val="4100"/>
              </a:lnSpc>
            </a:pPr>
            <a:endParaRPr lang="en-US" sz="2500" spc="25">
              <a:solidFill>
                <a:srgbClr val="624725"/>
              </a:solidFill>
              <a:latin typeface="TT Hazelnuts"/>
              <a:ea typeface="TT Hazelnuts"/>
              <a:cs typeface="TT Hazelnuts"/>
              <a:sym typeface="TT Hazelnut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-462038" y="371473"/>
            <a:ext cx="13087691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50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01.  OBJETIVO Y SITUACIÓN INICIAL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73205" y="2544562"/>
            <a:ext cx="6542931" cy="1307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2"/>
              </a:lnSpc>
              <a:spcBef>
                <a:spcPct val="0"/>
              </a:spcBef>
            </a:pPr>
            <a:r>
              <a:rPr lang="en-US" sz="3200" b="1" spc="32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Una tienda de prueba en Shopify</a:t>
            </a:r>
          </a:p>
          <a:p>
            <a:pPr algn="ctr">
              <a:lnSpc>
                <a:spcPts val="5472"/>
              </a:lnSpc>
              <a:spcBef>
                <a:spcPct val="0"/>
              </a:spcBef>
            </a:pPr>
            <a:r>
              <a:rPr lang="en-US" sz="3200" spc="32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Café de especialidad y accesorios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5443" y="6845796"/>
            <a:ext cx="6546915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i="1" spc="20">
                <a:solidFill>
                  <a:srgbClr val="624725"/>
                </a:solidFill>
                <a:latin typeface="TT Hazelnuts Italics"/>
                <a:ea typeface="TT Hazelnuts Italics"/>
                <a:cs typeface="TT Hazelnuts Italics"/>
                <a:sym typeface="TT Hazelnuts Italics"/>
              </a:rPr>
              <a:t>NOTA: El catálogo inicial también carecía de filtros configurados y de SEO personalizado.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2038" y="6376331"/>
            <a:ext cx="5675586" cy="4114800"/>
          </a:xfrm>
          <a:custGeom>
            <a:avLst/>
            <a:gdLst/>
            <a:ahLst/>
            <a:cxnLst/>
            <a:rect l="l" t="t" r="r" b="b"/>
            <a:pathLst>
              <a:path w="5675586" h="4114800">
                <a:moveTo>
                  <a:pt x="0" y="0"/>
                </a:moveTo>
                <a:lnTo>
                  <a:pt x="5675587" y="0"/>
                </a:lnTo>
                <a:lnTo>
                  <a:pt x="56755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14948897" y="-1417788"/>
            <a:ext cx="4402836" cy="8229600"/>
          </a:xfrm>
          <a:custGeom>
            <a:avLst/>
            <a:gdLst/>
            <a:ahLst/>
            <a:cxnLst/>
            <a:rect l="l" t="t" r="r" b="b"/>
            <a:pathLst>
              <a:path w="4402836" h="8229600">
                <a:moveTo>
                  <a:pt x="0" y="0"/>
                </a:moveTo>
                <a:lnTo>
                  <a:pt x="4402836" y="0"/>
                </a:lnTo>
                <a:lnTo>
                  <a:pt x="440283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TextBox 4"/>
          <p:cNvSpPr txBox="1"/>
          <p:nvPr/>
        </p:nvSpPr>
        <p:spPr>
          <a:xfrm>
            <a:off x="1028700" y="734508"/>
            <a:ext cx="11734753" cy="12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1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02. ORGANIZACIÓN DEL CATÁLOGO</a:t>
            </a:r>
          </a:p>
          <a:p>
            <a:pPr algn="l">
              <a:lnSpc>
                <a:spcPts val="5000"/>
              </a:lnSpc>
            </a:pPr>
            <a:endParaRPr lang="en-US" sz="5000" b="1">
              <a:solidFill>
                <a:srgbClr val="624725"/>
              </a:solidFill>
              <a:latin typeface="TT Hazelnuts Bold"/>
              <a:ea typeface="TT Hazelnuts Bold"/>
              <a:cs typeface="TT Hazelnuts Bold"/>
              <a:sym typeface="TT Hazelnut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435208"/>
            <a:ext cx="5867377" cy="795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3"/>
              </a:lnSpc>
              <a:spcBef>
                <a:spcPct val="0"/>
              </a:spcBef>
            </a:pPr>
            <a:r>
              <a:rPr lang="en-US" sz="3300" b="1">
                <a:solidFill>
                  <a:srgbClr val="AD573D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Tipo de producto</a:t>
            </a:r>
          </a:p>
          <a:p>
            <a:pPr algn="l">
              <a:lnSpc>
                <a:spcPts val="4347"/>
              </a:lnSpc>
              <a:spcBef>
                <a:spcPct val="0"/>
              </a:spcBef>
            </a:pPr>
            <a:r>
              <a:rPr lang="en-US" sz="2700">
                <a:solidFill>
                  <a:srgbClr val="624725"/>
                </a:solidFill>
                <a:latin typeface="Cy Grotesk V3 Wide"/>
                <a:ea typeface="Cy Grotesk V3 Wide"/>
                <a:cs typeface="Cy Grotesk V3 Wide"/>
                <a:sym typeface="Cy Grotesk V3 Wide"/>
              </a:rPr>
              <a:t> Dos categorías: Café y Accesorio</a:t>
            </a:r>
          </a:p>
          <a:p>
            <a:pPr algn="l">
              <a:lnSpc>
                <a:spcPts val="5313"/>
              </a:lnSpc>
              <a:spcBef>
                <a:spcPct val="0"/>
              </a:spcBef>
            </a:pPr>
            <a:r>
              <a:rPr lang="en-US" sz="3300" b="1">
                <a:solidFill>
                  <a:srgbClr val="AD573D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Etiquetas</a:t>
            </a:r>
          </a:p>
          <a:p>
            <a:pPr algn="l">
              <a:lnSpc>
                <a:spcPts val="4347"/>
              </a:lnSpc>
              <a:spcBef>
                <a:spcPct val="0"/>
              </a:spcBef>
            </a:pPr>
            <a:r>
              <a:rPr lang="en-US" sz="2700">
                <a:solidFill>
                  <a:srgbClr val="624725"/>
                </a:solidFill>
                <a:latin typeface="Cy Grotesk V3 Wide"/>
                <a:ea typeface="Cy Grotesk V3 Wide"/>
                <a:cs typeface="Cy Grotesk V3 Wide"/>
                <a:sym typeface="Cy Grotesk V3 Wide"/>
              </a:rPr>
              <a:t> Vocabulario controlado con tres prefijos: origen_, tueste_ y uso_</a:t>
            </a:r>
          </a:p>
          <a:p>
            <a:pPr algn="l">
              <a:lnSpc>
                <a:spcPts val="5313"/>
              </a:lnSpc>
              <a:spcBef>
                <a:spcPct val="0"/>
              </a:spcBef>
            </a:pPr>
            <a:r>
              <a:rPr lang="en-US" sz="3300" b="1" spc="33">
                <a:solidFill>
                  <a:srgbClr val="AD573D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rPr>
              <a:t>Colecciones</a:t>
            </a:r>
          </a:p>
          <a:p>
            <a:pPr marL="582935" lvl="1" indent="-291467" algn="l">
              <a:lnSpc>
                <a:spcPts val="4347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624725"/>
                </a:solidFill>
                <a:latin typeface="Cy Grotesk V3 Wide"/>
                <a:ea typeface="Cy Grotesk V3 Wide"/>
                <a:cs typeface="Cy Grotesk V3 Wide"/>
                <a:sym typeface="Cy Grotesk V3 Wide"/>
              </a:rPr>
              <a:t>Cafés</a:t>
            </a:r>
          </a:p>
          <a:p>
            <a:pPr marL="582935" lvl="1" indent="-291467" algn="l">
              <a:lnSpc>
                <a:spcPts val="4347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624725"/>
                </a:solidFill>
                <a:latin typeface="Cy Grotesk V3 Wide"/>
                <a:ea typeface="Cy Grotesk V3 Wide"/>
                <a:cs typeface="Cy Grotesk V3 Wide"/>
                <a:sym typeface="Cy Grotesk V3 Wide"/>
              </a:rPr>
              <a:t>Accesorios</a:t>
            </a:r>
          </a:p>
          <a:p>
            <a:pPr marL="582935" lvl="1" indent="-291467" algn="l">
              <a:lnSpc>
                <a:spcPts val="4347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624725"/>
                </a:solidFill>
                <a:latin typeface="Cy Grotesk V3 Wide"/>
                <a:ea typeface="Cy Grotesk V3 Wide"/>
                <a:cs typeface="Cy Grotesk V3 Wide"/>
                <a:sym typeface="Cy Grotesk V3 Wide"/>
              </a:rPr>
              <a:t>Tueste claro</a:t>
            </a:r>
          </a:p>
          <a:p>
            <a:pPr marL="582935" lvl="1" indent="-291467" algn="l">
              <a:lnSpc>
                <a:spcPts val="4347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624725"/>
                </a:solidFill>
                <a:latin typeface="Cy Grotesk V3 Wide"/>
                <a:ea typeface="Cy Grotesk V3 Wide"/>
                <a:cs typeface="Cy Grotesk V3 Wide"/>
                <a:sym typeface="Cy Grotesk V3 Wide"/>
              </a:rPr>
              <a:t>Tueste medio</a:t>
            </a:r>
          </a:p>
          <a:p>
            <a:pPr marL="582935" lvl="1" indent="-291467" algn="l">
              <a:lnSpc>
                <a:spcPts val="4347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624725"/>
                </a:solidFill>
                <a:latin typeface="Cy Grotesk V3 Wide"/>
                <a:ea typeface="Cy Grotesk V3 Wide"/>
                <a:cs typeface="Cy Grotesk V3 Wide"/>
                <a:sym typeface="Cy Grotesk V3 Wide"/>
              </a:rPr>
              <a:t>Tueste oscuro</a:t>
            </a:r>
          </a:p>
          <a:p>
            <a:pPr algn="l">
              <a:lnSpc>
                <a:spcPts val="4347"/>
              </a:lnSpc>
              <a:spcBef>
                <a:spcPct val="0"/>
              </a:spcBef>
            </a:pPr>
            <a:endParaRPr lang="en-US" sz="2700">
              <a:solidFill>
                <a:srgbClr val="624725"/>
              </a:solidFill>
              <a:latin typeface="Cy Grotesk V3 Wide"/>
              <a:ea typeface="Cy Grotesk V3 Wide"/>
              <a:cs typeface="Cy Grotesk V3 Wide"/>
              <a:sym typeface="Cy Grotesk V3 Wide"/>
            </a:endParaRP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5740385" y="1675533"/>
            <a:ext cx="13287090" cy="7621314"/>
            <a:chOff x="0" y="0"/>
            <a:chExt cx="7981950" cy="4578350"/>
          </a:xfrm>
        </p:grpSpPr>
        <p:sp>
          <p:nvSpPr>
            <p:cNvPr id="7" name="Freeform 7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Freeform 9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4"/>
              <a:stretch>
                <a:fillRect l="-2512" r="-2512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7534" b="-69131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2525009" y="1929787"/>
            <a:ext cx="4549878" cy="1913540"/>
            <a:chOff x="0" y="0"/>
            <a:chExt cx="6066504" cy="2551387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6066504" cy="2024129"/>
              <a:chOff x="0" y="0"/>
              <a:chExt cx="1198322" cy="39982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198322" cy="399828"/>
              </a:xfrm>
              <a:custGeom>
                <a:avLst/>
                <a:gdLst/>
                <a:ahLst/>
                <a:cxnLst/>
                <a:rect l="l" t="t" r="r" b="b"/>
                <a:pathLst>
                  <a:path w="1198322" h="399828">
                    <a:moveTo>
                      <a:pt x="86780" y="0"/>
                    </a:moveTo>
                    <a:lnTo>
                      <a:pt x="1111542" y="0"/>
                    </a:lnTo>
                    <a:cubicBezTo>
                      <a:pt x="1159469" y="0"/>
                      <a:pt x="1198322" y="38853"/>
                      <a:pt x="1198322" y="86780"/>
                    </a:cubicBezTo>
                    <a:lnTo>
                      <a:pt x="1198322" y="313048"/>
                    </a:lnTo>
                    <a:cubicBezTo>
                      <a:pt x="1198322" y="336063"/>
                      <a:pt x="1189179" y="358136"/>
                      <a:pt x="1172904" y="374411"/>
                    </a:cubicBezTo>
                    <a:cubicBezTo>
                      <a:pt x="1156630" y="390685"/>
                      <a:pt x="1134557" y="399828"/>
                      <a:pt x="1111542" y="399828"/>
                    </a:cubicBezTo>
                    <a:lnTo>
                      <a:pt x="86780" y="399828"/>
                    </a:lnTo>
                    <a:cubicBezTo>
                      <a:pt x="63764" y="399828"/>
                      <a:pt x="41692" y="390685"/>
                      <a:pt x="25417" y="374411"/>
                    </a:cubicBezTo>
                    <a:cubicBezTo>
                      <a:pt x="9143" y="358136"/>
                      <a:pt x="0" y="336063"/>
                      <a:pt x="0" y="313048"/>
                    </a:cubicBezTo>
                    <a:lnTo>
                      <a:pt x="0" y="86780"/>
                    </a:lnTo>
                    <a:cubicBezTo>
                      <a:pt x="0" y="63764"/>
                      <a:pt x="9143" y="41692"/>
                      <a:pt x="25417" y="25417"/>
                    </a:cubicBezTo>
                    <a:cubicBezTo>
                      <a:pt x="41692" y="9143"/>
                      <a:pt x="63764" y="0"/>
                      <a:pt x="86780" y="0"/>
                    </a:cubicBezTo>
                    <a:close/>
                  </a:path>
                </a:pathLst>
              </a:custGeom>
              <a:ln w="47625" cap="rnd">
                <a:solidFill>
                  <a:srgbClr val="AD573D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198322" cy="4379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126745"/>
              <a:ext cx="6066504" cy="2424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AD573D"/>
                  </a:solidFill>
                  <a:latin typeface="Cy Grotesk V3 Wide Bold"/>
                  <a:ea typeface="Cy Grotesk V3 Wide Bold"/>
                  <a:cs typeface="Cy Grotesk V3 Wide Bold"/>
                  <a:sym typeface="Cy Grotesk V3 Wide Bold"/>
                </a:rPr>
                <a:t> OPCIONES DE COMPRA</a:t>
              </a:r>
            </a:p>
            <a:p>
              <a:pPr algn="ctr">
                <a:lnSpc>
                  <a:spcPts val="4900"/>
                </a:lnSpc>
              </a:pPr>
              <a:endParaRPr lang="en-US" sz="3500" b="1">
                <a:solidFill>
                  <a:srgbClr val="AD573D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280227" y="1929787"/>
            <a:ext cx="4565607" cy="1913540"/>
            <a:chOff x="0" y="0"/>
            <a:chExt cx="6087476" cy="2551387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087476" cy="2024129"/>
              <a:chOff x="0" y="0"/>
              <a:chExt cx="1202464" cy="39982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202464" cy="399828"/>
              </a:xfrm>
              <a:custGeom>
                <a:avLst/>
                <a:gdLst/>
                <a:ahLst/>
                <a:cxnLst/>
                <a:rect l="l" t="t" r="r" b="b"/>
                <a:pathLst>
                  <a:path w="1202464" h="399828">
                    <a:moveTo>
                      <a:pt x="86481" y="0"/>
                    </a:moveTo>
                    <a:lnTo>
                      <a:pt x="1115983" y="0"/>
                    </a:lnTo>
                    <a:cubicBezTo>
                      <a:pt x="1138920" y="0"/>
                      <a:pt x="1160916" y="9111"/>
                      <a:pt x="1177135" y="25330"/>
                    </a:cubicBezTo>
                    <a:cubicBezTo>
                      <a:pt x="1193353" y="41548"/>
                      <a:pt x="1202464" y="63545"/>
                      <a:pt x="1202464" y="86481"/>
                    </a:cubicBezTo>
                    <a:lnTo>
                      <a:pt x="1202464" y="313347"/>
                    </a:lnTo>
                    <a:cubicBezTo>
                      <a:pt x="1202464" y="336283"/>
                      <a:pt x="1193353" y="358280"/>
                      <a:pt x="1177135" y="374498"/>
                    </a:cubicBezTo>
                    <a:cubicBezTo>
                      <a:pt x="1160916" y="390717"/>
                      <a:pt x="1138920" y="399828"/>
                      <a:pt x="1115983" y="399828"/>
                    </a:cubicBezTo>
                    <a:lnTo>
                      <a:pt x="86481" y="399828"/>
                    </a:lnTo>
                    <a:cubicBezTo>
                      <a:pt x="63545" y="399828"/>
                      <a:pt x="41548" y="390717"/>
                      <a:pt x="25330" y="374498"/>
                    </a:cubicBezTo>
                    <a:cubicBezTo>
                      <a:pt x="9111" y="358280"/>
                      <a:pt x="0" y="336283"/>
                      <a:pt x="0" y="313347"/>
                    </a:cubicBezTo>
                    <a:lnTo>
                      <a:pt x="0" y="86481"/>
                    </a:lnTo>
                    <a:cubicBezTo>
                      <a:pt x="0" y="63545"/>
                      <a:pt x="9111" y="41548"/>
                      <a:pt x="25330" y="25330"/>
                    </a:cubicBezTo>
                    <a:cubicBezTo>
                      <a:pt x="41548" y="9111"/>
                      <a:pt x="63545" y="0"/>
                      <a:pt x="86481" y="0"/>
                    </a:cubicBezTo>
                    <a:close/>
                  </a:path>
                </a:pathLst>
              </a:custGeom>
              <a:ln w="47625" cap="rnd">
                <a:solidFill>
                  <a:srgbClr val="AD573D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202464" cy="43792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0" y="126745"/>
              <a:ext cx="6087476" cy="2424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1">
                  <a:solidFill>
                    <a:srgbClr val="AD573D"/>
                  </a:solidFill>
                  <a:latin typeface="Cy Grotesk V3 Wide Bold"/>
                  <a:ea typeface="Cy Grotesk V3 Wide Bold"/>
                  <a:cs typeface="Cy Grotesk V3 Wide Bold"/>
                  <a:sym typeface="Cy Grotesk V3 Wide Bold"/>
                </a:rPr>
                <a:t>ATRIBUTOS DEL PRODUCTO</a:t>
              </a:r>
            </a:p>
            <a:p>
              <a:pPr algn="ctr">
                <a:lnSpc>
                  <a:spcPts val="4900"/>
                </a:lnSpc>
              </a:pPr>
              <a:endParaRPr lang="en-US" sz="3500" b="1">
                <a:solidFill>
                  <a:srgbClr val="AD573D"/>
                </a:solidFill>
                <a:latin typeface="Cy Grotesk V3 Wide Bold"/>
                <a:ea typeface="Cy Grotesk V3 Wide Bold"/>
                <a:cs typeface="Cy Grotesk V3 Wide Bold"/>
                <a:sym typeface="Cy Grotesk V3 Wide Bold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781416" y="5196950"/>
            <a:ext cx="8779948" cy="2146596"/>
          </a:xfrm>
          <a:custGeom>
            <a:avLst/>
            <a:gdLst/>
            <a:ahLst/>
            <a:cxnLst/>
            <a:rect l="l" t="t" r="r" b="b"/>
            <a:pathLst>
              <a:path w="8779948" h="2146596">
                <a:moveTo>
                  <a:pt x="0" y="0"/>
                </a:moveTo>
                <a:lnTo>
                  <a:pt x="8779948" y="0"/>
                </a:lnTo>
                <a:lnTo>
                  <a:pt x="8779948" y="2146596"/>
                </a:lnTo>
                <a:lnTo>
                  <a:pt x="0" y="21465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78" b="-478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Freeform 14"/>
          <p:cNvSpPr/>
          <p:nvPr/>
        </p:nvSpPr>
        <p:spPr>
          <a:xfrm>
            <a:off x="10252319" y="5011632"/>
            <a:ext cx="7006981" cy="2517231"/>
          </a:xfrm>
          <a:custGeom>
            <a:avLst/>
            <a:gdLst/>
            <a:ahLst/>
            <a:cxnLst/>
            <a:rect l="l" t="t" r="r" b="b"/>
            <a:pathLst>
              <a:path w="7006981" h="2517231">
                <a:moveTo>
                  <a:pt x="0" y="0"/>
                </a:moveTo>
                <a:lnTo>
                  <a:pt x="7006981" y="0"/>
                </a:lnTo>
                <a:lnTo>
                  <a:pt x="7006981" y="2517232"/>
                </a:lnTo>
                <a:lnTo>
                  <a:pt x="0" y="2517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TextBox 15"/>
          <p:cNvSpPr txBox="1"/>
          <p:nvPr/>
        </p:nvSpPr>
        <p:spPr>
          <a:xfrm>
            <a:off x="1028700" y="746125"/>
            <a:ext cx="10677499" cy="66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1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03. VARIANTES Y METACAMPOS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3017" y="3870457"/>
            <a:ext cx="6813860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3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Colombia Huila</a:t>
            </a:r>
          </a:p>
          <a:p>
            <a:pPr algn="ctr">
              <a:lnSpc>
                <a:spcPts val="4200"/>
              </a:lnSpc>
            </a:pPr>
            <a:r>
              <a:rPr lang="en-US" sz="3000" spc="3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250 g y 1 kg en una sola ficha</a:t>
            </a:r>
          </a:p>
          <a:p>
            <a:pPr algn="ctr">
              <a:lnSpc>
                <a:spcPts val="4200"/>
              </a:lnSpc>
            </a:pPr>
            <a:endParaRPr lang="en-US" sz="3000" spc="30">
              <a:solidFill>
                <a:srgbClr val="624725"/>
              </a:solidFill>
              <a:latin typeface="TT Hazelnuts"/>
              <a:ea typeface="TT Hazelnuts"/>
              <a:cs typeface="TT Hazelnuts"/>
              <a:sym typeface="TT Hazelnut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012836" y="7815597"/>
            <a:ext cx="6317109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3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Cada variante conserva su precio, SKU y existencias.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52319" y="3973408"/>
            <a:ext cx="698376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3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Origen · Proceso · Tueste · Notas de cata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24519" y="7815597"/>
            <a:ext cx="6462581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3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Rellenados en el panel.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3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Pendiente conectarlos al tema.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44686" y="6511104"/>
            <a:ext cx="7315200" cy="4059936"/>
          </a:xfrm>
          <a:custGeom>
            <a:avLst/>
            <a:gdLst/>
            <a:ahLst/>
            <a:cxnLst/>
            <a:rect l="l" t="t" r="r" b="b"/>
            <a:pathLst>
              <a:path w="7315200" h="4059936">
                <a:moveTo>
                  <a:pt x="0" y="0"/>
                </a:moveTo>
                <a:lnTo>
                  <a:pt x="7315200" y="0"/>
                </a:lnTo>
                <a:lnTo>
                  <a:pt x="7315200" y="4059936"/>
                </a:lnTo>
                <a:lnTo>
                  <a:pt x="0" y="4059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1141345" y="4784872"/>
            <a:ext cx="8002655" cy="5091239"/>
          </a:xfrm>
          <a:custGeom>
            <a:avLst/>
            <a:gdLst/>
            <a:ahLst/>
            <a:cxnLst/>
            <a:rect l="l" t="t" r="r" b="b"/>
            <a:pathLst>
              <a:path w="8002655" h="5091239">
                <a:moveTo>
                  <a:pt x="0" y="0"/>
                </a:moveTo>
                <a:lnTo>
                  <a:pt x="8002655" y="0"/>
                </a:lnTo>
                <a:lnTo>
                  <a:pt x="8002655" y="5091239"/>
                </a:lnTo>
                <a:lnTo>
                  <a:pt x="0" y="5091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01" r="-8999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12486360" y="-953217"/>
            <a:ext cx="6653101" cy="8113538"/>
          </a:xfrm>
          <a:custGeom>
            <a:avLst/>
            <a:gdLst/>
            <a:ahLst/>
            <a:cxnLst/>
            <a:rect l="l" t="t" r="r" b="b"/>
            <a:pathLst>
              <a:path w="6653101" h="8113538">
                <a:moveTo>
                  <a:pt x="0" y="0"/>
                </a:moveTo>
                <a:lnTo>
                  <a:pt x="6653101" y="0"/>
                </a:lnTo>
                <a:lnTo>
                  <a:pt x="6653101" y="8113538"/>
                </a:lnTo>
                <a:lnTo>
                  <a:pt x="0" y="81135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4000"/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Freeform 5"/>
          <p:cNvSpPr/>
          <p:nvPr/>
        </p:nvSpPr>
        <p:spPr>
          <a:xfrm>
            <a:off x="10611587" y="4784872"/>
            <a:ext cx="6456112" cy="5013870"/>
          </a:xfrm>
          <a:custGeom>
            <a:avLst/>
            <a:gdLst/>
            <a:ahLst/>
            <a:cxnLst/>
            <a:rect l="l" t="t" r="r" b="b"/>
            <a:pathLst>
              <a:path w="6456112" h="5013870">
                <a:moveTo>
                  <a:pt x="0" y="0"/>
                </a:moveTo>
                <a:lnTo>
                  <a:pt x="6456112" y="0"/>
                </a:lnTo>
                <a:lnTo>
                  <a:pt x="6456112" y="5013870"/>
                </a:lnTo>
                <a:lnTo>
                  <a:pt x="0" y="5013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TextBox 6"/>
          <p:cNvSpPr txBox="1"/>
          <p:nvPr/>
        </p:nvSpPr>
        <p:spPr>
          <a:xfrm>
            <a:off x="1138806" y="746125"/>
            <a:ext cx="15785096" cy="66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1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04. MEJORA DE LAS FICHAS DE PRODUCTO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8806" y="1908089"/>
            <a:ext cx="8239298" cy="264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1" spc="30">
                <a:solidFill>
                  <a:srgbClr val="AD573D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ANTES</a:t>
            </a:r>
          </a:p>
          <a:p>
            <a:pPr marL="647702" lvl="1" indent="-323851" algn="just">
              <a:lnSpc>
                <a:spcPts val="4200"/>
              </a:lnSpc>
              <a:buFont typeface="Arial"/>
              <a:buChar char="•"/>
            </a:pPr>
            <a:r>
              <a:rPr lang="en-US" sz="3000" spc="3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Títulos poco consistentes.</a:t>
            </a:r>
          </a:p>
          <a:p>
            <a:pPr marL="647702" lvl="1" indent="-323851" algn="just">
              <a:lnSpc>
                <a:spcPts val="4200"/>
              </a:lnSpc>
              <a:buFont typeface="Arial"/>
              <a:buChar char="•"/>
            </a:pPr>
            <a:r>
              <a:rPr lang="en-US" sz="3000" spc="3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Descripciones vacías o poco desarrolladas.</a:t>
            </a:r>
          </a:p>
          <a:p>
            <a:pPr marL="647702" lvl="1" indent="-323851" algn="just">
              <a:lnSpc>
                <a:spcPts val="4200"/>
              </a:lnSpc>
              <a:buFont typeface="Arial"/>
              <a:buChar char="•"/>
            </a:pPr>
            <a:r>
              <a:rPr lang="en-US" sz="3000" spc="3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Sin imágenes de producto.</a:t>
            </a:r>
          </a:p>
          <a:p>
            <a:pPr algn="just">
              <a:lnSpc>
                <a:spcPts val="4200"/>
              </a:lnSpc>
            </a:pPr>
            <a:endParaRPr lang="en-US" sz="3000" spc="30">
              <a:solidFill>
                <a:srgbClr val="624725"/>
              </a:solidFill>
              <a:latin typeface="TT Hazelnuts"/>
              <a:ea typeface="TT Hazelnuts"/>
              <a:cs typeface="TT Hazelnuts"/>
              <a:sym typeface="TT Hazelnut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158809" y="1908089"/>
            <a:ext cx="8239298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1" spc="30">
                <a:solidFill>
                  <a:srgbClr val="AD573D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DESPUÉS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3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Títulos claros y uniformes.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3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Descripciones con información útil.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3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Imágenes ilustrativas y texto alternativo.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spc="3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Variantes de peso en una misma ficha.</a:t>
            </a:r>
          </a:p>
          <a:p>
            <a:pPr algn="just">
              <a:lnSpc>
                <a:spcPts val="4200"/>
              </a:lnSpc>
            </a:pPr>
            <a:endParaRPr lang="en-US" sz="3000" spc="30">
              <a:solidFill>
                <a:srgbClr val="624725"/>
              </a:solidFill>
              <a:latin typeface="TT Hazelnuts"/>
              <a:ea typeface="TT Hazelnuts"/>
              <a:cs typeface="TT Hazelnuts"/>
              <a:sym typeface="TT Hazelnut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9549634" y="2125066"/>
            <a:ext cx="0" cy="7475594"/>
          </a:xfrm>
          <a:prstGeom prst="line">
            <a:avLst/>
          </a:prstGeom>
          <a:ln w="38100" cap="flat">
            <a:solidFill>
              <a:srgbClr val="E9E9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1172818" y="2947300"/>
            <a:ext cx="7277221" cy="4925436"/>
          </a:xfrm>
          <a:custGeom>
            <a:avLst/>
            <a:gdLst/>
            <a:ahLst/>
            <a:cxnLst/>
            <a:rect l="l" t="t" r="r" b="b"/>
            <a:pathLst>
              <a:path w="7277221" h="4925436">
                <a:moveTo>
                  <a:pt x="0" y="0"/>
                </a:moveTo>
                <a:lnTo>
                  <a:pt x="7277220" y="0"/>
                </a:lnTo>
                <a:lnTo>
                  <a:pt x="7277220" y="4925436"/>
                </a:lnTo>
                <a:lnTo>
                  <a:pt x="0" y="492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11629914" y="2947300"/>
            <a:ext cx="4636593" cy="5289399"/>
          </a:xfrm>
          <a:custGeom>
            <a:avLst/>
            <a:gdLst/>
            <a:ahLst/>
            <a:cxnLst/>
            <a:rect l="l" t="t" r="r" b="b"/>
            <a:pathLst>
              <a:path w="4636593" h="5289399">
                <a:moveTo>
                  <a:pt x="0" y="0"/>
                </a:moveTo>
                <a:lnTo>
                  <a:pt x="4636593" y="0"/>
                </a:lnTo>
                <a:lnTo>
                  <a:pt x="4636593" y="5289399"/>
                </a:lnTo>
                <a:lnTo>
                  <a:pt x="0" y="5289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Freeform 5"/>
          <p:cNvSpPr/>
          <p:nvPr/>
        </p:nvSpPr>
        <p:spPr>
          <a:xfrm>
            <a:off x="15915950" y="5176963"/>
            <a:ext cx="2887171" cy="5110037"/>
          </a:xfrm>
          <a:custGeom>
            <a:avLst/>
            <a:gdLst/>
            <a:ahLst/>
            <a:cxnLst/>
            <a:rect l="l" t="t" r="r" b="b"/>
            <a:pathLst>
              <a:path w="2887171" h="5110037">
                <a:moveTo>
                  <a:pt x="0" y="0"/>
                </a:moveTo>
                <a:lnTo>
                  <a:pt x="2887170" y="0"/>
                </a:lnTo>
                <a:lnTo>
                  <a:pt x="2887170" y="5110037"/>
                </a:lnTo>
                <a:lnTo>
                  <a:pt x="0" y="51100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Freeform 6"/>
          <p:cNvSpPr/>
          <p:nvPr/>
        </p:nvSpPr>
        <p:spPr>
          <a:xfrm>
            <a:off x="-886780" y="-358660"/>
            <a:ext cx="3086100" cy="4114800"/>
          </a:xfrm>
          <a:custGeom>
            <a:avLst/>
            <a:gdLst/>
            <a:ahLst/>
            <a:cxnLst/>
            <a:rect l="l" t="t" r="r" b="b"/>
            <a:pathLst>
              <a:path w="3086100" h="4114800">
                <a:moveTo>
                  <a:pt x="0" y="0"/>
                </a:moveTo>
                <a:lnTo>
                  <a:pt x="3086100" y="0"/>
                </a:lnTo>
                <a:lnTo>
                  <a:pt x="30861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TextBox 7"/>
          <p:cNvSpPr txBox="1"/>
          <p:nvPr/>
        </p:nvSpPr>
        <p:spPr>
          <a:xfrm>
            <a:off x="656270" y="887690"/>
            <a:ext cx="16603030" cy="66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05. NAVEGACIÓN, SEO E INTELIGENCIA ARTIFICIAL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89295" y="2048866"/>
            <a:ext cx="3374214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spc="39">
                <a:solidFill>
                  <a:srgbClr val="AD573D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Navegación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84347" y="8320411"/>
            <a:ext cx="7927727" cy="1079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6"/>
              </a:lnSpc>
              <a:spcBef>
                <a:spcPct val="0"/>
              </a:spcBef>
            </a:pPr>
            <a:r>
              <a:rPr lang="en-US" sz="2600" spc="26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Título SEO, meta descripción y URL personalizados en 2 productos: Etiopía y Colombia.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2818" y="8361559"/>
            <a:ext cx="6807169" cy="1038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5"/>
              </a:lnSpc>
              <a:spcBef>
                <a:spcPct val="0"/>
              </a:spcBef>
            </a:pPr>
            <a:r>
              <a:rPr lang="en-US" sz="2500" spc="25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Filtros por disponibilidad, precio, origen y tueste mediante Search &amp; Discovery.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90626" y="1920596"/>
            <a:ext cx="1115169" cy="807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39"/>
              </a:lnSpc>
              <a:spcBef>
                <a:spcPct val="0"/>
              </a:spcBef>
            </a:pPr>
            <a:r>
              <a:rPr lang="en-US" sz="3999" b="1" spc="39">
                <a:solidFill>
                  <a:srgbClr val="AD573D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SEO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8938735" y="1946662"/>
            <a:ext cx="0" cy="7475594"/>
          </a:xfrm>
          <a:prstGeom prst="line">
            <a:avLst/>
          </a:prstGeom>
          <a:ln w="38100" cap="flat">
            <a:solidFill>
              <a:srgbClr val="E9E9E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9691210" y="3126583"/>
            <a:ext cx="8160840" cy="5115750"/>
          </a:xfrm>
          <a:custGeom>
            <a:avLst/>
            <a:gdLst/>
            <a:ahLst/>
            <a:cxnLst/>
            <a:rect l="l" t="t" r="r" b="b"/>
            <a:pathLst>
              <a:path w="8160840" h="5115750">
                <a:moveTo>
                  <a:pt x="0" y="0"/>
                </a:moveTo>
                <a:lnTo>
                  <a:pt x="8160840" y="0"/>
                </a:lnTo>
                <a:lnTo>
                  <a:pt x="8160840" y="5115751"/>
                </a:lnTo>
                <a:lnTo>
                  <a:pt x="0" y="5115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62" t="-4833" r="-1201" b="-29023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TextBox 4"/>
          <p:cNvSpPr txBox="1"/>
          <p:nvPr/>
        </p:nvSpPr>
        <p:spPr>
          <a:xfrm>
            <a:off x="656270" y="887690"/>
            <a:ext cx="16603030" cy="66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dirty="0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05. NAVEGACIÓN, SEO E INTELIGENCIA ARTIFICIAL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95723" y="1933476"/>
            <a:ext cx="5378085" cy="807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39"/>
              </a:lnSpc>
              <a:spcBef>
                <a:spcPct val="0"/>
              </a:spcBef>
            </a:pPr>
            <a:r>
              <a:rPr lang="en-US" sz="3999" b="1" spc="39" dirty="0">
                <a:solidFill>
                  <a:srgbClr val="AD573D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Sidekick </a:t>
            </a:r>
            <a:r>
              <a:rPr lang="en-US" sz="3999" b="1" spc="39" dirty="0" err="1">
                <a:solidFill>
                  <a:srgbClr val="AD573D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en</a:t>
            </a:r>
            <a:r>
              <a:rPr lang="en-US" sz="3999" b="1" spc="39" dirty="0">
                <a:solidFill>
                  <a:srgbClr val="AD573D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 </a:t>
            </a:r>
            <a:r>
              <a:rPr lang="en-US" sz="3999" b="1" spc="39" dirty="0" err="1">
                <a:solidFill>
                  <a:srgbClr val="AD573D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Etiopía</a:t>
            </a:r>
            <a:endParaRPr lang="en-US" sz="3999" b="1" spc="39" dirty="0">
              <a:solidFill>
                <a:srgbClr val="AD573D"/>
              </a:solidFill>
              <a:latin typeface="TT Hazelnuts Bold"/>
              <a:ea typeface="TT Hazelnuts Bold"/>
              <a:cs typeface="TT Hazelnuts Bold"/>
              <a:sym typeface="TT Hazelnuts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4066080" y="-248554"/>
            <a:ext cx="4400856" cy="4114800"/>
          </a:xfrm>
          <a:custGeom>
            <a:avLst/>
            <a:gdLst/>
            <a:ahLst/>
            <a:cxnLst/>
            <a:rect l="l" t="t" r="r" b="b"/>
            <a:pathLst>
              <a:path w="4400856" h="4114800">
                <a:moveTo>
                  <a:pt x="0" y="0"/>
                </a:moveTo>
                <a:lnTo>
                  <a:pt x="4400855" y="0"/>
                </a:lnTo>
                <a:lnTo>
                  <a:pt x="44008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 rot="369543">
            <a:off x="-636976" y="7724030"/>
            <a:ext cx="7315200" cy="3364992"/>
          </a:xfrm>
          <a:custGeom>
            <a:avLst/>
            <a:gdLst/>
            <a:ahLst/>
            <a:cxnLst/>
            <a:rect l="l" t="t" r="r" b="b"/>
            <a:pathLst>
              <a:path w="7315200" h="3364992">
                <a:moveTo>
                  <a:pt x="0" y="0"/>
                </a:moveTo>
                <a:lnTo>
                  <a:pt x="7315200" y="0"/>
                </a:lnTo>
                <a:lnTo>
                  <a:pt x="7315200" y="3364992"/>
                </a:lnTo>
                <a:lnTo>
                  <a:pt x="0" y="33649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TextBox 8"/>
          <p:cNvSpPr txBox="1"/>
          <p:nvPr/>
        </p:nvSpPr>
        <p:spPr>
          <a:xfrm>
            <a:off x="1246934" y="2115081"/>
            <a:ext cx="5840257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spc="39">
                <a:solidFill>
                  <a:srgbClr val="AD573D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Gestión del catálogo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6934" y="6275536"/>
            <a:ext cx="6938109" cy="1581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5"/>
              </a:lnSpc>
              <a:spcBef>
                <a:spcPct val="0"/>
              </a:spcBef>
            </a:pPr>
            <a:r>
              <a:rPr lang="en-US" sz="2500" spc="25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Condiciones de las colecciones para incorporar productos que cumplen los criterios definidos</a:t>
            </a:r>
          </a:p>
          <a:p>
            <a:pPr algn="just">
              <a:lnSpc>
                <a:spcPts val="4275"/>
              </a:lnSpc>
              <a:spcBef>
                <a:spcPct val="0"/>
              </a:spcBef>
            </a:pPr>
            <a:endParaRPr lang="en-US" sz="2500" spc="25">
              <a:solidFill>
                <a:srgbClr val="624725"/>
              </a:solidFill>
              <a:latin typeface="TT Hazelnuts"/>
              <a:ea typeface="TT Hazelnuts"/>
              <a:cs typeface="TT Hazelnuts"/>
              <a:sym typeface="TT Hazelnut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46934" y="3156528"/>
            <a:ext cx="5439091" cy="1079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46"/>
              </a:lnSpc>
              <a:spcBef>
                <a:spcPct val="0"/>
              </a:spcBef>
            </a:pPr>
            <a:r>
              <a:rPr lang="en-US" sz="2600" spc="26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CSV y edición masiva para cargar y normalizar datos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6934" y="5608259"/>
            <a:ext cx="4552677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spc="39">
                <a:solidFill>
                  <a:srgbClr val="AD573D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Automatización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8156" y="1802252"/>
            <a:ext cx="15519323" cy="4947773"/>
          </a:xfrm>
          <a:custGeom>
            <a:avLst/>
            <a:gdLst/>
            <a:ahLst/>
            <a:cxnLst/>
            <a:rect l="l" t="t" r="r" b="b"/>
            <a:pathLst>
              <a:path w="15519323" h="4947773">
                <a:moveTo>
                  <a:pt x="0" y="0"/>
                </a:moveTo>
                <a:lnTo>
                  <a:pt x="15519323" y="0"/>
                </a:lnTo>
                <a:lnTo>
                  <a:pt x="15519323" y="4947773"/>
                </a:lnTo>
                <a:lnTo>
                  <a:pt x="0" y="4947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305143" y="746125"/>
            <a:ext cx="10971870" cy="66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dirty="0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06. </a:t>
            </a:r>
            <a:r>
              <a:rPr lang="en-US" sz="5000" b="1" dirty="0" err="1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Demostración</a:t>
            </a:r>
            <a:r>
              <a:rPr lang="en-US" sz="5000" b="1" dirty="0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 y </a:t>
            </a:r>
            <a:r>
              <a:rPr lang="en-US" sz="5000" b="1" dirty="0" err="1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resultados</a:t>
            </a:r>
            <a:endParaRPr lang="en-US" sz="5000" b="1" dirty="0">
              <a:solidFill>
                <a:srgbClr val="624725"/>
              </a:solidFill>
              <a:latin typeface="TT Hazelnuts Bold"/>
              <a:ea typeface="TT Hazelnuts Bold"/>
              <a:cs typeface="TT Hazelnuts Bold"/>
              <a:sym typeface="TT Hazelnut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873467" y="7092925"/>
            <a:ext cx="1426858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1" spc="30">
                <a:solidFill>
                  <a:srgbClr val="AD573D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Pendiente:</a:t>
            </a:r>
            <a:r>
              <a:rPr lang="en-US" sz="3000" spc="3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 completar el SEO, conectar los metacampos al tema y probar la navegación con usuarios externos</a:t>
            </a:r>
          </a:p>
        </p:txBody>
      </p:sp>
      <p:sp>
        <p:nvSpPr>
          <p:cNvPr id="5" name="Freeform 5"/>
          <p:cNvSpPr/>
          <p:nvPr/>
        </p:nvSpPr>
        <p:spPr>
          <a:xfrm>
            <a:off x="12124248" y="7150075"/>
            <a:ext cx="7315200" cy="3913632"/>
          </a:xfrm>
          <a:custGeom>
            <a:avLst/>
            <a:gdLst/>
            <a:ahLst/>
            <a:cxnLst/>
            <a:rect l="l" t="t" r="r" b="b"/>
            <a:pathLst>
              <a:path w="7315200" h="3913632">
                <a:moveTo>
                  <a:pt x="0" y="0"/>
                </a:moveTo>
                <a:lnTo>
                  <a:pt x="7315200" y="0"/>
                </a:lnTo>
                <a:lnTo>
                  <a:pt x="7315200" y="3913632"/>
                </a:lnTo>
                <a:lnTo>
                  <a:pt x="0" y="39136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45060" y="5626290"/>
            <a:ext cx="6253840" cy="4909264"/>
          </a:xfrm>
          <a:custGeom>
            <a:avLst/>
            <a:gdLst/>
            <a:ahLst/>
            <a:cxnLst/>
            <a:rect l="l" t="t" r="r" b="b"/>
            <a:pathLst>
              <a:path w="6253840" h="4909264">
                <a:moveTo>
                  <a:pt x="0" y="0"/>
                </a:moveTo>
                <a:lnTo>
                  <a:pt x="6253840" y="0"/>
                </a:lnTo>
                <a:lnTo>
                  <a:pt x="6253840" y="4909264"/>
                </a:lnTo>
                <a:lnTo>
                  <a:pt x="0" y="490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/>
                </p14:media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1028700" y="2129947"/>
            <a:ext cx="16230600" cy="7385263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16199080" y="5271340"/>
            <a:ext cx="2887171" cy="5110037"/>
          </a:xfrm>
          <a:custGeom>
            <a:avLst/>
            <a:gdLst/>
            <a:ahLst/>
            <a:cxnLst/>
            <a:rect l="l" t="t" r="r" b="b"/>
            <a:pathLst>
              <a:path w="2887171" h="5110037">
                <a:moveTo>
                  <a:pt x="0" y="0"/>
                </a:moveTo>
                <a:lnTo>
                  <a:pt x="2887171" y="0"/>
                </a:lnTo>
                <a:lnTo>
                  <a:pt x="2887171" y="5110037"/>
                </a:lnTo>
                <a:lnTo>
                  <a:pt x="0" y="51100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Freeform 5"/>
          <p:cNvSpPr/>
          <p:nvPr/>
        </p:nvSpPr>
        <p:spPr>
          <a:xfrm>
            <a:off x="12731696" y="394279"/>
            <a:ext cx="1211745" cy="1268843"/>
          </a:xfrm>
          <a:custGeom>
            <a:avLst/>
            <a:gdLst/>
            <a:ahLst/>
            <a:cxnLst/>
            <a:rect l="l" t="t" r="r" b="b"/>
            <a:pathLst>
              <a:path w="1211745" h="1268843">
                <a:moveTo>
                  <a:pt x="0" y="0"/>
                </a:moveTo>
                <a:lnTo>
                  <a:pt x="1211745" y="0"/>
                </a:lnTo>
                <a:lnTo>
                  <a:pt x="1211745" y="1268842"/>
                </a:lnTo>
                <a:lnTo>
                  <a:pt x="0" y="12688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TextBox 6"/>
          <p:cNvSpPr txBox="1"/>
          <p:nvPr/>
        </p:nvSpPr>
        <p:spPr>
          <a:xfrm>
            <a:off x="1028700" y="458788"/>
            <a:ext cx="16230600" cy="111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999"/>
              </a:lnSpc>
            </a:pPr>
            <a:r>
              <a:rPr lang="en-US" sz="5000" b="1" u="sng" dirty="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  <a:hlinkClick r:id="rId8" tooltip="https://tostadero-aurora.myshopify.com"/>
              </a:rPr>
              <a:t>07. Página web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5676" y="2265101"/>
            <a:ext cx="16283779" cy="6993199"/>
          </a:xfrm>
          <a:custGeom>
            <a:avLst/>
            <a:gdLst/>
            <a:ahLst/>
            <a:cxnLst/>
            <a:rect l="l" t="t" r="r" b="b"/>
            <a:pathLst>
              <a:path w="16283779" h="6993199">
                <a:moveTo>
                  <a:pt x="0" y="0"/>
                </a:moveTo>
                <a:lnTo>
                  <a:pt x="16283779" y="0"/>
                </a:lnTo>
                <a:lnTo>
                  <a:pt x="16283779" y="6993199"/>
                </a:lnTo>
                <a:lnTo>
                  <a:pt x="0" y="6993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1124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-366606" y="6263459"/>
            <a:ext cx="4651797" cy="4093581"/>
          </a:xfrm>
          <a:custGeom>
            <a:avLst/>
            <a:gdLst/>
            <a:ahLst/>
            <a:cxnLst/>
            <a:rect l="l" t="t" r="r" b="b"/>
            <a:pathLst>
              <a:path w="4651797" h="4093581">
                <a:moveTo>
                  <a:pt x="0" y="0"/>
                </a:moveTo>
                <a:lnTo>
                  <a:pt x="4651797" y="0"/>
                </a:lnTo>
                <a:lnTo>
                  <a:pt x="4651797" y="4093581"/>
                </a:lnTo>
                <a:lnTo>
                  <a:pt x="0" y="4093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11844896" y="0"/>
            <a:ext cx="6537481" cy="5981795"/>
          </a:xfrm>
          <a:custGeom>
            <a:avLst/>
            <a:gdLst/>
            <a:ahLst/>
            <a:cxnLst/>
            <a:rect l="l" t="t" r="r" b="b"/>
            <a:pathLst>
              <a:path w="6537481" h="5981795">
                <a:moveTo>
                  <a:pt x="0" y="0"/>
                </a:moveTo>
                <a:lnTo>
                  <a:pt x="6537481" y="0"/>
                </a:lnTo>
                <a:lnTo>
                  <a:pt x="6537481" y="5981795"/>
                </a:lnTo>
                <a:lnTo>
                  <a:pt x="0" y="59817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Freeform 5"/>
          <p:cNvSpPr/>
          <p:nvPr/>
        </p:nvSpPr>
        <p:spPr>
          <a:xfrm>
            <a:off x="-550774" y="-327201"/>
            <a:ext cx="4729655" cy="4114800"/>
          </a:xfrm>
          <a:custGeom>
            <a:avLst/>
            <a:gdLst/>
            <a:ahLst/>
            <a:cxnLst/>
            <a:rect l="l" t="t" r="r" b="b"/>
            <a:pathLst>
              <a:path w="4729655" h="4114800">
                <a:moveTo>
                  <a:pt x="0" y="0"/>
                </a:moveTo>
                <a:lnTo>
                  <a:pt x="4729655" y="0"/>
                </a:lnTo>
                <a:lnTo>
                  <a:pt x="47296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TextBox 6"/>
          <p:cNvSpPr txBox="1"/>
          <p:nvPr/>
        </p:nvSpPr>
        <p:spPr>
          <a:xfrm>
            <a:off x="1390478" y="1595835"/>
            <a:ext cx="10971870" cy="66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1" dirty="0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08. </a:t>
            </a:r>
            <a:r>
              <a:rPr lang="en-US" sz="5000" b="1" dirty="0" err="1">
                <a:solidFill>
                  <a:srgbClr val="624725"/>
                </a:solidFill>
                <a:latin typeface="TT Hazelnuts Bold"/>
                <a:ea typeface="TT Hazelnuts Bold"/>
                <a:cs typeface="TT Hazelnuts Bold"/>
                <a:sym typeface="TT Hazelnuts Bold"/>
              </a:rPr>
              <a:t>Conclusiones</a:t>
            </a:r>
            <a:endParaRPr lang="en-US" sz="5000" b="1" dirty="0">
              <a:solidFill>
                <a:srgbClr val="624725"/>
              </a:solidFill>
              <a:latin typeface="TT Hazelnuts Bold"/>
              <a:ea typeface="TT Hazelnuts Bold"/>
              <a:cs typeface="TT Hazelnuts Bold"/>
              <a:sym typeface="TT Hazelnuts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E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91157" y="3254374"/>
            <a:ext cx="11105686" cy="3416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</a:pPr>
            <a:r>
              <a:rPr lang="en-US" sz="20000">
                <a:solidFill>
                  <a:srgbClr val="624725"/>
                </a:solidFill>
                <a:latin typeface="TT Hazelnuts"/>
                <a:ea typeface="TT Hazelnuts"/>
                <a:cs typeface="TT Hazelnuts"/>
                <a:sym typeface="TT Hazelnuts"/>
              </a:rPr>
              <a:t>GRACIAS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958192" cy="10687680"/>
          </a:xfrm>
          <a:custGeom>
            <a:avLst/>
            <a:gdLst/>
            <a:ahLst/>
            <a:cxnLst/>
            <a:rect l="l" t="t" r="r" b="b"/>
            <a:pathLst>
              <a:path w="18958192" h="10687680">
                <a:moveTo>
                  <a:pt x="0" y="0"/>
                </a:moveTo>
                <a:lnTo>
                  <a:pt x="18958192" y="0"/>
                </a:lnTo>
                <a:lnTo>
                  <a:pt x="18958192" y="10687680"/>
                </a:lnTo>
                <a:lnTo>
                  <a:pt x="0" y="10687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-30843" r="-11877"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387</Words>
  <Application>Microsoft Office PowerPoint</Application>
  <PresentationFormat>Personalizado</PresentationFormat>
  <Paragraphs>75</Paragraphs>
  <Slides>12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1" baseType="lpstr">
      <vt:lpstr>TT Hazelnuts Bold</vt:lpstr>
      <vt:lpstr>Cy Grotesk V3 Wide Bold</vt:lpstr>
      <vt:lpstr>Cy Grotesk V3 Wide</vt:lpstr>
      <vt:lpstr>TT Backwards</vt:lpstr>
      <vt:lpstr>Arial</vt:lpstr>
      <vt:lpstr>TT Hazelnuts</vt:lpstr>
      <vt:lpstr>TT Hazelnuts Italics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Optimización del catálogo de productos en Shopify_Grupo 15_Yibo Zhao, Catalina Velez</dc:title>
  <dc:creator>Catalina Velez</dc:creator>
  <cp:lastModifiedBy>Catalina Velez Aristizabal</cp:lastModifiedBy>
  <cp:revision>2</cp:revision>
  <dcterms:created xsi:type="dcterms:W3CDTF">2006-08-16T00:00:00Z</dcterms:created>
  <dcterms:modified xsi:type="dcterms:W3CDTF">2026-10-14T20:31:52Z</dcterms:modified>
  <dc:identifier>DAHX-6lIB_c</dc:identifier>
</cp:coreProperties>
</file>