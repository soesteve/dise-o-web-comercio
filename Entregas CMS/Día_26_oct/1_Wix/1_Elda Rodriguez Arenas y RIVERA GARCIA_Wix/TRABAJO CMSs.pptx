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arlow Condensed Bold" panose="020B0604020202020204" charset="0"/>
      <p:regular r:id="rId12"/>
    </p:embeddedFont>
    <p:embeddedFont>
      <p:font typeface="Glacial Indifference" panose="020B0604020202020204" charset="0"/>
      <p:regular r:id="rId13"/>
    </p:embeddedFont>
    <p:embeddedFont>
      <p:font typeface="League Spartan" panose="020B0604020202020204" charset="0"/>
      <p:regular r:id="rId14"/>
    </p:embeddedFont>
    <p:embeddedFont>
      <p:font typeface="Open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imbergr.wixsite.com/dulce-frio-1/tien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03142" y="923003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799" y="0"/>
                </a:lnTo>
                <a:lnTo>
                  <a:pt x="13186799" y="12419567"/>
                </a:lnTo>
                <a:lnTo>
                  <a:pt x="0" y="124195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rot="-2592265">
            <a:off x="6379041" y="-6435195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8"/>
                </a:lnTo>
                <a:lnTo>
                  <a:pt x="0" y="1241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4" name="Group 4"/>
          <p:cNvGrpSpPr/>
          <p:nvPr/>
        </p:nvGrpSpPr>
        <p:grpSpPr>
          <a:xfrm rot="-3172508">
            <a:off x="7987930" y="4805794"/>
            <a:ext cx="14385819" cy="2426315"/>
            <a:chOff x="0" y="0"/>
            <a:chExt cx="3788858" cy="6390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8857" cy="639030"/>
            </a:xfrm>
            <a:custGeom>
              <a:avLst/>
              <a:gdLst/>
              <a:ahLst/>
              <a:cxnLst/>
              <a:rect l="l" t="t" r="r" b="b"/>
              <a:pathLst>
                <a:path w="3788857" h="639030">
                  <a:moveTo>
                    <a:pt x="0" y="0"/>
                  </a:moveTo>
                  <a:lnTo>
                    <a:pt x="3788857" y="0"/>
                  </a:lnTo>
                  <a:lnTo>
                    <a:pt x="3788857" y="639030"/>
                  </a:lnTo>
                  <a:lnTo>
                    <a:pt x="0" y="639030"/>
                  </a:lnTo>
                  <a:close/>
                </a:path>
              </a:pathLst>
            </a:custGeom>
            <a:solidFill>
              <a:srgbClr val="2D32A2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788858" cy="677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3172508">
            <a:off x="11692461" y="2207572"/>
            <a:ext cx="8017641" cy="419351"/>
            <a:chOff x="0" y="0"/>
            <a:chExt cx="2111642" cy="1104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11642" cy="110446"/>
            </a:xfrm>
            <a:custGeom>
              <a:avLst/>
              <a:gdLst/>
              <a:ahLst/>
              <a:cxnLst/>
              <a:rect l="l" t="t" r="r" b="b"/>
              <a:pathLst>
                <a:path w="2111642" h="110446">
                  <a:moveTo>
                    <a:pt x="0" y="0"/>
                  </a:moveTo>
                  <a:lnTo>
                    <a:pt x="2111642" y="0"/>
                  </a:lnTo>
                  <a:lnTo>
                    <a:pt x="2111642" y="110446"/>
                  </a:lnTo>
                  <a:lnTo>
                    <a:pt x="0" y="110446"/>
                  </a:lnTo>
                  <a:close/>
                </a:path>
              </a:pathLst>
            </a:custGeom>
            <a:solidFill>
              <a:srgbClr val="2D32A2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11642" cy="148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3172508">
            <a:off x="10875231" y="2392556"/>
            <a:ext cx="8017641" cy="188633"/>
            <a:chOff x="0" y="0"/>
            <a:chExt cx="2111642" cy="496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11642" cy="49681"/>
            </a:xfrm>
            <a:custGeom>
              <a:avLst/>
              <a:gdLst/>
              <a:ahLst/>
              <a:cxnLst/>
              <a:rect l="l" t="t" r="r" b="b"/>
              <a:pathLst>
                <a:path w="2111642" h="49681">
                  <a:moveTo>
                    <a:pt x="0" y="0"/>
                  </a:moveTo>
                  <a:lnTo>
                    <a:pt x="2111642" y="0"/>
                  </a:lnTo>
                  <a:lnTo>
                    <a:pt x="2111642" y="49681"/>
                  </a:lnTo>
                  <a:lnTo>
                    <a:pt x="0" y="49681"/>
                  </a:lnTo>
                  <a:close/>
                </a:path>
              </a:pathLst>
            </a:custGeom>
            <a:solidFill>
              <a:srgbClr val="2D32A2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11642" cy="87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3172508">
            <a:off x="8181945" y="7038470"/>
            <a:ext cx="8580051" cy="188633"/>
            <a:chOff x="0" y="0"/>
            <a:chExt cx="2259766" cy="496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59767" cy="49681"/>
            </a:xfrm>
            <a:custGeom>
              <a:avLst/>
              <a:gdLst/>
              <a:ahLst/>
              <a:cxnLst/>
              <a:rect l="l" t="t" r="r" b="b"/>
              <a:pathLst>
                <a:path w="2259767" h="49681">
                  <a:moveTo>
                    <a:pt x="0" y="0"/>
                  </a:moveTo>
                  <a:lnTo>
                    <a:pt x="2259767" y="0"/>
                  </a:lnTo>
                  <a:lnTo>
                    <a:pt x="2259767" y="49681"/>
                  </a:lnTo>
                  <a:lnTo>
                    <a:pt x="0" y="49681"/>
                  </a:lnTo>
                  <a:close/>
                </a:path>
              </a:pathLst>
            </a:custGeom>
            <a:solidFill>
              <a:srgbClr val="2D32A2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59766" cy="87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3172508">
            <a:off x="11808830" y="7459020"/>
            <a:ext cx="8580051" cy="188633"/>
            <a:chOff x="0" y="0"/>
            <a:chExt cx="2259766" cy="496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59767" cy="49681"/>
            </a:xfrm>
            <a:custGeom>
              <a:avLst/>
              <a:gdLst/>
              <a:ahLst/>
              <a:cxnLst/>
              <a:rect l="l" t="t" r="r" b="b"/>
              <a:pathLst>
                <a:path w="2259767" h="49681">
                  <a:moveTo>
                    <a:pt x="0" y="0"/>
                  </a:moveTo>
                  <a:lnTo>
                    <a:pt x="2259767" y="0"/>
                  </a:lnTo>
                  <a:lnTo>
                    <a:pt x="2259767" y="49681"/>
                  </a:lnTo>
                  <a:lnTo>
                    <a:pt x="0" y="49681"/>
                  </a:lnTo>
                  <a:close/>
                </a:path>
              </a:pathLst>
            </a:custGeom>
            <a:solidFill>
              <a:srgbClr val="2D32A2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259766" cy="87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flipH="1" flipV="1">
            <a:off x="-253492" y="-448320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3130359" y="4871318"/>
                </a:moveTo>
                <a:lnTo>
                  <a:pt x="0" y="4871318"/>
                </a:lnTo>
                <a:lnTo>
                  <a:pt x="0" y="0"/>
                </a:lnTo>
                <a:lnTo>
                  <a:pt x="3130359" y="0"/>
                </a:lnTo>
                <a:lnTo>
                  <a:pt x="3130359" y="48713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20" name="Freeform 20"/>
          <p:cNvSpPr/>
          <p:nvPr/>
        </p:nvSpPr>
        <p:spPr>
          <a:xfrm>
            <a:off x="15462620" y="6018952"/>
            <a:ext cx="3593361" cy="5591820"/>
          </a:xfrm>
          <a:custGeom>
            <a:avLst/>
            <a:gdLst/>
            <a:ahLst/>
            <a:cxnLst/>
            <a:rect l="l" t="t" r="r" b="b"/>
            <a:pathLst>
              <a:path w="3593361" h="5591820">
                <a:moveTo>
                  <a:pt x="0" y="0"/>
                </a:moveTo>
                <a:lnTo>
                  <a:pt x="3593360" y="0"/>
                </a:lnTo>
                <a:lnTo>
                  <a:pt x="3593360" y="5591820"/>
                </a:lnTo>
                <a:lnTo>
                  <a:pt x="0" y="5591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21" name="Group 21"/>
          <p:cNvGrpSpPr/>
          <p:nvPr/>
        </p:nvGrpSpPr>
        <p:grpSpPr>
          <a:xfrm>
            <a:off x="10187075" y="1225194"/>
            <a:ext cx="7836612" cy="783661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0" cap="sq">
              <a:solidFill>
                <a:srgbClr val="2D32A2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20688" y="914400"/>
            <a:ext cx="9721529" cy="213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76"/>
              </a:lnSpc>
            </a:pPr>
            <a:r>
              <a:rPr lang="en-US" sz="6125">
                <a:solidFill>
                  <a:srgbClr val="2D32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FUNCIONALIDADES Y CARACTERÍSTICAS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2590" y="6469848"/>
            <a:ext cx="4580680" cy="66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60"/>
              </a:lnSpc>
              <a:spcBef>
                <a:spcPct val="0"/>
              </a:spcBef>
            </a:pPr>
            <a:r>
              <a:rPr lang="en-US" sz="3900" b="1" u="none" strike="noStrike">
                <a:solidFill>
                  <a:srgbClr val="2D32A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Integrantes: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-755177" y="3710528"/>
            <a:ext cx="11473582" cy="134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2D32A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Caso práctico: Dulce Frio</a:t>
            </a:r>
          </a:p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2D32A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Creación y gestión de un sitio web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2590" y="7486662"/>
            <a:ext cx="9963228" cy="1127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 b="1">
                <a:solidFill>
                  <a:srgbClr val="353B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Elda Rodriguez Arenas (eldarodr@ucm.es)</a:t>
            </a:r>
          </a:p>
          <a:p>
            <a:pPr algn="l">
              <a:lnSpc>
                <a:spcPts val="4525"/>
              </a:lnSpc>
            </a:pPr>
            <a:r>
              <a:rPr lang="en-US" sz="3232" b="1">
                <a:solidFill>
                  <a:srgbClr val="353B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Limberg Rivera Garcia (limbergr@ucm.es)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1280" y="-1609826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8"/>
                </a:lnTo>
                <a:lnTo>
                  <a:pt x="0" y="1241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TextBox 3"/>
          <p:cNvSpPr txBox="1"/>
          <p:nvPr/>
        </p:nvSpPr>
        <p:spPr>
          <a:xfrm>
            <a:off x="2490299" y="426393"/>
            <a:ext cx="12456546" cy="87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5"/>
              </a:lnSpc>
            </a:pPr>
            <a:r>
              <a:rPr lang="en-US" sz="7215" b="1">
                <a:solidFill>
                  <a:srgbClr val="2D32A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¿QUÉ PODEMOS CONSTRUIR CON WIX?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-253492" y="-448320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3130359" y="4871318"/>
                </a:moveTo>
                <a:lnTo>
                  <a:pt x="0" y="4871318"/>
                </a:lnTo>
                <a:lnTo>
                  <a:pt x="0" y="0"/>
                </a:lnTo>
                <a:lnTo>
                  <a:pt x="3130359" y="0"/>
                </a:lnTo>
                <a:lnTo>
                  <a:pt x="3130359" y="48713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Freeform 5"/>
          <p:cNvSpPr/>
          <p:nvPr/>
        </p:nvSpPr>
        <p:spPr>
          <a:xfrm>
            <a:off x="15411133" y="5864002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0" y="0"/>
                </a:moveTo>
                <a:lnTo>
                  <a:pt x="3130359" y="0"/>
                </a:lnTo>
                <a:lnTo>
                  <a:pt x="3130359" y="4871318"/>
                </a:lnTo>
                <a:lnTo>
                  <a:pt x="0" y="4871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6" name="Freeform 6"/>
          <p:cNvSpPr/>
          <p:nvPr/>
        </p:nvSpPr>
        <p:spPr>
          <a:xfrm>
            <a:off x="16300661" y="0"/>
            <a:ext cx="1987339" cy="1987339"/>
          </a:xfrm>
          <a:custGeom>
            <a:avLst/>
            <a:gdLst/>
            <a:ahLst/>
            <a:cxnLst/>
            <a:rect l="l" t="t" r="r" b="b"/>
            <a:pathLst>
              <a:path w="1987339" h="1987339">
                <a:moveTo>
                  <a:pt x="0" y="0"/>
                </a:moveTo>
                <a:lnTo>
                  <a:pt x="1987339" y="0"/>
                </a:lnTo>
                <a:lnTo>
                  <a:pt x="1987339" y="1987339"/>
                </a:lnTo>
                <a:lnTo>
                  <a:pt x="0" y="1987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7" name="Freeform 7"/>
          <p:cNvSpPr/>
          <p:nvPr/>
        </p:nvSpPr>
        <p:spPr>
          <a:xfrm>
            <a:off x="1707590" y="1541477"/>
            <a:ext cx="12497439" cy="5837035"/>
          </a:xfrm>
          <a:custGeom>
            <a:avLst/>
            <a:gdLst/>
            <a:ahLst/>
            <a:cxnLst/>
            <a:rect l="l" t="t" r="r" b="b"/>
            <a:pathLst>
              <a:path w="12497439" h="5837035">
                <a:moveTo>
                  <a:pt x="0" y="0"/>
                </a:moveTo>
                <a:lnTo>
                  <a:pt x="12497439" y="0"/>
                </a:lnTo>
                <a:lnTo>
                  <a:pt x="12497439" y="5837034"/>
                </a:lnTo>
                <a:lnTo>
                  <a:pt x="0" y="58370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34" b="-234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TextBox 8"/>
          <p:cNvSpPr txBox="1"/>
          <p:nvPr/>
        </p:nvSpPr>
        <p:spPr>
          <a:xfrm>
            <a:off x="1442120" y="7598175"/>
            <a:ext cx="11832274" cy="2252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8171" lvl="1" indent="-304086" algn="just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2816" u="none" strike="noStrike" spc="61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Crear páginas y secciones.</a:t>
            </a:r>
          </a:p>
          <a:p>
            <a:pPr marL="608171" lvl="1" indent="-304086" algn="just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2816" u="none" strike="noStrike" spc="61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Añadir textos, imágenes, vídeos y botones.</a:t>
            </a:r>
          </a:p>
          <a:p>
            <a:pPr marL="608171" lvl="1" indent="-304086" algn="just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2816" u="none" strike="noStrike" spc="61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Organizar los elementos de cada página.</a:t>
            </a:r>
          </a:p>
          <a:p>
            <a:pPr marL="608171" lvl="1" indent="-304086" algn="just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2816" u="none" strike="noStrike" spc="61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Editar el contenido desde el editor.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1280" y="-1609826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8"/>
                </a:lnTo>
                <a:lnTo>
                  <a:pt x="0" y="1241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TextBox 3"/>
          <p:cNvSpPr txBox="1"/>
          <p:nvPr/>
        </p:nvSpPr>
        <p:spPr>
          <a:xfrm>
            <a:off x="2490299" y="397818"/>
            <a:ext cx="13319965" cy="78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2"/>
              </a:lnSpc>
            </a:pPr>
            <a:r>
              <a:rPr lang="en-US" sz="6491" b="1">
                <a:solidFill>
                  <a:srgbClr val="2D32A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ORGANIZAR Y ACTUALIZAR LOS CONTENIDOS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-253492" y="-448320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3130359" y="4871318"/>
                </a:moveTo>
                <a:lnTo>
                  <a:pt x="0" y="4871318"/>
                </a:lnTo>
                <a:lnTo>
                  <a:pt x="0" y="0"/>
                </a:lnTo>
                <a:lnTo>
                  <a:pt x="3130359" y="0"/>
                </a:lnTo>
                <a:lnTo>
                  <a:pt x="3130359" y="48713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Freeform 5"/>
          <p:cNvSpPr/>
          <p:nvPr/>
        </p:nvSpPr>
        <p:spPr>
          <a:xfrm>
            <a:off x="15411133" y="5864002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0" y="0"/>
                </a:moveTo>
                <a:lnTo>
                  <a:pt x="3130359" y="0"/>
                </a:lnTo>
                <a:lnTo>
                  <a:pt x="3130359" y="4871318"/>
                </a:lnTo>
                <a:lnTo>
                  <a:pt x="0" y="4871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6" name="Freeform 6"/>
          <p:cNvSpPr/>
          <p:nvPr/>
        </p:nvSpPr>
        <p:spPr>
          <a:xfrm>
            <a:off x="15982643" y="0"/>
            <a:ext cx="1987339" cy="1987339"/>
          </a:xfrm>
          <a:custGeom>
            <a:avLst/>
            <a:gdLst/>
            <a:ahLst/>
            <a:cxnLst/>
            <a:rect l="l" t="t" r="r" b="b"/>
            <a:pathLst>
              <a:path w="1987339" h="1987339">
                <a:moveTo>
                  <a:pt x="0" y="0"/>
                </a:moveTo>
                <a:lnTo>
                  <a:pt x="1987339" y="0"/>
                </a:lnTo>
                <a:lnTo>
                  <a:pt x="1987339" y="1987339"/>
                </a:lnTo>
                <a:lnTo>
                  <a:pt x="0" y="1987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7" name="Freeform 7"/>
          <p:cNvSpPr/>
          <p:nvPr/>
        </p:nvSpPr>
        <p:spPr>
          <a:xfrm>
            <a:off x="2490299" y="1300739"/>
            <a:ext cx="12698350" cy="5964059"/>
          </a:xfrm>
          <a:custGeom>
            <a:avLst/>
            <a:gdLst/>
            <a:ahLst/>
            <a:cxnLst/>
            <a:rect l="l" t="t" r="r" b="b"/>
            <a:pathLst>
              <a:path w="12698350" h="5964059">
                <a:moveTo>
                  <a:pt x="0" y="0"/>
                </a:moveTo>
                <a:lnTo>
                  <a:pt x="12698350" y="0"/>
                </a:lnTo>
                <a:lnTo>
                  <a:pt x="12698350" y="5964059"/>
                </a:lnTo>
                <a:lnTo>
                  <a:pt x="0" y="59640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772" b="-6933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TextBox 8"/>
          <p:cNvSpPr txBox="1"/>
          <p:nvPr/>
        </p:nvSpPr>
        <p:spPr>
          <a:xfrm>
            <a:off x="2490299" y="7264798"/>
            <a:ext cx="9317906" cy="263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964" lvl="1" indent="-283482" algn="just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sz="2626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</a:t>
            </a:r>
            <a:r>
              <a:rPr lang="en-US" sz="2626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áginas y menús de navegación.</a:t>
            </a:r>
          </a:p>
          <a:p>
            <a:pPr marL="566964" lvl="1" indent="-283482" algn="just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sz="2626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Galerías e imágenes.</a:t>
            </a:r>
          </a:p>
          <a:p>
            <a:pPr marL="566964" lvl="1" indent="-283482" algn="just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sz="2626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Blog y artículos.</a:t>
            </a:r>
          </a:p>
          <a:p>
            <a:pPr marL="566964" lvl="1" indent="-283482" algn="just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sz="2626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Formularios de contacto.</a:t>
            </a:r>
          </a:p>
          <a:p>
            <a:pPr marL="566964" lvl="1" indent="-283482" algn="just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sz="2626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Información del negocio.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1280" y="-1609826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8"/>
                </a:lnTo>
                <a:lnTo>
                  <a:pt x="0" y="1241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TextBox 3"/>
          <p:cNvSpPr txBox="1"/>
          <p:nvPr/>
        </p:nvSpPr>
        <p:spPr>
          <a:xfrm>
            <a:off x="2490299" y="397818"/>
            <a:ext cx="13319965" cy="78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2"/>
              </a:lnSpc>
            </a:pPr>
            <a:r>
              <a:rPr lang="en-US" sz="6491" b="1">
                <a:solidFill>
                  <a:srgbClr val="2D32A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GESTIÓN DE LA TIENDA ONLINE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-253492" y="-448320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3130359" y="4871318"/>
                </a:moveTo>
                <a:lnTo>
                  <a:pt x="0" y="4871318"/>
                </a:lnTo>
                <a:lnTo>
                  <a:pt x="0" y="0"/>
                </a:lnTo>
                <a:lnTo>
                  <a:pt x="3130359" y="0"/>
                </a:lnTo>
                <a:lnTo>
                  <a:pt x="3130359" y="48713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Freeform 5"/>
          <p:cNvSpPr/>
          <p:nvPr/>
        </p:nvSpPr>
        <p:spPr>
          <a:xfrm>
            <a:off x="15411133" y="5864002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0" y="0"/>
                </a:moveTo>
                <a:lnTo>
                  <a:pt x="3130359" y="0"/>
                </a:lnTo>
                <a:lnTo>
                  <a:pt x="3130359" y="4871318"/>
                </a:lnTo>
                <a:lnTo>
                  <a:pt x="0" y="4871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6" name="Freeform 6"/>
          <p:cNvSpPr/>
          <p:nvPr/>
        </p:nvSpPr>
        <p:spPr>
          <a:xfrm>
            <a:off x="15982643" y="0"/>
            <a:ext cx="1987339" cy="1987339"/>
          </a:xfrm>
          <a:custGeom>
            <a:avLst/>
            <a:gdLst/>
            <a:ahLst/>
            <a:cxnLst/>
            <a:rect l="l" t="t" r="r" b="b"/>
            <a:pathLst>
              <a:path w="1987339" h="1987339">
                <a:moveTo>
                  <a:pt x="0" y="0"/>
                </a:moveTo>
                <a:lnTo>
                  <a:pt x="1987339" y="0"/>
                </a:lnTo>
                <a:lnTo>
                  <a:pt x="1987339" y="1987339"/>
                </a:lnTo>
                <a:lnTo>
                  <a:pt x="0" y="1987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7" name="Freeform 7"/>
          <p:cNvSpPr/>
          <p:nvPr/>
        </p:nvSpPr>
        <p:spPr>
          <a:xfrm>
            <a:off x="2490299" y="1414179"/>
            <a:ext cx="12698350" cy="6017638"/>
          </a:xfrm>
          <a:custGeom>
            <a:avLst/>
            <a:gdLst/>
            <a:ahLst/>
            <a:cxnLst/>
            <a:rect l="l" t="t" r="r" b="b"/>
            <a:pathLst>
              <a:path w="12698350" h="6017638">
                <a:moveTo>
                  <a:pt x="0" y="0"/>
                </a:moveTo>
                <a:lnTo>
                  <a:pt x="12698350" y="0"/>
                </a:lnTo>
                <a:lnTo>
                  <a:pt x="12698350" y="6017638"/>
                </a:lnTo>
                <a:lnTo>
                  <a:pt x="0" y="60176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768" b="-6871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TextBox 8"/>
          <p:cNvSpPr txBox="1"/>
          <p:nvPr/>
        </p:nvSpPr>
        <p:spPr>
          <a:xfrm>
            <a:off x="2490299" y="7800587"/>
            <a:ext cx="9317906" cy="210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964" lvl="1" indent="-283482" algn="just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sz="2626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</a:t>
            </a:r>
            <a:r>
              <a:rPr lang="en-US" sz="2626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 un catálogo de productos.</a:t>
            </a:r>
          </a:p>
          <a:p>
            <a:pPr marL="566964" lvl="1" indent="-283482" algn="just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sz="2626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Añadir fotografías, nombres y precios.</a:t>
            </a:r>
          </a:p>
          <a:p>
            <a:pPr marL="566964" lvl="1" indent="-283482" algn="just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sz="2626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Organizar productos por categorías.</a:t>
            </a:r>
          </a:p>
          <a:p>
            <a:pPr marL="566964" lvl="1" indent="-283482" algn="just">
              <a:lnSpc>
                <a:spcPts val="4227"/>
              </a:lnSpc>
              <a:spcBef>
                <a:spcPct val="0"/>
              </a:spcBef>
              <a:buFont typeface="Arial"/>
              <a:buChar char="•"/>
            </a:pPr>
            <a:r>
              <a:rPr lang="en-US" sz="2626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Configurar opciones de compra y pago según el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1280" y="-1609826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8"/>
                </a:lnTo>
                <a:lnTo>
                  <a:pt x="0" y="1241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TextBox 3"/>
          <p:cNvSpPr txBox="1"/>
          <p:nvPr/>
        </p:nvSpPr>
        <p:spPr>
          <a:xfrm>
            <a:off x="2490299" y="397818"/>
            <a:ext cx="13319965" cy="78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2"/>
              </a:lnSpc>
            </a:pPr>
            <a:r>
              <a:rPr lang="en-US" sz="6491" b="1">
                <a:solidFill>
                  <a:srgbClr val="2D32A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MÁS ALLÁ DEL DISEÑO DE LA WEB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-253492" y="-448320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3130359" y="4871318"/>
                </a:moveTo>
                <a:lnTo>
                  <a:pt x="0" y="4871318"/>
                </a:lnTo>
                <a:lnTo>
                  <a:pt x="0" y="0"/>
                </a:lnTo>
                <a:lnTo>
                  <a:pt x="3130359" y="0"/>
                </a:lnTo>
                <a:lnTo>
                  <a:pt x="3130359" y="48713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Freeform 5"/>
          <p:cNvSpPr/>
          <p:nvPr/>
        </p:nvSpPr>
        <p:spPr>
          <a:xfrm>
            <a:off x="15411133" y="5864002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0" y="0"/>
                </a:moveTo>
                <a:lnTo>
                  <a:pt x="3130359" y="0"/>
                </a:lnTo>
                <a:lnTo>
                  <a:pt x="3130359" y="4871318"/>
                </a:lnTo>
                <a:lnTo>
                  <a:pt x="0" y="4871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6" name="Freeform 6"/>
          <p:cNvSpPr/>
          <p:nvPr/>
        </p:nvSpPr>
        <p:spPr>
          <a:xfrm>
            <a:off x="15982643" y="0"/>
            <a:ext cx="1987339" cy="1987339"/>
          </a:xfrm>
          <a:custGeom>
            <a:avLst/>
            <a:gdLst/>
            <a:ahLst/>
            <a:cxnLst/>
            <a:rect l="l" t="t" r="r" b="b"/>
            <a:pathLst>
              <a:path w="1987339" h="1987339">
                <a:moveTo>
                  <a:pt x="0" y="0"/>
                </a:moveTo>
                <a:lnTo>
                  <a:pt x="1987339" y="0"/>
                </a:lnTo>
                <a:lnTo>
                  <a:pt x="1987339" y="1987339"/>
                </a:lnTo>
                <a:lnTo>
                  <a:pt x="0" y="1987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7" name="Freeform 7"/>
          <p:cNvSpPr/>
          <p:nvPr/>
        </p:nvSpPr>
        <p:spPr>
          <a:xfrm>
            <a:off x="2125088" y="1435136"/>
            <a:ext cx="12698350" cy="5975724"/>
          </a:xfrm>
          <a:custGeom>
            <a:avLst/>
            <a:gdLst/>
            <a:ahLst/>
            <a:cxnLst/>
            <a:rect l="l" t="t" r="r" b="b"/>
            <a:pathLst>
              <a:path w="12698350" h="5975724">
                <a:moveTo>
                  <a:pt x="0" y="0"/>
                </a:moveTo>
                <a:lnTo>
                  <a:pt x="12698350" y="0"/>
                </a:lnTo>
                <a:lnTo>
                  <a:pt x="12698350" y="5975724"/>
                </a:lnTo>
                <a:lnTo>
                  <a:pt x="0" y="5975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552" b="-6919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TextBox 8"/>
          <p:cNvSpPr txBox="1"/>
          <p:nvPr/>
        </p:nvSpPr>
        <p:spPr>
          <a:xfrm>
            <a:off x="2490299" y="7544210"/>
            <a:ext cx="10517135" cy="236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Consult</a:t>
            </a: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 estadísticas de visitas.</a:t>
            </a:r>
          </a:p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Gestionar consultas de clientes.</a:t>
            </a:r>
          </a:p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Incorporar aplicaciones y servicios.</a:t>
            </a:r>
          </a:p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Conectar un dominio personalizado.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1280" y="-1609826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8"/>
                </a:lnTo>
                <a:lnTo>
                  <a:pt x="0" y="1241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 flipV="1">
            <a:off x="-253492" y="-448320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3130359" y="4871318"/>
                </a:moveTo>
                <a:lnTo>
                  <a:pt x="0" y="4871318"/>
                </a:lnTo>
                <a:lnTo>
                  <a:pt x="0" y="0"/>
                </a:lnTo>
                <a:lnTo>
                  <a:pt x="3130359" y="0"/>
                </a:lnTo>
                <a:lnTo>
                  <a:pt x="3130359" y="48713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>
            <a:off x="15411133" y="5864002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0" y="0"/>
                </a:moveTo>
                <a:lnTo>
                  <a:pt x="3130359" y="0"/>
                </a:lnTo>
                <a:lnTo>
                  <a:pt x="3130359" y="4871318"/>
                </a:lnTo>
                <a:lnTo>
                  <a:pt x="0" y="4871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Freeform 5"/>
          <p:cNvSpPr/>
          <p:nvPr/>
        </p:nvSpPr>
        <p:spPr>
          <a:xfrm>
            <a:off x="15982643" y="0"/>
            <a:ext cx="1987339" cy="1987339"/>
          </a:xfrm>
          <a:custGeom>
            <a:avLst/>
            <a:gdLst/>
            <a:ahLst/>
            <a:cxnLst/>
            <a:rect l="l" t="t" r="r" b="b"/>
            <a:pathLst>
              <a:path w="1987339" h="1987339">
                <a:moveTo>
                  <a:pt x="0" y="0"/>
                </a:moveTo>
                <a:lnTo>
                  <a:pt x="1987339" y="0"/>
                </a:lnTo>
                <a:lnTo>
                  <a:pt x="1987339" y="1987339"/>
                </a:lnTo>
                <a:lnTo>
                  <a:pt x="0" y="1987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6" name="Freeform 6"/>
          <p:cNvSpPr/>
          <p:nvPr/>
        </p:nvSpPr>
        <p:spPr>
          <a:xfrm>
            <a:off x="-4808358" y="618889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7"/>
                </a:lnTo>
                <a:lnTo>
                  <a:pt x="0" y="124195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7" name="Freeform 7"/>
          <p:cNvSpPr/>
          <p:nvPr/>
        </p:nvSpPr>
        <p:spPr>
          <a:xfrm rot="-2592265">
            <a:off x="7980409" y="12121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7"/>
                </a:lnTo>
                <a:lnTo>
                  <a:pt x="0" y="124195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Freeform 8"/>
          <p:cNvSpPr/>
          <p:nvPr/>
        </p:nvSpPr>
        <p:spPr>
          <a:xfrm>
            <a:off x="286607" y="2605488"/>
            <a:ext cx="11052901" cy="5250128"/>
          </a:xfrm>
          <a:custGeom>
            <a:avLst/>
            <a:gdLst/>
            <a:ahLst/>
            <a:cxnLst/>
            <a:rect l="l" t="t" r="r" b="b"/>
            <a:pathLst>
              <a:path w="11052901" h="5250128">
                <a:moveTo>
                  <a:pt x="0" y="0"/>
                </a:moveTo>
                <a:lnTo>
                  <a:pt x="11052901" y="0"/>
                </a:lnTo>
                <a:lnTo>
                  <a:pt x="11052901" y="5250128"/>
                </a:lnTo>
                <a:lnTo>
                  <a:pt x="0" y="5250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 rot="-5400000">
            <a:off x="-1934865" y="4686289"/>
            <a:ext cx="5044367" cy="882764"/>
          </a:xfrm>
          <a:custGeom>
            <a:avLst/>
            <a:gdLst/>
            <a:ahLst/>
            <a:cxnLst/>
            <a:rect l="l" t="t" r="r" b="b"/>
            <a:pathLst>
              <a:path w="5044367" h="882764">
                <a:moveTo>
                  <a:pt x="0" y="0"/>
                </a:moveTo>
                <a:lnTo>
                  <a:pt x="5044366" y="0"/>
                </a:lnTo>
                <a:lnTo>
                  <a:pt x="5044366" y="882764"/>
                </a:lnTo>
                <a:lnTo>
                  <a:pt x="0" y="8827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10" name="Group 10"/>
          <p:cNvGrpSpPr/>
          <p:nvPr/>
        </p:nvGrpSpPr>
        <p:grpSpPr>
          <a:xfrm>
            <a:off x="11819660" y="1892448"/>
            <a:ext cx="5508298" cy="1426079"/>
            <a:chOff x="0" y="0"/>
            <a:chExt cx="1450745" cy="3755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50745" cy="375593"/>
            </a:xfrm>
            <a:custGeom>
              <a:avLst/>
              <a:gdLst/>
              <a:ahLst/>
              <a:cxnLst/>
              <a:rect l="l" t="t" r="r" b="b"/>
              <a:pathLst>
                <a:path w="1450745" h="375593">
                  <a:moveTo>
                    <a:pt x="71681" y="0"/>
                  </a:moveTo>
                  <a:lnTo>
                    <a:pt x="1379065" y="0"/>
                  </a:lnTo>
                  <a:cubicBezTo>
                    <a:pt x="1398076" y="0"/>
                    <a:pt x="1416308" y="7552"/>
                    <a:pt x="1429751" y="20995"/>
                  </a:cubicBezTo>
                  <a:cubicBezTo>
                    <a:pt x="1443193" y="34437"/>
                    <a:pt x="1450745" y="52670"/>
                    <a:pt x="1450745" y="71681"/>
                  </a:cubicBezTo>
                  <a:lnTo>
                    <a:pt x="1450745" y="303912"/>
                  </a:lnTo>
                  <a:cubicBezTo>
                    <a:pt x="1450745" y="343500"/>
                    <a:pt x="1418653" y="375593"/>
                    <a:pt x="1379065" y="375593"/>
                  </a:cubicBezTo>
                  <a:lnTo>
                    <a:pt x="71681" y="375593"/>
                  </a:lnTo>
                  <a:cubicBezTo>
                    <a:pt x="32092" y="375593"/>
                    <a:pt x="0" y="343500"/>
                    <a:pt x="0" y="303912"/>
                  </a:cubicBezTo>
                  <a:lnTo>
                    <a:pt x="0" y="71681"/>
                  </a:lnTo>
                  <a:cubicBezTo>
                    <a:pt x="0" y="32092"/>
                    <a:pt x="32092" y="0"/>
                    <a:pt x="71681" y="0"/>
                  </a:cubicBezTo>
                  <a:close/>
                </a:path>
              </a:pathLst>
            </a:custGeom>
            <a:solidFill>
              <a:srgbClr val="2D32A2"/>
            </a:solidFill>
            <a:ln w="38100" cap="rnd">
              <a:solidFill>
                <a:srgbClr val="2D32A2"/>
              </a:solidFill>
              <a:prstDash val="solid"/>
              <a:round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23825"/>
              <a:ext cx="1450745" cy="499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93"/>
                </a:lnSpc>
                <a:spcBef>
                  <a:spcPct val="0"/>
                </a:spcBef>
              </a:pPr>
              <a:r>
                <a:rPr lang="en-US" sz="3226" u="none" strike="noStrike" spc="7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Editor visual e intuitivo.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819660" y="6828673"/>
            <a:ext cx="5508298" cy="1426079"/>
            <a:chOff x="0" y="0"/>
            <a:chExt cx="1450745" cy="3755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50745" cy="375593"/>
            </a:xfrm>
            <a:custGeom>
              <a:avLst/>
              <a:gdLst/>
              <a:ahLst/>
              <a:cxnLst/>
              <a:rect l="l" t="t" r="r" b="b"/>
              <a:pathLst>
                <a:path w="1450745" h="375593">
                  <a:moveTo>
                    <a:pt x="71681" y="0"/>
                  </a:moveTo>
                  <a:lnTo>
                    <a:pt x="1379065" y="0"/>
                  </a:lnTo>
                  <a:cubicBezTo>
                    <a:pt x="1398076" y="0"/>
                    <a:pt x="1416308" y="7552"/>
                    <a:pt x="1429751" y="20995"/>
                  </a:cubicBezTo>
                  <a:cubicBezTo>
                    <a:pt x="1443193" y="34437"/>
                    <a:pt x="1450745" y="52670"/>
                    <a:pt x="1450745" y="71681"/>
                  </a:cubicBezTo>
                  <a:lnTo>
                    <a:pt x="1450745" y="303912"/>
                  </a:lnTo>
                  <a:cubicBezTo>
                    <a:pt x="1450745" y="343500"/>
                    <a:pt x="1418653" y="375593"/>
                    <a:pt x="1379065" y="375593"/>
                  </a:cubicBezTo>
                  <a:lnTo>
                    <a:pt x="71681" y="375593"/>
                  </a:lnTo>
                  <a:cubicBezTo>
                    <a:pt x="32092" y="375593"/>
                    <a:pt x="0" y="343500"/>
                    <a:pt x="0" y="303912"/>
                  </a:cubicBezTo>
                  <a:lnTo>
                    <a:pt x="0" y="71681"/>
                  </a:lnTo>
                  <a:cubicBezTo>
                    <a:pt x="0" y="32092"/>
                    <a:pt x="32092" y="0"/>
                    <a:pt x="71681" y="0"/>
                  </a:cubicBezTo>
                  <a:close/>
                </a:path>
              </a:pathLst>
            </a:custGeom>
            <a:solidFill>
              <a:srgbClr val="2D32A2"/>
            </a:solidFill>
            <a:ln w="38100" cap="rnd">
              <a:solidFill>
                <a:srgbClr val="2D32A2"/>
              </a:solidFill>
              <a:prstDash val="solid"/>
              <a:round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23825"/>
              <a:ext cx="1450745" cy="499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193"/>
                </a:lnSpc>
                <a:spcBef>
                  <a:spcPct val="0"/>
                </a:spcBef>
              </a:pPr>
              <a:r>
                <a:rPr lang="en-US" sz="3226" u="none" strike="noStrike" spc="7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Facilita la creación de sitios para principiantes.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19660" y="5150962"/>
            <a:ext cx="5508298" cy="1426079"/>
            <a:chOff x="0" y="0"/>
            <a:chExt cx="1450745" cy="3755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50745" cy="375593"/>
            </a:xfrm>
            <a:custGeom>
              <a:avLst/>
              <a:gdLst/>
              <a:ahLst/>
              <a:cxnLst/>
              <a:rect l="l" t="t" r="r" b="b"/>
              <a:pathLst>
                <a:path w="1450745" h="375593">
                  <a:moveTo>
                    <a:pt x="71681" y="0"/>
                  </a:moveTo>
                  <a:lnTo>
                    <a:pt x="1379065" y="0"/>
                  </a:lnTo>
                  <a:cubicBezTo>
                    <a:pt x="1398076" y="0"/>
                    <a:pt x="1416308" y="7552"/>
                    <a:pt x="1429751" y="20995"/>
                  </a:cubicBezTo>
                  <a:cubicBezTo>
                    <a:pt x="1443193" y="34437"/>
                    <a:pt x="1450745" y="52670"/>
                    <a:pt x="1450745" y="71681"/>
                  </a:cubicBezTo>
                  <a:lnTo>
                    <a:pt x="1450745" y="303912"/>
                  </a:lnTo>
                  <a:cubicBezTo>
                    <a:pt x="1450745" y="343500"/>
                    <a:pt x="1418653" y="375593"/>
                    <a:pt x="1379065" y="375593"/>
                  </a:cubicBezTo>
                  <a:lnTo>
                    <a:pt x="71681" y="375593"/>
                  </a:lnTo>
                  <a:cubicBezTo>
                    <a:pt x="32092" y="375593"/>
                    <a:pt x="0" y="343500"/>
                    <a:pt x="0" y="303912"/>
                  </a:cubicBezTo>
                  <a:lnTo>
                    <a:pt x="0" y="71681"/>
                  </a:lnTo>
                  <a:cubicBezTo>
                    <a:pt x="0" y="32092"/>
                    <a:pt x="32092" y="0"/>
                    <a:pt x="71681" y="0"/>
                  </a:cubicBezTo>
                  <a:close/>
                </a:path>
              </a:pathLst>
            </a:custGeom>
            <a:solidFill>
              <a:srgbClr val="2D32A2"/>
            </a:solidFill>
            <a:ln w="38100" cap="rnd">
              <a:solidFill>
                <a:srgbClr val="2D32A2"/>
              </a:solidFill>
              <a:prstDash val="solid"/>
              <a:round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23825"/>
              <a:ext cx="1450745" cy="499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193"/>
                </a:lnSpc>
                <a:spcBef>
                  <a:spcPct val="0"/>
                </a:spcBef>
              </a:pPr>
              <a:r>
                <a:rPr lang="en-US" sz="3226" u="none" strike="noStrike" spc="7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Permite organizar los elementos de la página.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751002" y="3499843"/>
            <a:ext cx="5508298" cy="1426079"/>
            <a:chOff x="0" y="0"/>
            <a:chExt cx="1450745" cy="37559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50745" cy="375593"/>
            </a:xfrm>
            <a:custGeom>
              <a:avLst/>
              <a:gdLst/>
              <a:ahLst/>
              <a:cxnLst/>
              <a:rect l="l" t="t" r="r" b="b"/>
              <a:pathLst>
                <a:path w="1450745" h="375593">
                  <a:moveTo>
                    <a:pt x="71681" y="0"/>
                  </a:moveTo>
                  <a:lnTo>
                    <a:pt x="1379065" y="0"/>
                  </a:lnTo>
                  <a:cubicBezTo>
                    <a:pt x="1398076" y="0"/>
                    <a:pt x="1416308" y="7552"/>
                    <a:pt x="1429751" y="20995"/>
                  </a:cubicBezTo>
                  <a:cubicBezTo>
                    <a:pt x="1443193" y="34437"/>
                    <a:pt x="1450745" y="52670"/>
                    <a:pt x="1450745" y="71681"/>
                  </a:cubicBezTo>
                  <a:lnTo>
                    <a:pt x="1450745" y="303912"/>
                  </a:lnTo>
                  <a:cubicBezTo>
                    <a:pt x="1450745" y="343500"/>
                    <a:pt x="1418653" y="375593"/>
                    <a:pt x="1379065" y="375593"/>
                  </a:cubicBezTo>
                  <a:lnTo>
                    <a:pt x="71681" y="375593"/>
                  </a:lnTo>
                  <a:cubicBezTo>
                    <a:pt x="32092" y="375593"/>
                    <a:pt x="0" y="343500"/>
                    <a:pt x="0" y="303912"/>
                  </a:cubicBezTo>
                  <a:lnTo>
                    <a:pt x="0" y="71681"/>
                  </a:lnTo>
                  <a:cubicBezTo>
                    <a:pt x="0" y="32092"/>
                    <a:pt x="32092" y="0"/>
                    <a:pt x="71681" y="0"/>
                  </a:cubicBezTo>
                  <a:close/>
                </a:path>
              </a:pathLst>
            </a:custGeom>
            <a:solidFill>
              <a:srgbClr val="2D32A2"/>
            </a:solidFill>
            <a:ln w="38100" cap="rnd">
              <a:solidFill>
                <a:srgbClr val="2D32A2"/>
              </a:solidFill>
              <a:prstDash val="solid"/>
              <a:round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23825"/>
              <a:ext cx="1450745" cy="499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193"/>
                </a:lnSpc>
                <a:spcBef>
                  <a:spcPct val="0"/>
                </a:spcBef>
              </a:pPr>
              <a:r>
                <a:rPr lang="en-US" sz="3226" u="none" strike="noStrike" spc="7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No es necesario saber programar.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272593" y="926331"/>
            <a:ext cx="10903446" cy="78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82"/>
              </a:lnSpc>
              <a:spcBef>
                <a:spcPct val="0"/>
              </a:spcBef>
            </a:pPr>
            <a:r>
              <a:rPr lang="en-US" sz="6491" b="1" u="none" strike="noStrike">
                <a:solidFill>
                  <a:srgbClr val="2D32A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CARACTERÍSTICAS: FACILIDAD DE USO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1133" y="5864002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0" y="0"/>
                </a:moveTo>
                <a:lnTo>
                  <a:pt x="3130359" y="0"/>
                </a:lnTo>
                <a:lnTo>
                  <a:pt x="3130359" y="4871318"/>
                </a:lnTo>
                <a:lnTo>
                  <a:pt x="0" y="4871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rot="6000">
            <a:off x="8832745" y="6340835"/>
            <a:ext cx="7884418" cy="3624565"/>
          </a:xfrm>
          <a:custGeom>
            <a:avLst/>
            <a:gdLst/>
            <a:ahLst/>
            <a:cxnLst/>
            <a:rect l="l" t="t" r="r" b="b"/>
            <a:pathLst>
              <a:path w="7884418" h="3624565">
                <a:moveTo>
                  <a:pt x="0" y="13750"/>
                </a:moveTo>
                <a:lnTo>
                  <a:pt x="7878116" y="0"/>
                </a:lnTo>
                <a:lnTo>
                  <a:pt x="7884418" y="3610815"/>
                </a:lnTo>
                <a:lnTo>
                  <a:pt x="6302" y="3624565"/>
                </a:lnTo>
                <a:lnTo>
                  <a:pt x="0" y="13750"/>
                </a:lnTo>
                <a:close/>
              </a:path>
            </a:pathLst>
          </a:custGeom>
          <a:blipFill>
            <a:blip r:embed="rId3"/>
            <a:stretch>
              <a:fillRect l="-7786" t="-12840" r="-35921" b="-39945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>
            <a:off x="1315235" y="6195015"/>
            <a:ext cx="6625065" cy="3763513"/>
          </a:xfrm>
          <a:custGeom>
            <a:avLst/>
            <a:gdLst/>
            <a:ahLst/>
            <a:cxnLst/>
            <a:rect l="l" t="t" r="r" b="b"/>
            <a:pathLst>
              <a:path w="6625065" h="3763513">
                <a:moveTo>
                  <a:pt x="0" y="0"/>
                </a:moveTo>
                <a:lnTo>
                  <a:pt x="6625065" y="0"/>
                </a:lnTo>
                <a:lnTo>
                  <a:pt x="6625065" y="3763513"/>
                </a:lnTo>
                <a:lnTo>
                  <a:pt x="0" y="3763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PE"/>
          </a:p>
        </p:txBody>
      </p:sp>
      <p:grpSp>
        <p:nvGrpSpPr>
          <p:cNvPr id="5" name="Group 5"/>
          <p:cNvGrpSpPr/>
          <p:nvPr/>
        </p:nvGrpSpPr>
        <p:grpSpPr>
          <a:xfrm>
            <a:off x="8835890" y="2086702"/>
            <a:ext cx="616220" cy="621493"/>
            <a:chOff x="0" y="0"/>
            <a:chExt cx="608274" cy="6134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8274" cy="613479"/>
            </a:xfrm>
            <a:custGeom>
              <a:avLst/>
              <a:gdLst/>
              <a:ahLst/>
              <a:cxnLst/>
              <a:rect l="l" t="t" r="r" b="b"/>
              <a:pathLst>
                <a:path w="608274" h="613479">
                  <a:moveTo>
                    <a:pt x="304137" y="613479"/>
                  </a:moveTo>
                  <a:lnTo>
                    <a:pt x="0" y="207079"/>
                  </a:lnTo>
                  <a:lnTo>
                    <a:pt x="203200" y="207079"/>
                  </a:lnTo>
                  <a:lnTo>
                    <a:pt x="203200" y="0"/>
                  </a:lnTo>
                  <a:lnTo>
                    <a:pt x="405074" y="0"/>
                  </a:lnTo>
                  <a:lnTo>
                    <a:pt x="405074" y="207079"/>
                  </a:lnTo>
                  <a:lnTo>
                    <a:pt x="608274" y="207079"/>
                  </a:lnTo>
                  <a:lnTo>
                    <a:pt x="304137" y="613479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3200" y="76200"/>
              <a:ext cx="201874" cy="435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2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684743" y="1209675"/>
            <a:ext cx="11007371" cy="68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22"/>
              </a:lnSpc>
              <a:spcBef>
                <a:spcPct val="0"/>
              </a:spcBef>
            </a:pPr>
            <a:r>
              <a:rPr lang="en-US" sz="5724" b="1" u="none" strike="noStrike">
                <a:solidFill>
                  <a:srgbClr val="2D32A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CARACTERÍSTICA: LIBERTAD DE DISEÑO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83941" y="2783237"/>
            <a:ext cx="10827544" cy="236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Gran variedad de plantillas prediseñadas.</a:t>
            </a:r>
          </a:p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Personalización de colores, tipografías e imágenes.</a:t>
            </a:r>
          </a:p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Posibilidad de adaptar la web a la identidad de una marca.</a:t>
            </a:r>
          </a:p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Diseños para diferentes tipos de negocios.</a:t>
            </a:r>
          </a:p>
        </p:txBody>
      </p:sp>
      <p:sp>
        <p:nvSpPr>
          <p:cNvPr id="10" name="Freeform 10"/>
          <p:cNvSpPr/>
          <p:nvPr/>
        </p:nvSpPr>
        <p:spPr>
          <a:xfrm rot="-10800000">
            <a:off x="0" y="0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0" y="0"/>
                </a:moveTo>
                <a:lnTo>
                  <a:pt x="3130359" y="0"/>
                </a:lnTo>
                <a:lnTo>
                  <a:pt x="3130359" y="4871318"/>
                </a:lnTo>
                <a:lnTo>
                  <a:pt x="0" y="4871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>
          <a:xfrm rot="-2592265">
            <a:off x="1984684" y="-345782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8"/>
                </a:lnTo>
                <a:lnTo>
                  <a:pt x="0" y="1241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2" name="Freeform 12"/>
          <p:cNvSpPr/>
          <p:nvPr/>
        </p:nvSpPr>
        <p:spPr>
          <a:xfrm>
            <a:off x="15982643" y="0"/>
            <a:ext cx="1987339" cy="1987339"/>
          </a:xfrm>
          <a:custGeom>
            <a:avLst/>
            <a:gdLst/>
            <a:ahLst/>
            <a:cxnLst/>
            <a:rect l="l" t="t" r="r" b="b"/>
            <a:pathLst>
              <a:path w="1987339" h="1987339">
                <a:moveTo>
                  <a:pt x="0" y="0"/>
                </a:moveTo>
                <a:lnTo>
                  <a:pt x="1987339" y="0"/>
                </a:lnTo>
                <a:lnTo>
                  <a:pt x="1987339" y="1987339"/>
                </a:lnTo>
                <a:lnTo>
                  <a:pt x="0" y="1987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1280" y="-1609826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8"/>
                </a:lnTo>
                <a:lnTo>
                  <a:pt x="0" y="1241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TextBox 3"/>
          <p:cNvSpPr txBox="1"/>
          <p:nvPr/>
        </p:nvSpPr>
        <p:spPr>
          <a:xfrm>
            <a:off x="360165" y="1824873"/>
            <a:ext cx="7675355" cy="130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22"/>
              </a:lnSpc>
              <a:spcBef>
                <a:spcPct val="0"/>
              </a:spcBef>
            </a:pPr>
            <a:r>
              <a:rPr lang="en-US" sz="5724" b="1" u="none" strike="noStrike">
                <a:solidFill>
                  <a:srgbClr val="2D32A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CARACTERÍSTICA: DISEÑO ADAPTABLE</a:t>
            </a:r>
          </a:p>
        </p:txBody>
      </p:sp>
      <p:sp>
        <p:nvSpPr>
          <p:cNvPr id="4" name="Freeform 4"/>
          <p:cNvSpPr/>
          <p:nvPr/>
        </p:nvSpPr>
        <p:spPr>
          <a:xfrm rot="-5400000">
            <a:off x="14839843" y="-750230"/>
            <a:ext cx="2697927" cy="4198387"/>
          </a:xfrm>
          <a:custGeom>
            <a:avLst/>
            <a:gdLst/>
            <a:ahLst/>
            <a:cxnLst/>
            <a:rect l="l" t="t" r="r" b="b"/>
            <a:pathLst>
              <a:path w="2697927" h="4198387">
                <a:moveTo>
                  <a:pt x="0" y="0"/>
                </a:moveTo>
                <a:lnTo>
                  <a:pt x="2697927" y="0"/>
                </a:lnTo>
                <a:lnTo>
                  <a:pt x="2697927" y="4198387"/>
                </a:lnTo>
                <a:lnTo>
                  <a:pt x="0" y="4198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AutoShape 5"/>
          <p:cNvSpPr/>
          <p:nvPr/>
        </p:nvSpPr>
        <p:spPr>
          <a:xfrm flipV="1">
            <a:off x="360165" y="0"/>
            <a:ext cx="19050" cy="10567914"/>
          </a:xfrm>
          <a:prstGeom prst="line">
            <a:avLst/>
          </a:prstGeom>
          <a:ln w="295275" cap="flat">
            <a:solidFill>
              <a:srgbClr val="2D32A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grpSp>
        <p:nvGrpSpPr>
          <p:cNvPr id="6" name="Group 6"/>
          <p:cNvGrpSpPr/>
          <p:nvPr/>
        </p:nvGrpSpPr>
        <p:grpSpPr>
          <a:xfrm>
            <a:off x="3889732" y="3347351"/>
            <a:ext cx="616220" cy="660619"/>
            <a:chOff x="0" y="0"/>
            <a:chExt cx="608274" cy="6521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274" cy="652101"/>
            </a:xfrm>
            <a:custGeom>
              <a:avLst/>
              <a:gdLst/>
              <a:ahLst/>
              <a:cxnLst/>
              <a:rect l="l" t="t" r="r" b="b"/>
              <a:pathLst>
                <a:path w="608274" h="652101">
                  <a:moveTo>
                    <a:pt x="304137" y="652101"/>
                  </a:moveTo>
                  <a:lnTo>
                    <a:pt x="0" y="245701"/>
                  </a:lnTo>
                  <a:lnTo>
                    <a:pt x="203200" y="245701"/>
                  </a:lnTo>
                  <a:lnTo>
                    <a:pt x="203200" y="0"/>
                  </a:lnTo>
                  <a:lnTo>
                    <a:pt x="405074" y="0"/>
                  </a:lnTo>
                  <a:lnTo>
                    <a:pt x="405074" y="245701"/>
                  </a:lnTo>
                  <a:lnTo>
                    <a:pt x="608274" y="245701"/>
                  </a:lnTo>
                  <a:lnTo>
                    <a:pt x="304137" y="652101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3200" y="76200"/>
              <a:ext cx="201874" cy="47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2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603344" y="2697927"/>
            <a:ext cx="10310928" cy="5799897"/>
          </a:xfrm>
          <a:custGeom>
            <a:avLst/>
            <a:gdLst/>
            <a:ahLst/>
            <a:cxnLst/>
            <a:rect l="l" t="t" r="r" b="b"/>
            <a:pathLst>
              <a:path w="10310928" h="5799897">
                <a:moveTo>
                  <a:pt x="0" y="0"/>
                </a:moveTo>
                <a:lnTo>
                  <a:pt x="10310928" y="0"/>
                </a:lnTo>
                <a:lnTo>
                  <a:pt x="10310928" y="5799897"/>
                </a:lnTo>
                <a:lnTo>
                  <a:pt x="0" y="5799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extBox 10"/>
          <p:cNvSpPr txBox="1"/>
          <p:nvPr/>
        </p:nvSpPr>
        <p:spPr>
          <a:xfrm>
            <a:off x="1028700" y="4112745"/>
            <a:ext cx="6206985" cy="476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Visualización en ordenador y móvil.</a:t>
            </a:r>
          </a:p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Diseño ajustable a diferentes pantallas.</a:t>
            </a:r>
          </a:p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Edición específica de la vista móvil.</a:t>
            </a:r>
          </a:p>
          <a:p>
            <a:pPr marL="639934" lvl="1" indent="-319967" algn="just">
              <a:lnSpc>
                <a:spcPts val="4772"/>
              </a:lnSpc>
              <a:spcBef>
                <a:spcPct val="0"/>
              </a:spcBef>
              <a:buFont typeface="Arial"/>
              <a:buChar char="•"/>
            </a:pPr>
            <a:r>
              <a:rPr lang="en-US" sz="2964" u="none" strike="noStrike" spc="65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Navegación más cómoda para los usuarios.</a:t>
            </a:r>
          </a:p>
        </p:txBody>
      </p:sp>
      <p:sp>
        <p:nvSpPr>
          <p:cNvPr id="11" name="Freeform 11"/>
          <p:cNvSpPr/>
          <p:nvPr/>
        </p:nvSpPr>
        <p:spPr>
          <a:xfrm rot="-2592265">
            <a:off x="7980409" y="12121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7"/>
                </a:lnTo>
                <a:lnTo>
                  <a:pt x="0" y="124195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53492" y="-448320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3130359" y="4871318"/>
                </a:moveTo>
                <a:lnTo>
                  <a:pt x="0" y="4871318"/>
                </a:lnTo>
                <a:lnTo>
                  <a:pt x="0" y="0"/>
                </a:lnTo>
                <a:lnTo>
                  <a:pt x="3130359" y="0"/>
                </a:lnTo>
                <a:lnTo>
                  <a:pt x="3130359" y="48713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>
            <a:off x="15411133" y="5864002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0" y="0"/>
                </a:moveTo>
                <a:lnTo>
                  <a:pt x="3130359" y="0"/>
                </a:lnTo>
                <a:lnTo>
                  <a:pt x="3130359" y="4871318"/>
                </a:lnTo>
                <a:lnTo>
                  <a:pt x="0" y="4871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4" name="Group 4"/>
          <p:cNvGrpSpPr/>
          <p:nvPr/>
        </p:nvGrpSpPr>
        <p:grpSpPr>
          <a:xfrm>
            <a:off x="4333713" y="2367919"/>
            <a:ext cx="616220" cy="660619"/>
            <a:chOff x="0" y="0"/>
            <a:chExt cx="608274" cy="6521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8274" cy="652101"/>
            </a:xfrm>
            <a:custGeom>
              <a:avLst/>
              <a:gdLst/>
              <a:ahLst/>
              <a:cxnLst/>
              <a:rect l="l" t="t" r="r" b="b"/>
              <a:pathLst>
                <a:path w="608274" h="652101">
                  <a:moveTo>
                    <a:pt x="304137" y="652101"/>
                  </a:moveTo>
                  <a:lnTo>
                    <a:pt x="0" y="245701"/>
                  </a:lnTo>
                  <a:lnTo>
                    <a:pt x="203200" y="245701"/>
                  </a:lnTo>
                  <a:lnTo>
                    <a:pt x="203200" y="0"/>
                  </a:lnTo>
                  <a:lnTo>
                    <a:pt x="405074" y="0"/>
                  </a:lnTo>
                  <a:lnTo>
                    <a:pt x="405074" y="245701"/>
                  </a:lnTo>
                  <a:lnTo>
                    <a:pt x="608274" y="245701"/>
                  </a:lnTo>
                  <a:lnTo>
                    <a:pt x="304137" y="652101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3200" y="76200"/>
              <a:ext cx="201874" cy="47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2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054754" y="2367919"/>
            <a:ext cx="616220" cy="660619"/>
            <a:chOff x="0" y="0"/>
            <a:chExt cx="608274" cy="6521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08274" cy="652101"/>
            </a:xfrm>
            <a:custGeom>
              <a:avLst/>
              <a:gdLst/>
              <a:ahLst/>
              <a:cxnLst/>
              <a:rect l="l" t="t" r="r" b="b"/>
              <a:pathLst>
                <a:path w="608274" h="652101">
                  <a:moveTo>
                    <a:pt x="304137" y="652101"/>
                  </a:moveTo>
                  <a:lnTo>
                    <a:pt x="0" y="245701"/>
                  </a:lnTo>
                  <a:lnTo>
                    <a:pt x="203200" y="245701"/>
                  </a:lnTo>
                  <a:lnTo>
                    <a:pt x="203200" y="0"/>
                  </a:lnTo>
                  <a:lnTo>
                    <a:pt x="405074" y="0"/>
                  </a:lnTo>
                  <a:lnTo>
                    <a:pt x="405074" y="245701"/>
                  </a:lnTo>
                  <a:lnTo>
                    <a:pt x="608274" y="245701"/>
                  </a:lnTo>
                  <a:lnTo>
                    <a:pt x="304137" y="652101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3200" y="76200"/>
              <a:ext cx="201874" cy="47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2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058071" y="6760983"/>
            <a:ext cx="5783724" cy="3516127"/>
          </a:xfrm>
          <a:custGeom>
            <a:avLst/>
            <a:gdLst/>
            <a:ahLst/>
            <a:cxnLst/>
            <a:rect l="l" t="t" r="r" b="b"/>
            <a:pathLst>
              <a:path w="5783724" h="3516127">
                <a:moveTo>
                  <a:pt x="0" y="0"/>
                </a:moveTo>
                <a:lnTo>
                  <a:pt x="5783723" y="0"/>
                </a:lnTo>
                <a:lnTo>
                  <a:pt x="5783723" y="3516127"/>
                </a:lnTo>
                <a:lnTo>
                  <a:pt x="0" y="3516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009" t="-29994" r="-16244" b="-18511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>
          <a:xfrm>
            <a:off x="9641955" y="6105626"/>
            <a:ext cx="7334357" cy="4171484"/>
          </a:xfrm>
          <a:custGeom>
            <a:avLst/>
            <a:gdLst/>
            <a:ahLst/>
            <a:cxnLst/>
            <a:rect l="l" t="t" r="r" b="b"/>
            <a:pathLst>
              <a:path w="7334357" h="4171484">
                <a:moveTo>
                  <a:pt x="0" y="0"/>
                </a:moveTo>
                <a:lnTo>
                  <a:pt x="7334357" y="0"/>
                </a:lnTo>
                <a:lnTo>
                  <a:pt x="7334357" y="4171484"/>
                </a:lnTo>
                <a:lnTo>
                  <a:pt x="0" y="4171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37" r="-25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2" name="TextBox 12"/>
          <p:cNvSpPr txBox="1"/>
          <p:nvPr/>
        </p:nvSpPr>
        <p:spPr>
          <a:xfrm>
            <a:off x="1956070" y="1181100"/>
            <a:ext cx="5371504" cy="1025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92"/>
              </a:lnSpc>
              <a:spcBef>
                <a:spcPct val="0"/>
              </a:spcBef>
            </a:pPr>
            <a:r>
              <a:rPr lang="en-US" sz="4525" b="1" u="none" strike="noStrike">
                <a:solidFill>
                  <a:srgbClr val="2D32A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CARACTERÍSTICA: GESTIÓN DESDE LA NUBE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47581" y="1192291"/>
            <a:ext cx="6014346" cy="101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92"/>
              </a:lnSpc>
              <a:spcBef>
                <a:spcPct val="0"/>
              </a:spcBef>
            </a:pPr>
            <a:r>
              <a:rPr lang="en-US" sz="4525" b="1" u="none" strike="noStrike">
                <a:solidFill>
                  <a:srgbClr val="2D32A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CARACTERÍSTICA: PLAN GRATUITO Y LIMITACIONES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99659" y="2904713"/>
            <a:ext cx="7176653" cy="329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0314" lvl="1" indent="-295157" algn="just">
              <a:lnSpc>
                <a:spcPts val="4402"/>
              </a:lnSpc>
              <a:spcBef>
                <a:spcPct val="0"/>
              </a:spcBef>
              <a:buFont typeface="Arial"/>
              <a:buChar char="•"/>
            </a:pPr>
            <a:r>
              <a:rPr lang="en-US" sz="2734" u="none" strike="noStrike" spc="60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Permite crear y publicar una web sin pagar.</a:t>
            </a:r>
          </a:p>
          <a:p>
            <a:pPr marL="590314" lvl="1" indent="-295157" algn="just">
              <a:lnSpc>
                <a:spcPts val="4402"/>
              </a:lnSpc>
              <a:spcBef>
                <a:spcPct val="0"/>
              </a:spcBef>
              <a:buFont typeface="Arial"/>
              <a:buChar char="•"/>
            </a:pPr>
            <a:r>
              <a:rPr lang="en-US" sz="2734" u="none" strike="noStrike" spc="60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Utiliza una dirección gratuita de Wix.</a:t>
            </a:r>
          </a:p>
          <a:p>
            <a:pPr marL="590314" lvl="1" indent="-295157" algn="just">
              <a:lnSpc>
                <a:spcPts val="4402"/>
              </a:lnSpc>
              <a:spcBef>
                <a:spcPct val="0"/>
              </a:spcBef>
              <a:buFont typeface="Arial"/>
              <a:buChar char="•"/>
            </a:pPr>
            <a:r>
              <a:rPr lang="en-US" sz="2734" u="none" strike="noStrike" spc="60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Incluye la marca o publicidad de Wix.</a:t>
            </a:r>
          </a:p>
          <a:p>
            <a:pPr marL="590314" lvl="1" indent="-295157" algn="just">
              <a:lnSpc>
                <a:spcPts val="4402"/>
              </a:lnSpc>
              <a:spcBef>
                <a:spcPct val="0"/>
              </a:spcBef>
              <a:buFont typeface="Arial"/>
              <a:buChar char="•"/>
            </a:pPr>
            <a:r>
              <a:rPr lang="en-US" sz="2734" u="none" strike="noStrike" spc="60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Algunas opciones avanzadas requieren un plan de pago.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923763"/>
            <a:ext cx="7286988" cy="36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2215" lvl="1" indent="-281108" algn="just">
              <a:lnSpc>
                <a:spcPts val="4192"/>
              </a:lnSpc>
              <a:spcBef>
                <a:spcPct val="0"/>
              </a:spcBef>
              <a:buFont typeface="Arial"/>
              <a:buChar char="•"/>
            </a:pPr>
            <a:r>
              <a:rPr lang="en-US" sz="2604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Creación y administración desde el navegador.</a:t>
            </a:r>
          </a:p>
          <a:p>
            <a:pPr marL="562215" lvl="1" indent="-281108" algn="just">
              <a:lnSpc>
                <a:spcPts val="4192"/>
              </a:lnSpc>
              <a:spcBef>
                <a:spcPct val="0"/>
              </a:spcBef>
              <a:buFont typeface="Arial"/>
              <a:buChar char="•"/>
            </a:pPr>
            <a:r>
              <a:rPr lang="en-US" sz="2604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Alojamiento web integrado.</a:t>
            </a:r>
          </a:p>
          <a:p>
            <a:pPr marL="562215" lvl="1" indent="-281108" algn="just">
              <a:lnSpc>
                <a:spcPts val="4192"/>
              </a:lnSpc>
              <a:spcBef>
                <a:spcPct val="0"/>
              </a:spcBef>
              <a:buFont typeface="Arial"/>
              <a:buChar char="•"/>
            </a:pPr>
            <a:r>
              <a:rPr lang="en-US" sz="2604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Publicación y gestión desde una misma cuenta.</a:t>
            </a:r>
          </a:p>
          <a:p>
            <a:pPr marL="562215" lvl="1" indent="-281108" algn="just">
              <a:lnSpc>
                <a:spcPts val="4192"/>
              </a:lnSpc>
              <a:spcBef>
                <a:spcPct val="0"/>
              </a:spcBef>
              <a:buFont typeface="Arial"/>
              <a:buChar char="•"/>
            </a:pPr>
            <a:r>
              <a:rPr lang="en-US" sz="2604" u="none" strike="noStrike" spc="57">
                <a:solidFill>
                  <a:srgbClr val="12202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hace falta contratar un alojamiento externo por separado para empezar.</a:t>
            </a:r>
          </a:p>
        </p:txBody>
      </p:sp>
      <p:sp>
        <p:nvSpPr>
          <p:cNvPr id="16" name="Freeform 16"/>
          <p:cNvSpPr/>
          <p:nvPr/>
        </p:nvSpPr>
        <p:spPr>
          <a:xfrm rot="-2592265">
            <a:off x="8194725" y="-8915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7"/>
                </a:lnTo>
                <a:lnTo>
                  <a:pt x="0" y="124195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7" name="Freeform 17"/>
          <p:cNvSpPr/>
          <p:nvPr/>
        </p:nvSpPr>
        <p:spPr>
          <a:xfrm>
            <a:off x="-5151280" y="-1609826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8"/>
                </a:lnTo>
                <a:lnTo>
                  <a:pt x="0" y="1241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8" name="Freeform 18"/>
          <p:cNvSpPr/>
          <p:nvPr/>
        </p:nvSpPr>
        <p:spPr>
          <a:xfrm>
            <a:off x="15982643" y="208328"/>
            <a:ext cx="1987339" cy="1987339"/>
          </a:xfrm>
          <a:custGeom>
            <a:avLst/>
            <a:gdLst/>
            <a:ahLst/>
            <a:cxnLst/>
            <a:rect l="l" t="t" r="r" b="b"/>
            <a:pathLst>
              <a:path w="1987339" h="1987339">
                <a:moveTo>
                  <a:pt x="0" y="0"/>
                </a:moveTo>
                <a:lnTo>
                  <a:pt x="1987339" y="0"/>
                </a:lnTo>
                <a:lnTo>
                  <a:pt x="1987339" y="1987339"/>
                </a:lnTo>
                <a:lnTo>
                  <a:pt x="0" y="1987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1280" y="-1609826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800" y="0"/>
                </a:lnTo>
                <a:lnTo>
                  <a:pt x="13186800" y="12419568"/>
                </a:lnTo>
                <a:lnTo>
                  <a:pt x="0" y="1241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rot="-2592265">
            <a:off x="8106169" y="1345168"/>
            <a:ext cx="13186799" cy="12419567"/>
          </a:xfrm>
          <a:custGeom>
            <a:avLst/>
            <a:gdLst/>
            <a:ahLst/>
            <a:cxnLst/>
            <a:rect l="l" t="t" r="r" b="b"/>
            <a:pathLst>
              <a:path w="13186799" h="12419567">
                <a:moveTo>
                  <a:pt x="0" y="0"/>
                </a:moveTo>
                <a:lnTo>
                  <a:pt x="13186799" y="0"/>
                </a:lnTo>
                <a:lnTo>
                  <a:pt x="13186799" y="12419567"/>
                </a:lnTo>
                <a:lnTo>
                  <a:pt x="0" y="124195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TextBox 4"/>
          <p:cNvSpPr txBox="1"/>
          <p:nvPr/>
        </p:nvSpPr>
        <p:spPr>
          <a:xfrm>
            <a:off x="4440801" y="3260767"/>
            <a:ext cx="9406399" cy="4384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50"/>
              </a:lnSpc>
            </a:pPr>
            <a:r>
              <a:rPr lang="en-US" sz="19128" b="1" dirty="0">
                <a:solidFill>
                  <a:srgbClr val="2D32A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MUCHAS</a:t>
            </a:r>
          </a:p>
          <a:p>
            <a:pPr algn="ctr">
              <a:lnSpc>
                <a:spcPts val="16450"/>
              </a:lnSpc>
            </a:pPr>
            <a:r>
              <a:rPr lang="en-US" sz="19128" b="1" dirty="0">
                <a:solidFill>
                  <a:srgbClr val="2D32A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GRACIAS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-253492" y="-448320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3130359" y="4871318"/>
                </a:moveTo>
                <a:lnTo>
                  <a:pt x="0" y="4871318"/>
                </a:lnTo>
                <a:lnTo>
                  <a:pt x="0" y="0"/>
                </a:lnTo>
                <a:lnTo>
                  <a:pt x="3130359" y="0"/>
                </a:lnTo>
                <a:lnTo>
                  <a:pt x="3130359" y="48713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6" name="Freeform 6"/>
          <p:cNvSpPr/>
          <p:nvPr/>
        </p:nvSpPr>
        <p:spPr>
          <a:xfrm>
            <a:off x="15411133" y="5864002"/>
            <a:ext cx="3130359" cy="4871318"/>
          </a:xfrm>
          <a:custGeom>
            <a:avLst/>
            <a:gdLst/>
            <a:ahLst/>
            <a:cxnLst/>
            <a:rect l="l" t="t" r="r" b="b"/>
            <a:pathLst>
              <a:path w="3130359" h="4871318">
                <a:moveTo>
                  <a:pt x="0" y="0"/>
                </a:moveTo>
                <a:lnTo>
                  <a:pt x="3130359" y="0"/>
                </a:lnTo>
                <a:lnTo>
                  <a:pt x="3130359" y="4871318"/>
                </a:lnTo>
                <a:lnTo>
                  <a:pt x="0" y="4871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25A297-FE72-3F1F-D762-F8CFBA30CB92}"/>
              </a:ext>
            </a:extLst>
          </p:cNvPr>
          <p:cNvSpPr txBox="1"/>
          <p:nvPr/>
        </p:nvSpPr>
        <p:spPr>
          <a:xfrm>
            <a:off x="1587391" y="8750496"/>
            <a:ext cx="81098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800" dirty="0">
                <a:hlinkClick r:id="rId4"/>
              </a:rPr>
              <a:t>https://limbergr.wixsite.com/dulce-frio-1/tienda</a:t>
            </a:r>
            <a:endParaRPr lang="es-PE" sz="2800" dirty="0"/>
          </a:p>
          <a:p>
            <a:endParaRPr lang="es-PE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Personalizado</PresentationFormat>
  <Paragraphs>55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League Spartan</vt:lpstr>
      <vt:lpstr>Calibri</vt:lpstr>
      <vt:lpstr>Glacial Indifference</vt:lpstr>
      <vt:lpstr>Barlow Condensed Bold</vt:lpstr>
      <vt:lpstr>Open Sans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</dc:title>
  <cp:lastModifiedBy>Elda Yomira Rodriguez Arenas</cp:lastModifiedBy>
  <cp:revision>2</cp:revision>
  <dcterms:created xsi:type="dcterms:W3CDTF">2006-08-16T00:00:00Z</dcterms:created>
  <dcterms:modified xsi:type="dcterms:W3CDTF">2026-10-14T09:54:54Z</dcterms:modified>
  <dc:identifier>DAHW4ZXXDi4</dc:identifier>
</cp:coreProperties>
</file>